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E1B4B"/>
                </a:solidFill>
                <a:latin typeface="Arial"/>
              </a:defRPr>
            </a:pPr>
            <a:r>
              <a:rPr lang="en-ID" sz="1200" b="0" i="0" u="none" strike="noStrike">
                <a:solidFill>
                  <a:srgbClr val="1E1B4B"/>
                </a:solidFill>
                <a:latin typeface="Arial"/>
              </a:rPr>
              <a:t>Error Training Perceptron</a:t>
            </a:r>
          </a:p>
        </c:rich>
      </c:tx>
      <c:overlay val="0"/>
    </c:title>
    <c:autoTitleDeleted val="0"/>
    <c:plotArea>
      <c:layout/>
      <c:barChart>
        <c:barDir val="col"/>
        <c:grouping val="clustered"/>
        <c:varyColors val="0"/>
        <c:ser>
          <c:idx val="0"/>
          <c:order val="0"/>
          <c:tx>
            <c:strRef>
              <c:f>Sheet1!$B$1</c:f>
              <c:strCache>
                <c:ptCount val="1"/>
                <c:pt idx="0">
                  <c:v>Jumlah Error</c:v>
                </c:pt>
              </c:strCache>
            </c:strRef>
          </c:tx>
          <c:spPr>
            <a:solidFill>
              <a:srgbClr val="22D3EE"/>
            </a:solidFill>
            <a:effectLst/>
          </c:spPr>
          <c:invertIfNegative val="0"/>
          <c:dLbls>
            <c:numFmt formatCode="#,##0" sourceLinked="0"/>
            <c:spPr>
              <a:noFill/>
              <a:ln>
                <a:noFill/>
              </a:ln>
              <a:effectLst/>
            </c:spPr>
            <c:txPr>
              <a:bodyPr/>
              <a:lstStyle/>
              <a:p>
                <a:pPr>
                  <a:defRPr sz="1200" b="0" i="0" u="none" strike="noStrike">
                    <a:solidFill>
                      <a:srgbClr val="1E1B4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Epoch 1</c:v>
                </c:pt>
                <c:pt idx="1">
                  <c:v>Epoch 2</c:v>
                </c:pt>
              </c:strCache>
            </c:strRef>
          </c:cat>
          <c:val>
            <c:numRef>
              <c:f>Sheet1!$B$2:$B$3</c:f>
              <c:numCache>
                <c:formatCode>General</c:formatCode>
                <c:ptCount val="2"/>
                <c:pt idx="0">
                  <c:v>2</c:v>
                </c:pt>
                <c:pt idx="1">
                  <c:v>0</c:v>
                </c:pt>
              </c:numCache>
            </c:numRef>
          </c:val>
          <c:extLst>
            <c:ext xmlns:c16="http://schemas.microsoft.com/office/drawing/2014/chart" uri="{C3380CC4-5D6E-409C-BE32-E72D297353CC}">
              <c16:uniqueId val="{00000000-ED07-481D-8F07-E2D9AF7ABF8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E1B4B"/>
                </a:solidFill>
                <a:latin typeface="Arial"/>
              </a:defRPr>
            </a:pPr>
            <a:r>
              <a:rPr lang="en-ID" sz="1200" b="0" i="0" u="none" strike="noStrike">
                <a:solidFill>
                  <a:srgbClr val="1E1B4B"/>
                </a:solidFill>
                <a:latin typeface="Arial"/>
              </a:rPr>
              <a:t>Akurasi &amp; Jarak Prototipe LVQ per Epoch</a:t>
            </a:r>
          </a:p>
        </c:rich>
      </c:tx>
      <c:overlay val="0"/>
    </c:title>
    <c:autoTitleDeleted val="0"/>
    <c:plotArea>
      <c:layout/>
      <c:lineChart>
        <c:grouping val="standard"/>
        <c:varyColors val="0"/>
        <c:ser>
          <c:idx val="0"/>
          <c:order val="0"/>
          <c:tx>
            <c:strRef>
              <c:f>Sheet1!$B$1</c:f>
              <c:strCache>
                <c:ptCount val="1"/>
                <c:pt idx="0">
                  <c:v>Akurasi</c:v>
                </c:pt>
              </c:strCache>
            </c:strRef>
          </c:tx>
          <c:spPr>
            <a:ln w="25400" cap="flat">
              <a:solidFill>
                <a:srgbClr val="22D3EE"/>
              </a:solidFill>
              <a:prstDash val="solid"/>
              <a:round/>
            </a:ln>
            <a:effectLst/>
          </c:spPr>
          <c:marker>
            <c:symbol val="circle"/>
            <c:size val="6"/>
            <c:spPr>
              <a:solidFill>
                <a:srgbClr val="22D3EE"/>
              </a:solidFill>
              <a:ln w="9525" cap="flat">
                <a:solidFill>
                  <a:srgbClr val="22D3EE"/>
                </a:solidFill>
                <a:prstDash val="solid"/>
                <a:round/>
              </a:ln>
              <a:effectLst/>
            </c:spPr>
          </c:marker>
          <c:cat>
            <c:strRef>
              <c:f>Sheet1!$A$2:$A$11</c:f>
              <c:strCache>
                <c:ptCount val="10"/>
                <c:pt idx="0">
                  <c:v>1</c:v>
                </c:pt>
                <c:pt idx="1">
                  <c:v>6</c:v>
                </c:pt>
                <c:pt idx="2">
                  <c:v>11</c:v>
                </c:pt>
                <c:pt idx="3">
                  <c:v>16</c:v>
                </c:pt>
                <c:pt idx="4">
                  <c:v>21</c:v>
                </c:pt>
                <c:pt idx="5">
                  <c:v>26</c:v>
                </c:pt>
                <c:pt idx="6">
                  <c:v>31</c:v>
                </c:pt>
                <c:pt idx="7">
                  <c:v>36</c:v>
                </c:pt>
                <c:pt idx="8">
                  <c:v>41</c:v>
                </c:pt>
                <c:pt idx="9">
                  <c:v>46</c:v>
                </c:pt>
              </c:strCache>
            </c:strRef>
          </c:cat>
          <c:val>
            <c:numRef>
              <c:f>Sheet1!$B$2:$B$11</c:f>
              <c:numCache>
                <c:formatCode>General</c:formatCode>
                <c:ptCount val="10"/>
                <c:pt idx="0">
                  <c:v>0.75</c:v>
                </c:pt>
                <c:pt idx="1">
                  <c:v>0.76</c:v>
                </c:pt>
                <c:pt idx="2">
                  <c:v>0.8</c:v>
                </c:pt>
                <c:pt idx="3">
                  <c:v>0.77</c:v>
                </c:pt>
                <c:pt idx="4">
                  <c:v>0.8</c:v>
                </c:pt>
                <c:pt idx="5">
                  <c:v>0.81</c:v>
                </c:pt>
                <c:pt idx="6">
                  <c:v>0.79</c:v>
                </c:pt>
                <c:pt idx="7">
                  <c:v>0.77</c:v>
                </c:pt>
                <c:pt idx="8">
                  <c:v>0.83</c:v>
                </c:pt>
                <c:pt idx="9">
                  <c:v>0.83</c:v>
                </c:pt>
              </c:numCache>
            </c:numRef>
          </c:val>
          <c:smooth val="0"/>
          <c:extLst>
            <c:ext xmlns:c16="http://schemas.microsoft.com/office/drawing/2014/chart" uri="{C3380CC4-5D6E-409C-BE32-E72D297353CC}">
              <c16:uniqueId val="{00000000-A268-4AFC-853F-05B971977754}"/>
            </c:ext>
          </c:extLst>
        </c:ser>
        <c:dLbls>
          <c:showLegendKey val="0"/>
          <c:showVal val="0"/>
          <c:showCatName val="0"/>
          <c:showSerName val="0"/>
          <c:showPercent val="0"/>
          <c:showBubbleSize val="0"/>
        </c:dLbls>
        <c:marker val="1"/>
        <c:smooth val="0"/>
        <c:axId val="2094734554"/>
        <c:axId val="2094734552"/>
      </c:lineChart>
      <c:barChart>
        <c:barDir val="col"/>
        <c:grouping val="clustered"/>
        <c:varyColors val="0"/>
        <c:ser>
          <c:idx val="1"/>
          <c:order val="1"/>
          <c:tx>
            <c:strRef>
              <c:f>Sheet1!$C$1</c:f>
              <c:strCache>
                <c:ptCount val="1"/>
                <c:pt idx="0">
                  <c:v>Rata-rata Jarak</c:v>
                </c:pt>
              </c:strCache>
            </c:strRef>
          </c:tx>
          <c:spPr>
            <a:solidFill>
              <a:srgbClr val="22D3EE"/>
            </a:solidFill>
            <a:effectLst/>
          </c:spPr>
          <c:invertIfNegative val="0"/>
          <c:dPt>
            <c:idx val="0"/>
            <c:invertIfNegative val="0"/>
            <c:bubble3D val="0"/>
            <c:extLst>
              <c:ext xmlns:c16="http://schemas.microsoft.com/office/drawing/2014/chart" uri="{C3380CC4-5D6E-409C-BE32-E72D297353CC}">
                <c16:uniqueId val="{00000002-A268-4AFC-853F-05B971977754}"/>
              </c:ext>
            </c:extLst>
          </c:dPt>
          <c:dPt>
            <c:idx val="1"/>
            <c:invertIfNegative val="0"/>
            <c:bubble3D val="0"/>
            <c:spPr>
              <a:solidFill>
                <a:srgbClr val="C7D2FE"/>
              </a:solidFill>
              <a:effectLst/>
            </c:spPr>
            <c:extLst>
              <c:ext xmlns:c16="http://schemas.microsoft.com/office/drawing/2014/chart" uri="{C3380CC4-5D6E-409C-BE32-E72D297353CC}">
                <c16:uniqueId val="{00000004-A268-4AFC-853F-05B971977754}"/>
              </c:ext>
            </c:extLst>
          </c:dPt>
          <c:dPt>
            <c:idx val="2"/>
            <c:invertIfNegative val="0"/>
            <c:bubble3D val="0"/>
            <c:extLst>
              <c:ext xmlns:c16="http://schemas.microsoft.com/office/drawing/2014/chart" uri="{C3380CC4-5D6E-409C-BE32-E72D297353CC}">
                <c16:uniqueId val="{00000006-A268-4AFC-853F-05B971977754}"/>
              </c:ext>
            </c:extLst>
          </c:dPt>
          <c:dPt>
            <c:idx val="3"/>
            <c:invertIfNegative val="0"/>
            <c:bubble3D val="0"/>
            <c:spPr>
              <a:solidFill>
                <a:srgbClr val="C7D2FE"/>
              </a:solidFill>
              <a:effectLst/>
            </c:spPr>
            <c:extLst>
              <c:ext xmlns:c16="http://schemas.microsoft.com/office/drawing/2014/chart" uri="{C3380CC4-5D6E-409C-BE32-E72D297353CC}">
                <c16:uniqueId val="{00000008-A268-4AFC-853F-05B971977754}"/>
              </c:ext>
            </c:extLst>
          </c:dPt>
          <c:dPt>
            <c:idx val="4"/>
            <c:invertIfNegative val="0"/>
            <c:bubble3D val="0"/>
            <c:extLst>
              <c:ext xmlns:c16="http://schemas.microsoft.com/office/drawing/2014/chart" uri="{C3380CC4-5D6E-409C-BE32-E72D297353CC}">
                <c16:uniqueId val="{0000000A-A268-4AFC-853F-05B971977754}"/>
              </c:ext>
            </c:extLst>
          </c:dPt>
          <c:dPt>
            <c:idx val="5"/>
            <c:invertIfNegative val="0"/>
            <c:bubble3D val="0"/>
            <c:spPr>
              <a:solidFill>
                <a:srgbClr val="C7D2FE"/>
              </a:solidFill>
              <a:effectLst/>
            </c:spPr>
            <c:extLst>
              <c:ext xmlns:c16="http://schemas.microsoft.com/office/drawing/2014/chart" uri="{C3380CC4-5D6E-409C-BE32-E72D297353CC}">
                <c16:uniqueId val="{0000000C-A268-4AFC-853F-05B971977754}"/>
              </c:ext>
            </c:extLst>
          </c:dPt>
          <c:dPt>
            <c:idx val="6"/>
            <c:invertIfNegative val="0"/>
            <c:bubble3D val="0"/>
            <c:extLst>
              <c:ext xmlns:c16="http://schemas.microsoft.com/office/drawing/2014/chart" uri="{C3380CC4-5D6E-409C-BE32-E72D297353CC}">
                <c16:uniqueId val="{0000000E-A268-4AFC-853F-05B971977754}"/>
              </c:ext>
            </c:extLst>
          </c:dPt>
          <c:dPt>
            <c:idx val="7"/>
            <c:invertIfNegative val="0"/>
            <c:bubble3D val="0"/>
            <c:spPr>
              <a:solidFill>
                <a:srgbClr val="C7D2FE"/>
              </a:solidFill>
              <a:effectLst/>
            </c:spPr>
            <c:extLst>
              <c:ext xmlns:c16="http://schemas.microsoft.com/office/drawing/2014/chart" uri="{C3380CC4-5D6E-409C-BE32-E72D297353CC}">
                <c16:uniqueId val="{00000010-A268-4AFC-853F-05B971977754}"/>
              </c:ext>
            </c:extLst>
          </c:dPt>
          <c:dPt>
            <c:idx val="8"/>
            <c:invertIfNegative val="0"/>
            <c:bubble3D val="0"/>
            <c:extLst>
              <c:ext xmlns:c16="http://schemas.microsoft.com/office/drawing/2014/chart" uri="{C3380CC4-5D6E-409C-BE32-E72D297353CC}">
                <c16:uniqueId val="{00000012-A268-4AFC-853F-05B971977754}"/>
              </c:ext>
            </c:extLst>
          </c:dPt>
          <c:dPt>
            <c:idx val="9"/>
            <c:invertIfNegative val="0"/>
            <c:bubble3D val="0"/>
            <c:spPr>
              <a:solidFill>
                <a:srgbClr val="C7D2FE"/>
              </a:solidFill>
              <a:effectLst/>
            </c:spPr>
            <c:extLst>
              <c:ext xmlns:c16="http://schemas.microsoft.com/office/drawing/2014/chart" uri="{C3380CC4-5D6E-409C-BE32-E72D297353CC}">
                <c16:uniqueId val="{00000014-A268-4AFC-853F-05B971977754}"/>
              </c:ext>
            </c:extLst>
          </c:dPt>
          <c:cat>
            <c:strRef>
              <c:f>Sheet1!$A$2:$A$11</c:f>
              <c:strCache>
                <c:ptCount val="10"/>
                <c:pt idx="0">
                  <c:v>1</c:v>
                </c:pt>
                <c:pt idx="1">
                  <c:v>6</c:v>
                </c:pt>
                <c:pt idx="2">
                  <c:v>11</c:v>
                </c:pt>
                <c:pt idx="3">
                  <c:v>16</c:v>
                </c:pt>
                <c:pt idx="4">
                  <c:v>21</c:v>
                </c:pt>
                <c:pt idx="5">
                  <c:v>26</c:v>
                </c:pt>
                <c:pt idx="6">
                  <c:v>31</c:v>
                </c:pt>
                <c:pt idx="7">
                  <c:v>36</c:v>
                </c:pt>
                <c:pt idx="8">
                  <c:v>41</c:v>
                </c:pt>
                <c:pt idx="9">
                  <c:v>46</c:v>
                </c:pt>
              </c:strCache>
            </c:strRef>
          </c:cat>
          <c:val>
            <c:numRef>
              <c:f>Sheet1!$C$2:$C$11</c:f>
              <c:numCache>
                <c:formatCode>General</c:formatCode>
                <c:ptCount val="10"/>
                <c:pt idx="0">
                  <c:v>0.63300000000000001</c:v>
                </c:pt>
                <c:pt idx="1">
                  <c:v>0.63400000000000001</c:v>
                </c:pt>
                <c:pt idx="2">
                  <c:v>0.62</c:v>
                </c:pt>
                <c:pt idx="3">
                  <c:v>0.64200000000000002</c:v>
                </c:pt>
                <c:pt idx="4">
                  <c:v>0.59699999999999998</c:v>
                </c:pt>
                <c:pt idx="5">
                  <c:v>0.60599999999999998</c:v>
                </c:pt>
                <c:pt idx="6">
                  <c:v>0.60399999999999998</c:v>
                </c:pt>
                <c:pt idx="7">
                  <c:v>0.60799999999999998</c:v>
                </c:pt>
                <c:pt idx="8">
                  <c:v>0.60399999999999998</c:v>
                </c:pt>
                <c:pt idx="9">
                  <c:v>0.60799999999999998</c:v>
                </c:pt>
              </c:numCache>
            </c:numRef>
          </c:val>
          <c:extLst>
            <c:ext xmlns:c16="http://schemas.microsoft.com/office/drawing/2014/chart" uri="{C3380CC4-5D6E-409C-BE32-E72D297353CC}">
              <c16:uniqueId val="{00000015-A268-4AFC-853F-05B971977754}"/>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64748B"/>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484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3.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B4B"/>
        </a:solidFill>
        <a:effectLst/>
      </p:bgPr>
    </p:bg>
    <p:spTree>
      <p:nvGrpSpPr>
        <p:cNvPr id="1" name=""/>
        <p:cNvGrpSpPr/>
        <p:nvPr/>
      </p:nvGrpSpPr>
      <p:grpSpPr>
        <a:xfrm>
          <a:off x="0" y="0"/>
          <a:ext cx="0" cy="0"/>
          <a:chOff x="0" y="0"/>
          <a:chExt cx="0" cy="0"/>
        </a:xfrm>
      </p:grpSpPr>
      <p:sp>
        <p:nvSpPr>
          <p:cNvPr id="2" name="Shape 0"/>
          <p:cNvSpPr/>
          <p:nvPr/>
        </p:nvSpPr>
        <p:spPr>
          <a:xfrm>
            <a:off x="1005840" y="1188720"/>
            <a:ext cx="1371600" cy="640080"/>
          </a:xfrm>
          <a:prstGeom prst="line">
            <a:avLst/>
          </a:prstGeom>
          <a:noFill/>
          <a:ln w="17780">
            <a:solidFill>
              <a:srgbClr val="4C1D95">
                <a:alpha val="75000"/>
              </a:srgbClr>
            </a:solidFill>
            <a:prstDash val="solid"/>
          </a:ln>
        </p:spPr>
      </p:sp>
      <p:sp>
        <p:nvSpPr>
          <p:cNvPr id="3" name="Shape 1"/>
          <p:cNvSpPr/>
          <p:nvPr/>
        </p:nvSpPr>
        <p:spPr>
          <a:xfrm>
            <a:off x="1005840" y="1188720"/>
            <a:ext cx="1371600" cy="2651760"/>
          </a:xfrm>
          <a:prstGeom prst="line">
            <a:avLst/>
          </a:prstGeom>
          <a:noFill/>
          <a:ln w="17780">
            <a:solidFill>
              <a:srgbClr val="4C1D95">
                <a:alpha val="75000"/>
              </a:srgbClr>
            </a:solidFill>
            <a:prstDash val="solid"/>
          </a:ln>
        </p:spPr>
      </p:sp>
      <p:sp>
        <p:nvSpPr>
          <p:cNvPr id="4" name="Shape 2"/>
          <p:cNvSpPr/>
          <p:nvPr/>
        </p:nvSpPr>
        <p:spPr>
          <a:xfrm flipV="1">
            <a:off x="1005840" y="1828800"/>
            <a:ext cx="1371600" cy="1097280"/>
          </a:xfrm>
          <a:prstGeom prst="line">
            <a:avLst/>
          </a:prstGeom>
          <a:noFill/>
          <a:ln w="17780">
            <a:solidFill>
              <a:srgbClr val="4C1D95">
                <a:alpha val="75000"/>
              </a:srgbClr>
            </a:solidFill>
            <a:prstDash val="solid"/>
          </a:ln>
        </p:spPr>
      </p:sp>
      <p:sp>
        <p:nvSpPr>
          <p:cNvPr id="5" name="Shape 3"/>
          <p:cNvSpPr/>
          <p:nvPr/>
        </p:nvSpPr>
        <p:spPr>
          <a:xfrm>
            <a:off x="1005840" y="2926080"/>
            <a:ext cx="1371600" cy="914400"/>
          </a:xfrm>
          <a:prstGeom prst="line">
            <a:avLst/>
          </a:prstGeom>
          <a:noFill/>
          <a:ln w="17780">
            <a:solidFill>
              <a:srgbClr val="4C1D95">
                <a:alpha val="75000"/>
              </a:srgbClr>
            </a:solidFill>
            <a:prstDash val="solid"/>
          </a:ln>
        </p:spPr>
      </p:sp>
      <p:sp>
        <p:nvSpPr>
          <p:cNvPr id="6" name="Shape 4"/>
          <p:cNvSpPr/>
          <p:nvPr/>
        </p:nvSpPr>
        <p:spPr>
          <a:xfrm flipV="1">
            <a:off x="1005840" y="1828800"/>
            <a:ext cx="1371600" cy="2834640"/>
          </a:xfrm>
          <a:prstGeom prst="line">
            <a:avLst/>
          </a:prstGeom>
          <a:noFill/>
          <a:ln w="17780">
            <a:solidFill>
              <a:srgbClr val="4C1D95">
                <a:alpha val="75000"/>
              </a:srgbClr>
            </a:solidFill>
            <a:prstDash val="solid"/>
          </a:ln>
        </p:spPr>
      </p:sp>
      <p:sp>
        <p:nvSpPr>
          <p:cNvPr id="7" name="Shape 5"/>
          <p:cNvSpPr/>
          <p:nvPr/>
        </p:nvSpPr>
        <p:spPr>
          <a:xfrm flipV="1">
            <a:off x="1005840" y="3840480"/>
            <a:ext cx="1371600" cy="822960"/>
          </a:xfrm>
          <a:prstGeom prst="line">
            <a:avLst/>
          </a:prstGeom>
          <a:noFill/>
          <a:ln w="17780">
            <a:solidFill>
              <a:srgbClr val="4C1D95">
                <a:alpha val="75000"/>
              </a:srgbClr>
            </a:solidFill>
            <a:prstDash val="solid"/>
          </a:ln>
        </p:spPr>
      </p:sp>
      <p:sp>
        <p:nvSpPr>
          <p:cNvPr id="8" name="Shape 6"/>
          <p:cNvSpPr/>
          <p:nvPr/>
        </p:nvSpPr>
        <p:spPr>
          <a:xfrm>
            <a:off x="896112" y="1078992"/>
            <a:ext cx="219456" cy="219456"/>
          </a:xfrm>
          <a:prstGeom prst="ellipse">
            <a:avLst/>
          </a:prstGeom>
          <a:solidFill>
            <a:srgbClr val="6D28D9"/>
          </a:solidFill>
          <a:ln/>
        </p:spPr>
      </p:sp>
      <p:sp>
        <p:nvSpPr>
          <p:cNvPr id="9" name="Shape 7"/>
          <p:cNvSpPr/>
          <p:nvPr/>
        </p:nvSpPr>
        <p:spPr>
          <a:xfrm>
            <a:off x="896112" y="2816352"/>
            <a:ext cx="219456" cy="219456"/>
          </a:xfrm>
          <a:prstGeom prst="ellipse">
            <a:avLst/>
          </a:prstGeom>
          <a:solidFill>
            <a:srgbClr val="6D28D9"/>
          </a:solidFill>
          <a:ln/>
        </p:spPr>
      </p:sp>
      <p:sp>
        <p:nvSpPr>
          <p:cNvPr id="10" name="Shape 8"/>
          <p:cNvSpPr/>
          <p:nvPr/>
        </p:nvSpPr>
        <p:spPr>
          <a:xfrm>
            <a:off x="896112" y="4553712"/>
            <a:ext cx="219456" cy="219456"/>
          </a:xfrm>
          <a:prstGeom prst="ellipse">
            <a:avLst/>
          </a:prstGeom>
          <a:solidFill>
            <a:srgbClr val="6D28D9"/>
          </a:solidFill>
          <a:ln/>
        </p:spPr>
      </p:sp>
      <p:sp>
        <p:nvSpPr>
          <p:cNvPr id="11" name="Shape 9"/>
          <p:cNvSpPr/>
          <p:nvPr/>
        </p:nvSpPr>
        <p:spPr>
          <a:xfrm>
            <a:off x="2231136" y="1682496"/>
            <a:ext cx="292608" cy="292608"/>
          </a:xfrm>
          <a:prstGeom prst="ellipse">
            <a:avLst/>
          </a:prstGeom>
          <a:solidFill>
            <a:srgbClr val="22D3EE"/>
          </a:solidFill>
          <a:ln/>
        </p:spPr>
      </p:sp>
      <p:sp>
        <p:nvSpPr>
          <p:cNvPr id="12" name="Shape 10"/>
          <p:cNvSpPr/>
          <p:nvPr/>
        </p:nvSpPr>
        <p:spPr>
          <a:xfrm>
            <a:off x="2231136" y="3694176"/>
            <a:ext cx="292608" cy="292608"/>
          </a:xfrm>
          <a:prstGeom prst="ellipse">
            <a:avLst/>
          </a:prstGeom>
          <a:solidFill>
            <a:srgbClr val="22D3EE"/>
          </a:solidFill>
          <a:ln/>
        </p:spPr>
      </p:sp>
      <p:sp>
        <p:nvSpPr>
          <p:cNvPr id="13" name="Text 11"/>
          <p:cNvSpPr/>
          <p:nvPr/>
        </p:nvSpPr>
        <p:spPr>
          <a:xfrm>
            <a:off x="822960" y="457200"/>
            <a:ext cx="5486400" cy="320040"/>
          </a:xfrm>
          <a:prstGeom prst="rect">
            <a:avLst/>
          </a:prstGeom>
          <a:noFill/>
          <a:ln/>
        </p:spPr>
        <p:txBody>
          <a:bodyPr wrap="square" lIns="0" tIns="0" rIns="0" bIns="0" rtlCol="0" anchor="ctr"/>
          <a:lstStyle/>
          <a:p>
            <a:pPr marL="0" indent="0">
              <a:buNone/>
            </a:pPr>
            <a:r>
              <a:rPr lang="en-US" sz="1250" b="1" kern="0" spc="200" dirty="0">
                <a:solidFill>
                  <a:srgbClr val="22D3EE"/>
                </a:solidFill>
                <a:latin typeface="Calibri" pitchFamily="34" charset="0"/>
                <a:ea typeface="Calibri" pitchFamily="34" charset="-122"/>
                <a:cs typeface="Calibri" pitchFamily="34" charset="-120"/>
              </a:rPr>
              <a:t>LAPORAN &amp; PRESENTASI UAS . JARINGAN SYARAF TIRUAN</a:t>
            </a:r>
            <a:endParaRPr lang="en-US" sz="1250" dirty="0"/>
          </a:p>
        </p:txBody>
      </p:sp>
      <p:sp>
        <p:nvSpPr>
          <p:cNvPr id="14" name="Text 12"/>
          <p:cNvSpPr/>
          <p:nvPr/>
        </p:nvSpPr>
        <p:spPr>
          <a:xfrm>
            <a:off x="3706368" y="1171467"/>
            <a:ext cx="7589520" cy="1554480"/>
          </a:xfrm>
          <a:prstGeom prst="rect">
            <a:avLst/>
          </a:prstGeom>
          <a:noFill/>
          <a:ln/>
        </p:spPr>
        <p:txBody>
          <a:bodyPr wrap="square" lIns="0" tIns="0" rIns="0" bIns="0" rtlCol="0" anchor="t"/>
          <a:lstStyle/>
          <a:p>
            <a:pPr marL="0" indent="0">
              <a:buNone/>
            </a:pPr>
            <a:r>
              <a:rPr lang="en-US" sz="3800" b="1" dirty="0">
                <a:solidFill>
                  <a:srgbClr val="F1F5F9"/>
                </a:solidFill>
                <a:latin typeface="Cambria" pitchFamily="34" charset="0"/>
                <a:ea typeface="Cambria" pitchFamily="34" charset="-122"/>
                <a:cs typeface="Cambria" pitchFamily="34" charset="-120"/>
              </a:rPr>
              <a:t>Sistem Pemilihan SSD Berdasarkan Kebutuhan Laptop dan Budget</a:t>
            </a:r>
            <a:endParaRPr lang="en-US" sz="3800" dirty="0"/>
          </a:p>
        </p:txBody>
      </p:sp>
      <p:sp>
        <p:nvSpPr>
          <p:cNvPr id="15" name="Text 13"/>
          <p:cNvSpPr/>
          <p:nvPr/>
        </p:nvSpPr>
        <p:spPr>
          <a:xfrm>
            <a:off x="3749040" y="2788920"/>
            <a:ext cx="7589520" cy="548640"/>
          </a:xfrm>
          <a:prstGeom prst="rect">
            <a:avLst/>
          </a:prstGeom>
          <a:noFill/>
          <a:ln/>
        </p:spPr>
        <p:txBody>
          <a:bodyPr wrap="square" lIns="0" tIns="0" rIns="0" bIns="0" rtlCol="0" anchor="ctr"/>
          <a:lstStyle/>
          <a:p>
            <a:pPr marL="0" indent="0">
              <a:buNone/>
            </a:pPr>
            <a:r>
              <a:rPr lang="en-US" sz="2400" i="1" dirty="0">
                <a:solidFill>
                  <a:srgbClr val="CBD5E1"/>
                </a:solidFill>
                <a:latin typeface="Cambria" pitchFamily="34" charset="0"/>
                <a:ea typeface="Cambria" pitchFamily="34" charset="-122"/>
                <a:cs typeface="Cambria" pitchFamily="34" charset="-120"/>
              </a:rPr>
              <a:t>Menggunakan </a:t>
            </a:r>
            <a:r>
              <a:rPr lang="en-US" sz="2400" b="1" i="1" dirty="0">
                <a:solidFill>
                  <a:srgbClr val="22D3EE"/>
                </a:solidFill>
                <a:latin typeface="Cambria" pitchFamily="34" charset="0"/>
                <a:ea typeface="Cambria" pitchFamily="34" charset="-122"/>
                <a:cs typeface="Cambria" pitchFamily="34" charset="-120"/>
              </a:rPr>
              <a:t>Jaringan Syaraf Tiruan</a:t>
            </a:r>
            <a:r>
              <a:rPr lang="en-US" sz="2400" i="1" dirty="0">
                <a:solidFill>
                  <a:srgbClr val="CBD5E1"/>
                </a:solidFill>
                <a:latin typeface="Cambria" pitchFamily="34" charset="0"/>
                <a:ea typeface="Cambria" pitchFamily="34" charset="-122"/>
                <a:cs typeface="Cambria" pitchFamily="34" charset="-120"/>
              </a:rPr>
              <a:t> (JST)</a:t>
            </a:r>
            <a:endParaRPr lang="en-US" sz="2400" dirty="0"/>
          </a:p>
        </p:txBody>
      </p:sp>
      <p:sp>
        <p:nvSpPr>
          <p:cNvPr id="16" name="Shape 14"/>
          <p:cNvSpPr/>
          <p:nvPr/>
        </p:nvSpPr>
        <p:spPr>
          <a:xfrm>
            <a:off x="3749040" y="3611880"/>
            <a:ext cx="7589520" cy="18288"/>
          </a:xfrm>
          <a:prstGeom prst="rect">
            <a:avLst/>
          </a:prstGeom>
          <a:solidFill>
            <a:srgbClr val="334155"/>
          </a:solidFill>
          <a:ln/>
        </p:spPr>
      </p:sp>
      <p:sp>
        <p:nvSpPr>
          <p:cNvPr id="17" name="Text 15"/>
          <p:cNvSpPr/>
          <p:nvPr/>
        </p:nvSpPr>
        <p:spPr>
          <a:xfrm>
            <a:off x="3749040" y="3886200"/>
            <a:ext cx="7589520" cy="914400"/>
          </a:xfrm>
          <a:prstGeom prst="rect">
            <a:avLst/>
          </a:prstGeom>
          <a:noFill/>
          <a:ln/>
        </p:spPr>
        <p:txBody>
          <a:bodyPr wrap="square" lIns="0" tIns="0" rIns="0" bIns="0" rtlCol="0" anchor="ctr"/>
          <a:lstStyle/>
          <a:p>
            <a:pPr marL="0" indent="0">
              <a:lnSpc>
                <a:spcPct val="130000"/>
              </a:lnSpc>
              <a:buNone/>
            </a:pPr>
            <a:r>
              <a:rPr lang="en-US" sz="1450" b="1" dirty="0">
                <a:solidFill>
                  <a:srgbClr val="22D3EE"/>
                </a:solidFill>
                <a:latin typeface="Calibri" pitchFamily="34" charset="0"/>
                <a:ea typeface="Calibri" pitchFamily="34" charset="-122"/>
                <a:cs typeface="Calibri" pitchFamily="34" charset="-120"/>
              </a:rPr>
              <a:t>Model 1 </a:t>
            </a:r>
            <a:r>
              <a:rPr lang="en-US" sz="1450" dirty="0">
                <a:solidFill>
                  <a:srgbClr val="E2E8F0"/>
                </a:solidFill>
                <a:latin typeface="Calibri" pitchFamily="34" charset="0"/>
                <a:ea typeface="Calibri" pitchFamily="34" charset="-122"/>
                <a:cs typeface="Calibri" pitchFamily="34" charset="-120"/>
              </a:rPr>
              <a:t>Perceptron — Klasifikasi Kompatibilitas SSD dan Laptop</a:t>
            </a:r>
            <a:endParaRPr lang="en-US" sz="1450" dirty="0"/>
          </a:p>
          <a:p>
            <a:pPr marL="0" indent="0">
              <a:lnSpc>
                <a:spcPct val="130000"/>
              </a:lnSpc>
              <a:buNone/>
            </a:pPr>
            <a:r>
              <a:rPr lang="en-US" sz="1450" b="1" dirty="0">
                <a:solidFill>
                  <a:srgbClr val="22D3EE"/>
                </a:solidFill>
                <a:latin typeface="Calibri" pitchFamily="34" charset="0"/>
                <a:ea typeface="Calibri" pitchFamily="34" charset="-122"/>
                <a:cs typeface="Calibri" pitchFamily="34" charset="-120"/>
              </a:rPr>
              <a:t>Model 2 </a:t>
            </a:r>
            <a:r>
              <a:rPr lang="en-US" sz="1450" dirty="0">
                <a:solidFill>
                  <a:srgbClr val="E2E8F0"/>
                </a:solidFill>
                <a:latin typeface="Calibri" pitchFamily="34" charset="0"/>
                <a:ea typeface="Calibri" pitchFamily="34" charset="-122"/>
                <a:cs typeface="Calibri" pitchFamily="34" charset="-120"/>
              </a:rPr>
              <a:t>Learning Vector Quantization (LVQ) — Rekomendasi Kategori SSD</a:t>
            </a:r>
            <a:endParaRPr lang="en-US" sz="1450" dirty="0"/>
          </a:p>
        </p:txBody>
      </p:sp>
      <p:sp>
        <p:nvSpPr>
          <p:cNvPr id="18" name="Text 16"/>
          <p:cNvSpPr/>
          <p:nvPr/>
        </p:nvSpPr>
        <p:spPr>
          <a:xfrm>
            <a:off x="3749040" y="5212080"/>
            <a:ext cx="7589520" cy="32004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Disusun oleh: </a:t>
            </a:r>
            <a:r>
              <a:rPr lang="en-US" sz="1300" b="1" dirty="0">
                <a:solidFill>
                  <a:srgbClr val="F1F5F9"/>
                </a:solidFill>
                <a:latin typeface="Calibri" pitchFamily="34" charset="0"/>
                <a:ea typeface="Calibri" pitchFamily="34" charset="-122"/>
                <a:cs typeface="Calibri" pitchFamily="34" charset="-120"/>
              </a:rPr>
              <a:t>Felan </a:t>
            </a:r>
            <a:r>
              <a:rPr lang="en-US" sz="1300" b="1" dirty="0" err="1">
                <a:solidFill>
                  <a:srgbClr val="F1F5F9"/>
                </a:solidFill>
                <a:latin typeface="Calibri" pitchFamily="34" charset="0"/>
                <a:ea typeface="Calibri" pitchFamily="34" charset="-122"/>
                <a:cs typeface="Calibri" pitchFamily="34" charset="-120"/>
              </a:rPr>
              <a:t>ardenta</a:t>
            </a:r>
            <a:r>
              <a:rPr lang="en-US" sz="1300" b="1" dirty="0">
                <a:solidFill>
                  <a:srgbClr val="F1F5F9"/>
                </a:solidFill>
                <a:latin typeface="Calibri" pitchFamily="34" charset="0"/>
                <a:ea typeface="Calibri" pitchFamily="34" charset="-122"/>
                <a:cs typeface="Calibri" pitchFamily="34" charset="-120"/>
              </a:rPr>
              <a:t> yoga </a:t>
            </a:r>
            <a:r>
              <a:rPr lang="en-US" sz="1300" b="1" dirty="0" err="1">
                <a:solidFill>
                  <a:srgbClr val="F1F5F9"/>
                </a:solidFill>
                <a:latin typeface="Calibri" pitchFamily="34" charset="0"/>
                <a:ea typeface="Calibri" pitchFamily="34" charset="-122"/>
                <a:cs typeface="Calibri" pitchFamily="34" charset="-120"/>
              </a:rPr>
              <a:t>adiyatama</a:t>
            </a:r>
            <a:endParaRPr lang="en-US" sz="1300" dirty="0"/>
          </a:p>
        </p:txBody>
      </p:sp>
      <p:sp>
        <p:nvSpPr>
          <p:cNvPr id="19" name="Text 17"/>
          <p:cNvSpPr/>
          <p:nvPr/>
        </p:nvSpPr>
        <p:spPr>
          <a:xfrm>
            <a:off x="3749040" y="5532120"/>
            <a:ext cx="7589520" cy="32004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NIM 1123150086 |  Program Studi Teknik Informatika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822960" y="566928"/>
            <a:ext cx="5486400" cy="320040"/>
          </a:xfrm>
          <a:prstGeom prst="rect">
            <a:avLst/>
          </a:prstGeom>
          <a:noFill/>
          <a:ln/>
        </p:spPr>
        <p:txBody>
          <a:bodyPr wrap="square" lIns="0" tIns="0" rIns="0" bIns="0" rtlCol="0" anchor="ctr"/>
          <a:lstStyle/>
          <a:p>
            <a:pPr marL="0" indent="0">
              <a:buNone/>
            </a:pPr>
            <a:r>
              <a:rPr lang="en-US" sz="1250" b="1" kern="0" spc="200" dirty="0">
                <a:solidFill>
                  <a:srgbClr val="312E81"/>
                </a:solidFill>
                <a:latin typeface="Calibri" pitchFamily="34" charset="0"/>
                <a:ea typeface="Calibri" pitchFamily="34" charset="-122"/>
                <a:cs typeface="Calibri" pitchFamily="34" charset="-120"/>
              </a:rPr>
              <a:t>AGENDA PRESENTASI</a:t>
            </a:r>
            <a:endParaRPr lang="en-US" sz="1250" dirty="0"/>
          </a:p>
        </p:txBody>
      </p:sp>
      <p:sp>
        <p:nvSpPr>
          <p:cNvPr id="3" name="Text 1"/>
          <p:cNvSpPr/>
          <p:nvPr/>
        </p:nvSpPr>
        <p:spPr>
          <a:xfrm>
            <a:off x="822960" y="914400"/>
            <a:ext cx="9144000" cy="822960"/>
          </a:xfrm>
          <a:prstGeom prst="rect">
            <a:avLst/>
          </a:prstGeom>
          <a:noFill/>
          <a:ln/>
        </p:spPr>
        <p:txBody>
          <a:bodyPr wrap="square" lIns="0" tIns="0" rIns="0" bIns="0" rtlCol="0" anchor="t"/>
          <a:lstStyle/>
          <a:p>
            <a:pPr marL="0" indent="0">
              <a:buNone/>
            </a:pPr>
            <a:r>
              <a:rPr lang="en-US" sz="3000" b="1" dirty="0">
                <a:solidFill>
                  <a:srgbClr val="1E1B4B"/>
                </a:solidFill>
                <a:latin typeface="Cambria" pitchFamily="34" charset="0"/>
                <a:ea typeface="Cambria" pitchFamily="34" charset="-122"/>
                <a:cs typeface="Cambria" pitchFamily="34" charset="-120"/>
              </a:rPr>
              <a:t>Apa yang Akan Dibahas</a:t>
            </a:r>
            <a:endParaRPr lang="en-US" sz="3000" dirty="0"/>
          </a:p>
        </p:txBody>
      </p:sp>
      <p:sp>
        <p:nvSpPr>
          <p:cNvPr id="4" name="Shape 2"/>
          <p:cNvSpPr/>
          <p:nvPr/>
        </p:nvSpPr>
        <p:spPr>
          <a:xfrm>
            <a:off x="822960" y="1691640"/>
            <a:ext cx="5349240" cy="1481328"/>
          </a:xfrm>
          <a:prstGeom prst="roundRect">
            <a:avLst>
              <a:gd name="adj" fmla="val 5556"/>
            </a:avLst>
          </a:prstGeom>
          <a:solidFill>
            <a:srgbClr val="FFFFFF"/>
          </a:solidFill>
          <a:ln/>
          <a:effectLst>
            <a:outerShdw blurRad="101600" dist="25400" dir="5400000" algn="bl" rotWithShape="0">
              <a:srgbClr val="0F172A">
                <a:alpha val="10000"/>
              </a:srgbClr>
            </a:outerShdw>
          </a:effectLst>
        </p:spPr>
      </p:sp>
      <p:sp>
        <p:nvSpPr>
          <p:cNvPr id="5" name="Shape 3"/>
          <p:cNvSpPr/>
          <p:nvPr/>
        </p:nvSpPr>
        <p:spPr>
          <a:xfrm>
            <a:off x="1051560" y="1975104"/>
            <a:ext cx="566928" cy="566928"/>
          </a:xfrm>
          <a:prstGeom prst="ellipse">
            <a:avLst/>
          </a:prstGeom>
          <a:solidFill>
            <a:srgbClr val="E0FBFF"/>
          </a:solidFill>
          <a:ln/>
        </p:spPr>
      </p:sp>
      <p:pic>
        <p:nvPicPr>
          <p:cNvPr id="6" name="Image 0" descr="/home/claude/pptx/assets/clipboard_navy.png"/>
          <p:cNvPicPr>
            <a:picLocks noChangeAspect="1"/>
          </p:cNvPicPr>
          <p:nvPr/>
        </p:nvPicPr>
        <p:blipFill>
          <a:blip r:embed="rId3"/>
          <a:stretch>
            <a:fillRect/>
          </a:stretch>
        </p:blipFill>
        <p:spPr>
          <a:xfrm>
            <a:off x="1187623" y="2111167"/>
            <a:ext cx="294803" cy="294803"/>
          </a:xfrm>
          <a:prstGeom prst="rect">
            <a:avLst/>
          </a:prstGeom>
        </p:spPr>
      </p:pic>
      <p:sp>
        <p:nvSpPr>
          <p:cNvPr id="7" name="Text 4"/>
          <p:cNvSpPr/>
          <p:nvPr/>
        </p:nvSpPr>
        <p:spPr>
          <a:xfrm>
            <a:off x="1051560" y="1709928"/>
            <a:ext cx="548640" cy="256032"/>
          </a:xfrm>
          <a:prstGeom prst="rect">
            <a:avLst/>
          </a:prstGeom>
          <a:noFill/>
          <a:ln/>
        </p:spPr>
        <p:txBody>
          <a:bodyPr wrap="square" lIns="0" tIns="0" rIns="0" bIns="0" rtlCol="0" anchor="ctr"/>
          <a:lstStyle/>
          <a:p>
            <a:pPr marL="0" indent="0" algn="ctr">
              <a:buNone/>
            </a:pPr>
            <a:r>
              <a:rPr lang="en-US" sz="1100" b="1" dirty="0">
                <a:solidFill>
                  <a:srgbClr val="64748B"/>
                </a:solidFill>
                <a:latin typeface="Calibri" pitchFamily="34" charset="0"/>
                <a:ea typeface="Calibri" pitchFamily="34" charset="-122"/>
                <a:cs typeface="Calibri" pitchFamily="34" charset="-120"/>
              </a:rPr>
              <a:t>01</a:t>
            </a:r>
            <a:endParaRPr lang="en-US" sz="1100" dirty="0"/>
          </a:p>
        </p:txBody>
      </p:sp>
      <p:sp>
        <p:nvSpPr>
          <p:cNvPr id="8" name="Text 5"/>
          <p:cNvSpPr/>
          <p:nvPr/>
        </p:nvSpPr>
        <p:spPr>
          <a:xfrm>
            <a:off x="1783080" y="1892808"/>
            <a:ext cx="4160520" cy="548640"/>
          </a:xfrm>
          <a:prstGeom prst="rect">
            <a:avLst/>
          </a:prstGeom>
          <a:noFill/>
          <a:ln/>
        </p:spPr>
        <p:txBody>
          <a:bodyPr wrap="square" lIns="0" tIns="0" rIns="0" bIns="0" rtlCol="0" anchor="t"/>
          <a:lstStyle/>
          <a:p>
            <a:pPr marL="0" indent="0">
              <a:buNone/>
            </a:pPr>
            <a:r>
              <a:rPr lang="en-US" sz="1450" b="1" dirty="0">
                <a:solidFill>
                  <a:srgbClr val="1E1B4B"/>
                </a:solidFill>
                <a:latin typeface="Calibri" pitchFamily="34" charset="0"/>
                <a:ea typeface="Calibri" pitchFamily="34" charset="-122"/>
                <a:cs typeface="Calibri" pitchFamily="34" charset="-120"/>
              </a:rPr>
              <a:t>Latar Belakang &amp; Rumusan Masalah</a:t>
            </a:r>
            <a:endParaRPr lang="en-US" sz="1450" dirty="0"/>
          </a:p>
        </p:txBody>
      </p:sp>
      <p:sp>
        <p:nvSpPr>
          <p:cNvPr id="9" name="Text 6"/>
          <p:cNvSpPr/>
          <p:nvPr/>
        </p:nvSpPr>
        <p:spPr>
          <a:xfrm>
            <a:off x="1783080" y="2441448"/>
            <a:ext cx="4160520" cy="640080"/>
          </a:xfrm>
          <a:prstGeom prst="rect">
            <a:avLst/>
          </a:prstGeom>
          <a:noFill/>
          <a:ln/>
        </p:spPr>
        <p:txBody>
          <a:bodyPr wrap="square" lIns="0" tIns="0" rIns="0" bIns="0" rtlCol="0" anchor="t"/>
          <a:lstStyle/>
          <a:p>
            <a:pPr marL="0" indent="0">
              <a:lnSpc>
                <a:spcPct val="115000"/>
              </a:lnSpc>
              <a:buNone/>
            </a:pPr>
            <a:r>
              <a:rPr lang="en-US" sz="1150" dirty="0">
                <a:solidFill>
                  <a:srgbClr val="64748B"/>
                </a:solidFill>
                <a:latin typeface="Calibri" pitchFamily="34" charset="0"/>
                <a:ea typeface="Calibri" pitchFamily="34" charset="-122"/>
                <a:cs typeface="Calibri" pitchFamily="34" charset="-120"/>
              </a:rPr>
              <a:t>Konteks masalah pemilihan SSD dan tujuan penelitian</a:t>
            </a:r>
            <a:endParaRPr lang="en-US" sz="1150" dirty="0"/>
          </a:p>
        </p:txBody>
      </p:sp>
      <p:sp>
        <p:nvSpPr>
          <p:cNvPr id="10" name="Shape 7"/>
          <p:cNvSpPr/>
          <p:nvPr/>
        </p:nvSpPr>
        <p:spPr>
          <a:xfrm>
            <a:off x="6446520" y="1691640"/>
            <a:ext cx="5349240" cy="1481328"/>
          </a:xfrm>
          <a:prstGeom prst="roundRect">
            <a:avLst>
              <a:gd name="adj" fmla="val 5556"/>
            </a:avLst>
          </a:prstGeom>
          <a:solidFill>
            <a:srgbClr val="FFFFFF"/>
          </a:solidFill>
          <a:ln/>
          <a:effectLst>
            <a:outerShdw blurRad="101600" dist="25400" dir="5400000" algn="bl" rotWithShape="0">
              <a:srgbClr val="0F172A">
                <a:alpha val="10000"/>
              </a:srgbClr>
            </a:outerShdw>
          </a:effectLst>
        </p:spPr>
      </p:sp>
      <p:sp>
        <p:nvSpPr>
          <p:cNvPr id="11" name="Shape 8"/>
          <p:cNvSpPr/>
          <p:nvPr/>
        </p:nvSpPr>
        <p:spPr>
          <a:xfrm>
            <a:off x="6675120" y="1975104"/>
            <a:ext cx="566928" cy="566928"/>
          </a:xfrm>
          <a:prstGeom prst="ellipse">
            <a:avLst/>
          </a:prstGeom>
          <a:solidFill>
            <a:srgbClr val="E0FBFF"/>
          </a:solidFill>
          <a:ln/>
        </p:spPr>
      </p:sp>
      <p:pic>
        <p:nvPicPr>
          <p:cNvPr id="12" name="Image 1" descr="/home/claude/pptx/assets/brain_navy.png"/>
          <p:cNvPicPr>
            <a:picLocks noChangeAspect="1"/>
          </p:cNvPicPr>
          <p:nvPr/>
        </p:nvPicPr>
        <p:blipFill>
          <a:blip r:embed="rId4"/>
          <a:stretch>
            <a:fillRect/>
          </a:stretch>
        </p:blipFill>
        <p:spPr>
          <a:xfrm>
            <a:off x="6811183" y="2111167"/>
            <a:ext cx="294803" cy="294803"/>
          </a:xfrm>
          <a:prstGeom prst="rect">
            <a:avLst/>
          </a:prstGeom>
        </p:spPr>
      </p:pic>
      <p:sp>
        <p:nvSpPr>
          <p:cNvPr id="13" name="Text 9"/>
          <p:cNvSpPr/>
          <p:nvPr/>
        </p:nvSpPr>
        <p:spPr>
          <a:xfrm>
            <a:off x="6675120" y="1709928"/>
            <a:ext cx="548640" cy="256032"/>
          </a:xfrm>
          <a:prstGeom prst="rect">
            <a:avLst/>
          </a:prstGeom>
          <a:noFill/>
          <a:ln/>
        </p:spPr>
        <p:txBody>
          <a:bodyPr wrap="square" lIns="0" tIns="0" rIns="0" bIns="0" rtlCol="0" anchor="ctr"/>
          <a:lstStyle/>
          <a:p>
            <a:pPr marL="0" indent="0" algn="ctr">
              <a:buNone/>
            </a:pPr>
            <a:r>
              <a:rPr lang="en-US" sz="1100" b="1" dirty="0">
                <a:solidFill>
                  <a:srgbClr val="64748B"/>
                </a:solidFill>
                <a:latin typeface="Calibri" pitchFamily="34" charset="0"/>
                <a:ea typeface="Calibri" pitchFamily="34" charset="-122"/>
                <a:cs typeface="Calibri" pitchFamily="34" charset="-120"/>
              </a:rPr>
              <a:t>02</a:t>
            </a:r>
            <a:endParaRPr lang="en-US" sz="1100" dirty="0"/>
          </a:p>
        </p:txBody>
      </p:sp>
      <p:sp>
        <p:nvSpPr>
          <p:cNvPr id="14" name="Text 10"/>
          <p:cNvSpPr/>
          <p:nvPr/>
        </p:nvSpPr>
        <p:spPr>
          <a:xfrm>
            <a:off x="7406640" y="1892808"/>
            <a:ext cx="4160520" cy="548640"/>
          </a:xfrm>
          <a:prstGeom prst="rect">
            <a:avLst/>
          </a:prstGeom>
          <a:noFill/>
          <a:ln/>
        </p:spPr>
        <p:txBody>
          <a:bodyPr wrap="square" lIns="0" tIns="0" rIns="0" bIns="0" rtlCol="0" anchor="t"/>
          <a:lstStyle/>
          <a:p>
            <a:pPr marL="0" indent="0">
              <a:buNone/>
            </a:pPr>
            <a:r>
              <a:rPr lang="en-US" sz="1450" b="1" dirty="0">
                <a:solidFill>
                  <a:srgbClr val="1E1B4B"/>
                </a:solidFill>
                <a:latin typeface="Calibri" pitchFamily="34" charset="0"/>
                <a:ea typeface="Calibri" pitchFamily="34" charset="-122"/>
                <a:cs typeface="Calibri" pitchFamily="34" charset="-120"/>
              </a:rPr>
              <a:t>Landasan Teori JST</a:t>
            </a:r>
            <a:endParaRPr lang="en-US" sz="1450" dirty="0"/>
          </a:p>
        </p:txBody>
      </p:sp>
      <p:sp>
        <p:nvSpPr>
          <p:cNvPr id="15" name="Text 11"/>
          <p:cNvSpPr/>
          <p:nvPr/>
        </p:nvSpPr>
        <p:spPr>
          <a:xfrm>
            <a:off x="7406640" y="2441448"/>
            <a:ext cx="4160520" cy="640080"/>
          </a:xfrm>
          <a:prstGeom prst="rect">
            <a:avLst/>
          </a:prstGeom>
          <a:noFill/>
          <a:ln/>
        </p:spPr>
        <p:txBody>
          <a:bodyPr wrap="square" lIns="0" tIns="0" rIns="0" bIns="0" rtlCol="0" anchor="t"/>
          <a:lstStyle/>
          <a:p>
            <a:pPr marL="0" indent="0">
              <a:lnSpc>
                <a:spcPct val="115000"/>
              </a:lnSpc>
              <a:buNone/>
            </a:pPr>
            <a:r>
              <a:rPr lang="en-US" sz="1150" dirty="0">
                <a:solidFill>
                  <a:srgbClr val="64748B"/>
                </a:solidFill>
                <a:latin typeface="Calibri" pitchFamily="34" charset="0"/>
                <a:ea typeface="Calibri" pitchFamily="34" charset="-122"/>
                <a:cs typeface="Calibri" pitchFamily="34" charset="-120"/>
              </a:rPr>
              <a:t>Neuron buatan, Perceptron, dan Learning Vector Quantization</a:t>
            </a:r>
            <a:endParaRPr lang="en-US" sz="1150" dirty="0"/>
          </a:p>
        </p:txBody>
      </p:sp>
      <p:sp>
        <p:nvSpPr>
          <p:cNvPr id="16" name="Shape 12"/>
          <p:cNvSpPr/>
          <p:nvPr/>
        </p:nvSpPr>
        <p:spPr>
          <a:xfrm>
            <a:off x="822960" y="3401568"/>
            <a:ext cx="5349240" cy="1481328"/>
          </a:xfrm>
          <a:prstGeom prst="roundRect">
            <a:avLst>
              <a:gd name="adj" fmla="val 5556"/>
            </a:avLst>
          </a:prstGeom>
          <a:solidFill>
            <a:srgbClr val="FFFFFF"/>
          </a:solidFill>
          <a:ln/>
          <a:effectLst>
            <a:outerShdw blurRad="101600" dist="25400" dir="5400000" algn="bl" rotWithShape="0">
              <a:srgbClr val="0F172A">
                <a:alpha val="10000"/>
              </a:srgbClr>
            </a:outerShdw>
          </a:effectLst>
        </p:spPr>
      </p:sp>
      <p:sp>
        <p:nvSpPr>
          <p:cNvPr id="17" name="Shape 13"/>
          <p:cNvSpPr/>
          <p:nvPr/>
        </p:nvSpPr>
        <p:spPr>
          <a:xfrm>
            <a:off x="1051560" y="3685032"/>
            <a:ext cx="566928" cy="566928"/>
          </a:xfrm>
          <a:prstGeom prst="ellipse">
            <a:avLst/>
          </a:prstGeom>
          <a:solidFill>
            <a:srgbClr val="E0FBFF"/>
          </a:solidFill>
          <a:ln/>
        </p:spPr>
      </p:sp>
      <p:pic>
        <p:nvPicPr>
          <p:cNvPr id="18" name="Image 2" descr="/home/claude/pptx/assets/layers_navy.png"/>
          <p:cNvPicPr>
            <a:picLocks noChangeAspect="1"/>
          </p:cNvPicPr>
          <p:nvPr/>
        </p:nvPicPr>
        <p:blipFill>
          <a:blip r:embed="rId5"/>
          <a:stretch>
            <a:fillRect/>
          </a:stretch>
        </p:blipFill>
        <p:spPr>
          <a:xfrm>
            <a:off x="1187623" y="3821095"/>
            <a:ext cx="294803" cy="294803"/>
          </a:xfrm>
          <a:prstGeom prst="rect">
            <a:avLst/>
          </a:prstGeom>
        </p:spPr>
      </p:pic>
      <p:sp>
        <p:nvSpPr>
          <p:cNvPr id="19" name="Text 14"/>
          <p:cNvSpPr/>
          <p:nvPr/>
        </p:nvSpPr>
        <p:spPr>
          <a:xfrm>
            <a:off x="1051560" y="3419856"/>
            <a:ext cx="548640" cy="256032"/>
          </a:xfrm>
          <a:prstGeom prst="rect">
            <a:avLst/>
          </a:prstGeom>
          <a:noFill/>
          <a:ln/>
        </p:spPr>
        <p:txBody>
          <a:bodyPr wrap="square" lIns="0" tIns="0" rIns="0" bIns="0" rtlCol="0" anchor="ctr"/>
          <a:lstStyle/>
          <a:p>
            <a:pPr marL="0" indent="0" algn="ctr">
              <a:buNone/>
            </a:pPr>
            <a:r>
              <a:rPr lang="en-US" sz="1100" b="1" dirty="0">
                <a:solidFill>
                  <a:srgbClr val="64748B"/>
                </a:solidFill>
                <a:latin typeface="Calibri" pitchFamily="34" charset="0"/>
                <a:ea typeface="Calibri" pitchFamily="34" charset="-122"/>
                <a:cs typeface="Calibri" pitchFamily="34" charset="-120"/>
              </a:rPr>
              <a:t>03</a:t>
            </a:r>
            <a:endParaRPr lang="en-US" sz="1100" dirty="0"/>
          </a:p>
        </p:txBody>
      </p:sp>
      <p:sp>
        <p:nvSpPr>
          <p:cNvPr id="20" name="Text 15"/>
          <p:cNvSpPr/>
          <p:nvPr/>
        </p:nvSpPr>
        <p:spPr>
          <a:xfrm>
            <a:off x="1783080" y="3602736"/>
            <a:ext cx="4160520" cy="548640"/>
          </a:xfrm>
          <a:prstGeom prst="rect">
            <a:avLst/>
          </a:prstGeom>
          <a:noFill/>
          <a:ln/>
        </p:spPr>
        <p:txBody>
          <a:bodyPr wrap="square" lIns="0" tIns="0" rIns="0" bIns="0" rtlCol="0" anchor="t"/>
          <a:lstStyle/>
          <a:p>
            <a:pPr marL="0" indent="0">
              <a:buNone/>
            </a:pPr>
            <a:r>
              <a:rPr lang="en-US" sz="1450" b="1" dirty="0">
                <a:solidFill>
                  <a:srgbClr val="1E1B4B"/>
                </a:solidFill>
                <a:latin typeface="Calibri" pitchFamily="34" charset="0"/>
                <a:ea typeface="Calibri" pitchFamily="34" charset="-122"/>
                <a:cs typeface="Calibri" pitchFamily="34" charset="-120"/>
              </a:rPr>
              <a:t>Perancangan Dua Model</a:t>
            </a:r>
            <a:endParaRPr lang="en-US" sz="1450" dirty="0"/>
          </a:p>
        </p:txBody>
      </p:sp>
      <p:sp>
        <p:nvSpPr>
          <p:cNvPr id="21" name="Text 16"/>
          <p:cNvSpPr/>
          <p:nvPr/>
        </p:nvSpPr>
        <p:spPr>
          <a:xfrm>
            <a:off x="1783080" y="4151376"/>
            <a:ext cx="4160520" cy="640080"/>
          </a:xfrm>
          <a:prstGeom prst="rect">
            <a:avLst/>
          </a:prstGeom>
          <a:noFill/>
          <a:ln/>
        </p:spPr>
        <p:txBody>
          <a:bodyPr wrap="square" lIns="0" tIns="0" rIns="0" bIns="0" rtlCol="0" anchor="t"/>
          <a:lstStyle/>
          <a:p>
            <a:pPr marL="0" indent="0">
              <a:lnSpc>
                <a:spcPct val="115000"/>
              </a:lnSpc>
              <a:buNone/>
            </a:pPr>
            <a:r>
              <a:rPr lang="en-US" sz="1150" dirty="0">
                <a:solidFill>
                  <a:srgbClr val="64748B"/>
                </a:solidFill>
                <a:latin typeface="Calibri" pitchFamily="34" charset="0"/>
                <a:ea typeface="Calibri" pitchFamily="34" charset="-122"/>
                <a:cs typeface="Calibri" pitchFamily="34" charset="-120"/>
              </a:rPr>
              <a:t>Arsitektur Perceptron untuk kompatibilitas, LVQ untuk rekomendasi</a:t>
            </a:r>
            <a:endParaRPr lang="en-US" sz="1150" dirty="0"/>
          </a:p>
        </p:txBody>
      </p:sp>
      <p:sp>
        <p:nvSpPr>
          <p:cNvPr id="22" name="Shape 17"/>
          <p:cNvSpPr/>
          <p:nvPr/>
        </p:nvSpPr>
        <p:spPr>
          <a:xfrm>
            <a:off x="6446520" y="3401568"/>
            <a:ext cx="5349240" cy="1481328"/>
          </a:xfrm>
          <a:prstGeom prst="roundRect">
            <a:avLst>
              <a:gd name="adj" fmla="val 5556"/>
            </a:avLst>
          </a:prstGeom>
          <a:solidFill>
            <a:srgbClr val="FFFFFF"/>
          </a:solidFill>
          <a:ln/>
          <a:effectLst>
            <a:outerShdw blurRad="101600" dist="25400" dir="5400000" algn="bl" rotWithShape="0">
              <a:srgbClr val="0F172A">
                <a:alpha val="10000"/>
              </a:srgbClr>
            </a:outerShdw>
          </a:effectLst>
        </p:spPr>
      </p:sp>
      <p:sp>
        <p:nvSpPr>
          <p:cNvPr id="23" name="Shape 18"/>
          <p:cNvSpPr/>
          <p:nvPr/>
        </p:nvSpPr>
        <p:spPr>
          <a:xfrm>
            <a:off x="6675120" y="3685032"/>
            <a:ext cx="566928" cy="566928"/>
          </a:xfrm>
          <a:prstGeom prst="ellipse">
            <a:avLst/>
          </a:prstGeom>
          <a:solidFill>
            <a:srgbClr val="E0FBFF"/>
          </a:solidFill>
          <a:ln/>
        </p:spPr>
      </p:sp>
      <p:pic>
        <p:nvPicPr>
          <p:cNvPr id="24" name="Image 3" descr="/home/claude/pptx/assets/calculator_navy.png"/>
          <p:cNvPicPr>
            <a:picLocks noChangeAspect="1"/>
          </p:cNvPicPr>
          <p:nvPr/>
        </p:nvPicPr>
        <p:blipFill>
          <a:blip r:embed="rId6"/>
          <a:stretch>
            <a:fillRect/>
          </a:stretch>
        </p:blipFill>
        <p:spPr>
          <a:xfrm>
            <a:off x="6811183" y="3821095"/>
            <a:ext cx="294803" cy="294803"/>
          </a:xfrm>
          <a:prstGeom prst="rect">
            <a:avLst/>
          </a:prstGeom>
        </p:spPr>
      </p:pic>
      <p:sp>
        <p:nvSpPr>
          <p:cNvPr id="25" name="Text 19"/>
          <p:cNvSpPr/>
          <p:nvPr/>
        </p:nvSpPr>
        <p:spPr>
          <a:xfrm>
            <a:off x="6675120" y="3419856"/>
            <a:ext cx="548640" cy="256032"/>
          </a:xfrm>
          <a:prstGeom prst="rect">
            <a:avLst/>
          </a:prstGeom>
          <a:noFill/>
          <a:ln/>
        </p:spPr>
        <p:txBody>
          <a:bodyPr wrap="square" lIns="0" tIns="0" rIns="0" bIns="0" rtlCol="0" anchor="ctr"/>
          <a:lstStyle/>
          <a:p>
            <a:pPr marL="0" indent="0" algn="ctr">
              <a:buNone/>
            </a:pPr>
            <a:r>
              <a:rPr lang="en-US" sz="1100" b="1" dirty="0">
                <a:solidFill>
                  <a:srgbClr val="64748B"/>
                </a:solidFill>
                <a:latin typeface="Calibri" pitchFamily="34" charset="0"/>
                <a:ea typeface="Calibri" pitchFamily="34" charset="-122"/>
                <a:cs typeface="Calibri" pitchFamily="34" charset="-120"/>
              </a:rPr>
              <a:t>04</a:t>
            </a:r>
            <a:endParaRPr lang="en-US" sz="1100" dirty="0"/>
          </a:p>
        </p:txBody>
      </p:sp>
      <p:sp>
        <p:nvSpPr>
          <p:cNvPr id="26" name="Text 20"/>
          <p:cNvSpPr/>
          <p:nvPr/>
        </p:nvSpPr>
        <p:spPr>
          <a:xfrm>
            <a:off x="7406640" y="3602736"/>
            <a:ext cx="4160520" cy="548640"/>
          </a:xfrm>
          <a:prstGeom prst="rect">
            <a:avLst/>
          </a:prstGeom>
          <a:noFill/>
          <a:ln/>
        </p:spPr>
        <p:txBody>
          <a:bodyPr wrap="square" lIns="0" tIns="0" rIns="0" bIns="0" rtlCol="0" anchor="t"/>
          <a:lstStyle/>
          <a:p>
            <a:pPr marL="0" indent="0">
              <a:buNone/>
            </a:pPr>
            <a:r>
              <a:rPr lang="en-US" sz="1450" b="1" dirty="0">
                <a:solidFill>
                  <a:srgbClr val="1E1B4B"/>
                </a:solidFill>
                <a:latin typeface="Calibri" pitchFamily="34" charset="0"/>
                <a:ea typeface="Calibri" pitchFamily="34" charset="-122"/>
                <a:cs typeface="Calibri" pitchFamily="34" charset="-120"/>
              </a:rPr>
              <a:t>Perhitungan Matematis</a:t>
            </a:r>
            <a:endParaRPr lang="en-US" sz="1450" dirty="0"/>
          </a:p>
        </p:txBody>
      </p:sp>
      <p:sp>
        <p:nvSpPr>
          <p:cNvPr id="27" name="Text 21"/>
          <p:cNvSpPr/>
          <p:nvPr/>
        </p:nvSpPr>
        <p:spPr>
          <a:xfrm>
            <a:off x="7406640" y="4151376"/>
            <a:ext cx="4160520" cy="640080"/>
          </a:xfrm>
          <a:prstGeom prst="rect">
            <a:avLst/>
          </a:prstGeom>
          <a:noFill/>
          <a:ln/>
        </p:spPr>
        <p:txBody>
          <a:bodyPr wrap="square" lIns="0" tIns="0" rIns="0" bIns="0" rtlCol="0" anchor="t"/>
          <a:lstStyle/>
          <a:p>
            <a:pPr marL="0" indent="0">
              <a:lnSpc>
                <a:spcPct val="115000"/>
              </a:lnSpc>
              <a:buNone/>
            </a:pPr>
            <a:r>
              <a:rPr lang="en-US" sz="1150" dirty="0">
                <a:solidFill>
                  <a:srgbClr val="64748B"/>
                </a:solidFill>
                <a:latin typeface="Calibri" pitchFamily="34" charset="0"/>
                <a:ea typeface="Calibri" pitchFamily="34" charset="-122"/>
                <a:cs typeface="Calibri" pitchFamily="34" charset="-120"/>
              </a:rPr>
              <a:t>Contoh numerik training kedua model langkah demi langkah</a:t>
            </a:r>
            <a:endParaRPr lang="en-US" sz="1150" dirty="0"/>
          </a:p>
        </p:txBody>
      </p:sp>
      <p:sp>
        <p:nvSpPr>
          <p:cNvPr id="28" name="Shape 22"/>
          <p:cNvSpPr/>
          <p:nvPr/>
        </p:nvSpPr>
        <p:spPr>
          <a:xfrm>
            <a:off x="822960" y="5111496"/>
            <a:ext cx="5349240" cy="1481328"/>
          </a:xfrm>
          <a:prstGeom prst="roundRect">
            <a:avLst>
              <a:gd name="adj" fmla="val 5556"/>
            </a:avLst>
          </a:prstGeom>
          <a:solidFill>
            <a:srgbClr val="FFFFFF"/>
          </a:solidFill>
          <a:ln/>
          <a:effectLst>
            <a:outerShdw blurRad="101600" dist="25400" dir="5400000" algn="bl" rotWithShape="0">
              <a:srgbClr val="0F172A">
                <a:alpha val="10000"/>
              </a:srgbClr>
            </a:outerShdw>
          </a:effectLst>
        </p:spPr>
      </p:sp>
      <p:sp>
        <p:nvSpPr>
          <p:cNvPr id="29" name="Shape 23"/>
          <p:cNvSpPr/>
          <p:nvPr/>
        </p:nvSpPr>
        <p:spPr>
          <a:xfrm>
            <a:off x="1051560" y="5394960"/>
            <a:ext cx="566928" cy="566928"/>
          </a:xfrm>
          <a:prstGeom prst="ellipse">
            <a:avLst/>
          </a:prstGeom>
          <a:solidFill>
            <a:srgbClr val="E0FBFF"/>
          </a:solidFill>
          <a:ln/>
        </p:spPr>
      </p:sp>
      <p:pic>
        <p:nvPicPr>
          <p:cNvPr id="30" name="Image 4" descr="/home/claude/pptx/assets/laptop_navy.png"/>
          <p:cNvPicPr>
            <a:picLocks noChangeAspect="1"/>
          </p:cNvPicPr>
          <p:nvPr/>
        </p:nvPicPr>
        <p:blipFill>
          <a:blip r:embed="rId7"/>
          <a:stretch>
            <a:fillRect/>
          </a:stretch>
        </p:blipFill>
        <p:spPr>
          <a:xfrm>
            <a:off x="1187623" y="5531023"/>
            <a:ext cx="294803" cy="294803"/>
          </a:xfrm>
          <a:prstGeom prst="rect">
            <a:avLst/>
          </a:prstGeom>
        </p:spPr>
      </p:pic>
      <p:sp>
        <p:nvSpPr>
          <p:cNvPr id="31" name="Text 24"/>
          <p:cNvSpPr/>
          <p:nvPr/>
        </p:nvSpPr>
        <p:spPr>
          <a:xfrm>
            <a:off x="1051560" y="5129784"/>
            <a:ext cx="548640" cy="256032"/>
          </a:xfrm>
          <a:prstGeom prst="rect">
            <a:avLst/>
          </a:prstGeom>
          <a:noFill/>
          <a:ln/>
        </p:spPr>
        <p:txBody>
          <a:bodyPr wrap="square" lIns="0" tIns="0" rIns="0" bIns="0" rtlCol="0" anchor="ctr"/>
          <a:lstStyle/>
          <a:p>
            <a:pPr marL="0" indent="0" algn="ctr">
              <a:buNone/>
            </a:pPr>
            <a:r>
              <a:rPr lang="en-US" sz="1100" b="1" dirty="0">
                <a:solidFill>
                  <a:srgbClr val="64748B"/>
                </a:solidFill>
                <a:latin typeface="Calibri" pitchFamily="34" charset="0"/>
                <a:ea typeface="Calibri" pitchFamily="34" charset="-122"/>
                <a:cs typeface="Calibri" pitchFamily="34" charset="-120"/>
              </a:rPr>
              <a:t>05</a:t>
            </a:r>
            <a:endParaRPr lang="en-US" sz="1100" dirty="0"/>
          </a:p>
        </p:txBody>
      </p:sp>
      <p:sp>
        <p:nvSpPr>
          <p:cNvPr id="32" name="Text 25"/>
          <p:cNvSpPr/>
          <p:nvPr/>
        </p:nvSpPr>
        <p:spPr>
          <a:xfrm>
            <a:off x="1783080" y="5312664"/>
            <a:ext cx="4160520" cy="548640"/>
          </a:xfrm>
          <a:prstGeom prst="rect">
            <a:avLst/>
          </a:prstGeom>
          <a:noFill/>
          <a:ln/>
        </p:spPr>
        <p:txBody>
          <a:bodyPr wrap="square" lIns="0" tIns="0" rIns="0" bIns="0" rtlCol="0" anchor="t"/>
          <a:lstStyle/>
          <a:p>
            <a:pPr marL="0" indent="0">
              <a:buNone/>
            </a:pPr>
            <a:r>
              <a:rPr lang="en-US" sz="1450" b="1" dirty="0">
                <a:solidFill>
                  <a:srgbClr val="1E1B4B"/>
                </a:solidFill>
                <a:latin typeface="Calibri" pitchFamily="34" charset="0"/>
                <a:ea typeface="Calibri" pitchFamily="34" charset="-122"/>
                <a:cs typeface="Calibri" pitchFamily="34" charset="-120"/>
              </a:rPr>
              <a:t>Implementasi Aplikasi</a:t>
            </a:r>
            <a:endParaRPr lang="en-US" sz="1450" dirty="0"/>
          </a:p>
        </p:txBody>
      </p:sp>
      <p:sp>
        <p:nvSpPr>
          <p:cNvPr id="33" name="Text 26"/>
          <p:cNvSpPr/>
          <p:nvPr/>
        </p:nvSpPr>
        <p:spPr>
          <a:xfrm>
            <a:off x="1783080" y="5861304"/>
            <a:ext cx="4160520" cy="640080"/>
          </a:xfrm>
          <a:prstGeom prst="rect">
            <a:avLst/>
          </a:prstGeom>
          <a:noFill/>
          <a:ln/>
        </p:spPr>
        <p:txBody>
          <a:bodyPr wrap="square" lIns="0" tIns="0" rIns="0" bIns="0" rtlCol="0" anchor="t"/>
          <a:lstStyle/>
          <a:p>
            <a:pPr marL="0" indent="0">
              <a:lnSpc>
                <a:spcPct val="115000"/>
              </a:lnSpc>
              <a:buNone/>
            </a:pPr>
            <a:r>
              <a:rPr lang="en-US" sz="1150" dirty="0">
                <a:solidFill>
                  <a:srgbClr val="64748B"/>
                </a:solidFill>
                <a:latin typeface="Calibri" pitchFamily="34" charset="0"/>
                <a:ea typeface="Calibri" pitchFamily="34" charset="-122"/>
                <a:cs typeface="Calibri" pitchFamily="34" charset="-120"/>
              </a:rPr>
              <a:t>Dashboard, rekomendasi, riwayat, dan export pada Streamlit</a:t>
            </a:r>
            <a:endParaRPr lang="en-US" sz="1150" dirty="0"/>
          </a:p>
        </p:txBody>
      </p:sp>
      <p:sp>
        <p:nvSpPr>
          <p:cNvPr id="34" name="Shape 27"/>
          <p:cNvSpPr/>
          <p:nvPr/>
        </p:nvSpPr>
        <p:spPr>
          <a:xfrm>
            <a:off x="6446520" y="5111496"/>
            <a:ext cx="5349240" cy="1481328"/>
          </a:xfrm>
          <a:prstGeom prst="roundRect">
            <a:avLst>
              <a:gd name="adj" fmla="val 5556"/>
            </a:avLst>
          </a:prstGeom>
          <a:solidFill>
            <a:srgbClr val="FFFFFF"/>
          </a:solidFill>
          <a:ln/>
          <a:effectLst>
            <a:outerShdw blurRad="101600" dist="25400" dir="5400000" algn="bl" rotWithShape="0">
              <a:srgbClr val="0F172A">
                <a:alpha val="10000"/>
              </a:srgbClr>
            </a:outerShdw>
          </a:effectLst>
        </p:spPr>
      </p:sp>
      <p:sp>
        <p:nvSpPr>
          <p:cNvPr id="35" name="Shape 28"/>
          <p:cNvSpPr/>
          <p:nvPr/>
        </p:nvSpPr>
        <p:spPr>
          <a:xfrm>
            <a:off x="6675120" y="5394960"/>
            <a:ext cx="566928" cy="566928"/>
          </a:xfrm>
          <a:prstGeom prst="ellipse">
            <a:avLst/>
          </a:prstGeom>
          <a:solidFill>
            <a:srgbClr val="E0FBFF"/>
          </a:solidFill>
          <a:ln/>
        </p:spPr>
      </p:sp>
      <p:pic>
        <p:nvPicPr>
          <p:cNvPr id="36" name="Image 5" descr="/home/claude/pptx/assets/flag_navy.png"/>
          <p:cNvPicPr>
            <a:picLocks noChangeAspect="1"/>
          </p:cNvPicPr>
          <p:nvPr/>
        </p:nvPicPr>
        <p:blipFill>
          <a:blip r:embed="rId8"/>
          <a:stretch>
            <a:fillRect/>
          </a:stretch>
        </p:blipFill>
        <p:spPr>
          <a:xfrm>
            <a:off x="6811183" y="5531023"/>
            <a:ext cx="294803" cy="294803"/>
          </a:xfrm>
          <a:prstGeom prst="rect">
            <a:avLst/>
          </a:prstGeom>
        </p:spPr>
      </p:pic>
      <p:sp>
        <p:nvSpPr>
          <p:cNvPr id="37" name="Text 29"/>
          <p:cNvSpPr/>
          <p:nvPr/>
        </p:nvSpPr>
        <p:spPr>
          <a:xfrm>
            <a:off x="6675120" y="5129784"/>
            <a:ext cx="548640" cy="256032"/>
          </a:xfrm>
          <a:prstGeom prst="rect">
            <a:avLst/>
          </a:prstGeom>
          <a:noFill/>
          <a:ln/>
        </p:spPr>
        <p:txBody>
          <a:bodyPr wrap="square" lIns="0" tIns="0" rIns="0" bIns="0" rtlCol="0" anchor="ctr"/>
          <a:lstStyle/>
          <a:p>
            <a:pPr marL="0" indent="0" algn="ctr">
              <a:buNone/>
            </a:pPr>
            <a:r>
              <a:rPr lang="en-US" sz="1100" b="1" dirty="0">
                <a:solidFill>
                  <a:srgbClr val="64748B"/>
                </a:solidFill>
                <a:latin typeface="Calibri" pitchFamily="34" charset="0"/>
                <a:ea typeface="Calibri" pitchFamily="34" charset="-122"/>
                <a:cs typeface="Calibri" pitchFamily="34" charset="-120"/>
              </a:rPr>
              <a:t>06</a:t>
            </a:r>
            <a:endParaRPr lang="en-US" sz="1100" dirty="0"/>
          </a:p>
        </p:txBody>
      </p:sp>
      <p:sp>
        <p:nvSpPr>
          <p:cNvPr id="38" name="Text 30"/>
          <p:cNvSpPr/>
          <p:nvPr/>
        </p:nvSpPr>
        <p:spPr>
          <a:xfrm>
            <a:off x="7406640" y="5312664"/>
            <a:ext cx="4160520" cy="548640"/>
          </a:xfrm>
          <a:prstGeom prst="rect">
            <a:avLst/>
          </a:prstGeom>
          <a:noFill/>
          <a:ln/>
        </p:spPr>
        <p:txBody>
          <a:bodyPr wrap="square" lIns="0" tIns="0" rIns="0" bIns="0" rtlCol="0" anchor="t"/>
          <a:lstStyle/>
          <a:p>
            <a:pPr marL="0" indent="0">
              <a:buNone/>
            </a:pPr>
            <a:r>
              <a:rPr lang="en-US" sz="1450" b="1" dirty="0">
                <a:solidFill>
                  <a:srgbClr val="1E1B4B"/>
                </a:solidFill>
                <a:latin typeface="Calibri" pitchFamily="34" charset="0"/>
                <a:ea typeface="Calibri" pitchFamily="34" charset="-122"/>
                <a:cs typeface="Calibri" pitchFamily="34" charset="-120"/>
              </a:rPr>
              <a:t>Hasil, Analisis &amp; Kesimpulan</a:t>
            </a:r>
            <a:endParaRPr lang="en-US" sz="1450" dirty="0"/>
          </a:p>
        </p:txBody>
      </p:sp>
      <p:sp>
        <p:nvSpPr>
          <p:cNvPr id="39" name="Text 31"/>
          <p:cNvSpPr/>
          <p:nvPr/>
        </p:nvSpPr>
        <p:spPr>
          <a:xfrm>
            <a:off x="7406640" y="5861304"/>
            <a:ext cx="4160520" cy="640080"/>
          </a:xfrm>
          <a:prstGeom prst="rect">
            <a:avLst/>
          </a:prstGeom>
          <a:noFill/>
          <a:ln/>
        </p:spPr>
        <p:txBody>
          <a:bodyPr wrap="square" lIns="0" tIns="0" rIns="0" bIns="0" rtlCol="0" anchor="t"/>
          <a:lstStyle/>
          <a:p>
            <a:pPr marL="0" indent="0">
              <a:lnSpc>
                <a:spcPct val="115000"/>
              </a:lnSpc>
              <a:buNone/>
            </a:pPr>
            <a:r>
              <a:rPr lang="en-US" sz="1150" dirty="0">
                <a:solidFill>
                  <a:srgbClr val="64748B"/>
                </a:solidFill>
                <a:latin typeface="Calibri" pitchFamily="34" charset="0"/>
                <a:ea typeface="Calibri" pitchFamily="34" charset="-122"/>
                <a:cs typeface="Calibri" pitchFamily="34" charset="-120"/>
              </a:rPr>
              <a:t>Akurasi model serta arah pengembangan selanjutnya</a:t>
            </a:r>
            <a:endParaRPr lang="en-US" sz="1150" dirty="0"/>
          </a:p>
        </p:txBody>
      </p:sp>
      <p:sp>
        <p:nvSpPr>
          <p:cNvPr id="40" name="Text 32"/>
          <p:cNvSpPr/>
          <p:nvPr/>
        </p:nvSpPr>
        <p:spPr>
          <a:xfrm>
            <a:off x="11338560" y="640080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822960" y="566928"/>
            <a:ext cx="5486400" cy="320040"/>
          </a:xfrm>
          <a:prstGeom prst="rect">
            <a:avLst/>
          </a:prstGeom>
          <a:noFill/>
          <a:ln/>
        </p:spPr>
        <p:txBody>
          <a:bodyPr wrap="square" lIns="0" tIns="0" rIns="0" bIns="0" rtlCol="0" anchor="ctr"/>
          <a:lstStyle/>
          <a:p>
            <a:pPr marL="0" indent="0">
              <a:buNone/>
            </a:pPr>
            <a:r>
              <a:rPr lang="en-US" sz="1250" b="1" kern="0" spc="200" dirty="0">
                <a:solidFill>
                  <a:srgbClr val="312E81"/>
                </a:solidFill>
                <a:latin typeface="Calibri" pitchFamily="34" charset="0"/>
                <a:ea typeface="Calibri" pitchFamily="34" charset="-122"/>
                <a:cs typeface="Calibri" pitchFamily="34" charset="-120"/>
              </a:rPr>
              <a:t>BAB I . PENDAHULUAN</a:t>
            </a:r>
            <a:endParaRPr lang="en-US" sz="1250" dirty="0"/>
          </a:p>
        </p:txBody>
      </p:sp>
      <p:sp>
        <p:nvSpPr>
          <p:cNvPr id="3" name="Text 1"/>
          <p:cNvSpPr/>
          <p:nvPr/>
        </p:nvSpPr>
        <p:spPr>
          <a:xfrm>
            <a:off x="822960" y="914400"/>
            <a:ext cx="9144000" cy="822960"/>
          </a:xfrm>
          <a:prstGeom prst="rect">
            <a:avLst/>
          </a:prstGeom>
          <a:noFill/>
          <a:ln/>
        </p:spPr>
        <p:txBody>
          <a:bodyPr wrap="square" lIns="0" tIns="0" rIns="0" bIns="0" rtlCol="0" anchor="t"/>
          <a:lstStyle/>
          <a:p>
            <a:pPr marL="0" indent="0">
              <a:buNone/>
            </a:pPr>
            <a:r>
              <a:rPr lang="en-US" sz="3000" b="1" dirty="0">
                <a:solidFill>
                  <a:srgbClr val="1E1B4B"/>
                </a:solidFill>
                <a:latin typeface="Cambria" pitchFamily="34" charset="0"/>
                <a:ea typeface="Cambria" pitchFamily="34" charset="-122"/>
                <a:cs typeface="Cambria" pitchFamily="34" charset="-120"/>
              </a:rPr>
              <a:t>Latar Belakang Masalah</a:t>
            </a:r>
            <a:endParaRPr lang="en-US" sz="3000" dirty="0"/>
          </a:p>
        </p:txBody>
      </p:sp>
      <p:sp>
        <p:nvSpPr>
          <p:cNvPr id="4" name="Text 2"/>
          <p:cNvSpPr/>
          <p:nvPr/>
        </p:nvSpPr>
        <p:spPr>
          <a:xfrm>
            <a:off x="822960" y="1417320"/>
            <a:ext cx="5989320" cy="1371600"/>
          </a:xfrm>
          <a:prstGeom prst="rect">
            <a:avLst/>
          </a:prstGeom>
          <a:noFill/>
          <a:ln/>
        </p:spPr>
        <p:txBody>
          <a:bodyPr wrap="square" lIns="0" tIns="0" rIns="0" bIns="0" rtlCol="0" anchor="t"/>
          <a:lstStyle/>
          <a:p>
            <a:pPr marL="0" indent="0">
              <a:lnSpc>
                <a:spcPct val="125000"/>
              </a:lnSpc>
              <a:buNone/>
            </a:pPr>
            <a:r>
              <a:rPr lang="en-US" sz="1400" dirty="0">
                <a:solidFill>
                  <a:srgbClr val="0F172A"/>
                </a:solidFill>
                <a:latin typeface="Calibri" pitchFamily="34" charset="0"/>
                <a:ea typeface="Calibri" pitchFamily="34" charset="-122"/>
                <a:cs typeface="Calibri" pitchFamily="34" charset="-120"/>
              </a:rPr>
              <a:t>Kebutuhan media penyimpanan yang cepat dan andal terus meningkat, namun mayoritas pengguna masih memilih SSD hanya berdasarkan kapasitas dan harga termurah, tanpa mempertimbangkan kompatibilitas slot maupun kesesuaian dengan intensitas pemakaian.</a:t>
            </a:r>
            <a:endParaRPr lang="en-US" sz="1400" dirty="0"/>
          </a:p>
        </p:txBody>
      </p:sp>
      <p:sp>
        <p:nvSpPr>
          <p:cNvPr id="5" name="Text 3"/>
          <p:cNvSpPr/>
          <p:nvPr/>
        </p:nvSpPr>
        <p:spPr>
          <a:xfrm>
            <a:off x="822960" y="2880360"/>
            <a:ext cx="5989320" cy="2377440"/>
          </a:xfrm>
          <a:prstGeom prst="rect">
            <a:avLst/>
          </a:prstGeom>
          <a:noFill/>
          <a:ln/>
        </p:spPr>
        <p:txBody>
          <a:bodyPr wrap="square" lIns="0" tIns="0" rIns="0" bIns="0" rtlCol="0" anchor="t"/>
          <a:lstStyle/>
          <a:p>
            <a:pPr marL="342900" indent="-342900">
              <a:lnSpc>
                <a:spcPct val="130000"/>
              </a:lnSpc>
              <a:spcAft>
                <a:spcPts val="1000"/>
              </a:spcAft>
              <a:buSzPct val="100000"/>
              <a:buChar char="•"/>
            </a:pPr>
            <a:r>
              <a:rPr lang="en-US" sz="1300" dirty="0">
                <a:solidFill>
                  <a:srgbClr val="0F172A"/>
                </a:solidFill>
                <a:latin typeface="Calibri" pitchFamily="34" charset="0"/>
                <a:ea typeface="Calibri" pitchFamily="34" charset="-122"/>
                <a:cs typeface="Calibri" pitchFamily="34" charset="-120"/>
              </a:rPr>
              <a:t>SSD SATA dibatasi bus 6 Gbps, sedangkan SSD NVMe berjalan di atas PCIe dengan IOPS jauh lebih tinggi.</a:t>
            </a:r>
            <a:endParaRPr lang="en-US" sz="1300" dirty="0"/>
          </a:p>
          <a:p>
            <a:pPr marL="342900" indent="-342900">
              <a:lnSpc>
                <a:spcPct val="130000"/>
              </a:lnSpc>
              <a:spcAft>
                <a:spcPts val="1000"/>
              </a:spcAft>
              <a:buSzPct val="100000"/>
              <a:buChar char="•"/>
            </a:pPr>
            <a:r>
              <a:rPr lang="en-US" sz="1300" dirty="0">
                <a:solidFill>
                  <a:srgbClr val="0F172A"/>
                </a:solidFill>
                <a:latin typeface="Calibri" pitchFamily="34" charset="0"/>
                <a:ea typeface="Calibri" pitchFamily="34" charset="-122"/>
                <a:cs typeface="Calibri" pitchFamily="34" charset="-120"/>
              </a:rPr>
              <a:t>Pemilihan yang asal-asalan berisiko boros biaya (spek berlebih) atau performa kurang optimal.</a:t>
            </a:r>
            <a:endParaRPr lang="en-US" sz="1300" dirty="0"/>
          </a:p>
          <a:p>
            <a:pPr marL="342900" indent="-342900">
              <a:lnSpc>
                <a:spcPct val="130000"/>
              </a:lnSpc>
              <a:spcAft>
                <a:spcPts val="1000"/>
              </a:spcAft>
              <a:buSzPct val="100000"/>
              <a:buChar char="•"/>
            </a:pPr>
            <a:r>
              <a:rPr lang="en-US" sz="1300" dirty="0">
                <a:solidFill>
                  <a:srgbClr val="0F172A"/>
                </a:solidFill>
                <a:latin typeface="Calibri" pitchFamily="34" charset="0"/>
                <a:ea typeface="Calibri" pitchFamily="34" charset="-122"/>
                <a:cs typeface="Calibri" pitchFamily="34" charset="-120"/>
              </a:rPr>
              <a:t>Pendekatan JST mampu belajar dari data dan menggeneralisasi, berbeda dari aturan if-else statis.</a:t>
            </a:r>
            <a:endParaRPr lang="en-US" sz="1300" dirty="0"/>
          </a:p>
        </p:txBody>
      </p:sp>
      <p:sp>
        <p:nvSpPr>
          <p:cNvPr id="6" name="Shape 4"/>
          <p:cNvSpPr/>
          <p:nvPr/>
        </p:nvSpPr>
        <p:spPr>
          <a:xfrm>
            <a:off x="7178040" y="1417320"/>
            <a:ext cx="4160520" cy="1481328"/>
          </a:xfrm>
          <a:prstGeom prst="roundRect">
            <a:avLst>
              <a:gd name="adj" fmla="val 5556"/>
            </a:avLst>
          </a:prstGeom>
          <a:solidFill>
            <a:srgbClr val="1E1B4B"/>
          </a:solidFill>
          <a:ln/>
          <a:effectLst>
            <a:outerShdw blurRad="101600" dist="25400" dir="5400000" algn="bl" rotWithShape="0">
              <a:srgbClr val="0F172A">
                <a:alpha val="10000"/>
              </a:srgbClr>
            </a:outerShdw>
          </a:effectLst>
        </p:spPr>
      </p:sp>
      <p:sp>
        <p:nvSpPr>
          <p:cNvPr id="7" name="Text 5"/>
          <p:cNvSpPr/>
          <p:nvPr/>
        </p:nvSpPr>
        <p:spPr>
          <a:xfrm>
            <a:off x="7452360" y="1563624"/>
            <a:ext cx="3611880" cy="457200"/>
          </a:xfrm>
          <a:prstGeom prst="rect">
            <a:avLst/>
          </a:prstGeom>
          <a:noFill/>
          <a:ln/>
        </p:spPr>
        <p:txBody>
          <a:bodyPr wrap="square" lIns="0" tIns="0" rIns="0" bIns="0" rtlCol="0" anchor="ctr"/>
          <a:lstStyle/>
          <a:p>
            <a:pPr marL="0" indent="0">
              <a:buNone/>
            </a:pPr>
            <a:r>
              <a:rPr lang="en-US" sz="2400" b="1" dirty="0">
                <a:solidFill>
                  <a:srgbClr val="22D3EE"/>
                </a:solidFill>
                <a:latin typeface="Cambria" pitchFamily="34" charset="0"/>
                <a:ea typeface="Cambria" pitchFamily="34" charset="-122"/>
                <a:cs typeface="Cambria" pitchFamily="34" charset="-120"/>
              </a:rPr>
              <a:t>USD 266,68 M</a:t>
            </a:r>
            <a:endParaRPr lang="en-US" sz="2400" dirty="0"/>
          </a:p>
        </p:txBody>
      </p:sp>
      <p:sp>
        <p:nvSpPr>
          <p:cNvPr id="8" name="Text 6"/>
          <p:cNvSpPr/>
          <p:nvPr/>
        </p:nvSpPr>
        <p:spPr>
          <a:xfrm>
            <a:off x="7452360" y="2039112"/>
            <a:ext cx="3611880" cy="502920"/>
          </a:xfrm>
          <a:prstGeom prst="rect">
            <a:avLst/>
          </a:prstGeom>
          <a:noFill/>
          <a:ln/>
        </p:spPr>
        <p:txBody>
          <a:bodyPr wrap="square" lIns="0" tIns="0" rIns="0" bIns="0" rtlCol="0" anchor="ctr"/>
          <a:lstStyle/>
          <a:p>
            <a:pPr marL="0" indent="0">
              <a:lnSpc>
                <a:spcPct val="110000"/>
              </a:lnSpc>
              <a:buNone/>
            </a:pPr>
            <a:r>
              <a:rPr lang="en-US" sz="1100" dirty="0">
                <a:solidFill>
                  <a:srgbClr val="F1F5F9"/>
                </a:solidFill>
                <a:latin typeface="Calibri" pitchFamily="34" charset="0"/>
                <a:ea typeface="Calibri" pitchFamily="34" charset="-122"/>
                <a:cs typeface="Calibri" pitchFamily="34" charset="-120"/>
              </a:rPr>
              <a:t>Proyeksi pasar SSD global pada 2035 (CAGR 18,52%)</a:t>
            </a:r>
            <a:endParaRPr lang="en-US" sz="1100" dirty="0"/>
          </a:p>
        </p:txBody>
      </p:sp>
      <p:sp>
        <p:nvSpPr>
          <p:cNvPr id="9" name="Text 7"/>
          <p:cNvSpPr/>
          <p:nvPr/>
        </p:nvSpPr>
        <p:spPr>
          <a:xfrm>
            <a:off x="7452360" y="2606040"/>
            <a:ext cx="3611880" cy="228600"/>
          </a:xfrm>
          <a:prstGeom prst="rect">
            <a:avLst/>
          </a:prstGeom>
          <a:noFill/>
          <a:ln/>
        </p:spPr>
        <p:txBody>
          <a:bodyPr wrap="square" lIns="0" tIns="0" rIns="0" bIns="0"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Precedence Research, 2026</a:t>
            </a:r>
            <a:endParaRPr lang="en-US" sz="900" dirty="0"/>
          </a:p>
        </p:txBody>
      </p:sp>
      <p:sp>
        <p:nvSpPr>
          <p:cNvPr id="10" name="Shape 8"/>
          <p:cNvSpPr/>
          <p:nvPr/>
        </p:nvSpPr>
        <p:spPr>
          <a:xfrm>
            <a:off x="7178040" y="3081528"/>
            <a:ext cx="4160520" cy="1481328"/>
          </a:xfrm>
          <a:prstGeom prst="roundRect">
            <a:avLst>
              <a:gd name="adj" fmla="val 5556"/>
            </a:avLst>
          </a:prstGeom>
          <a:solidFill>
            <a:srgbClr val="1E1B4B"/>
          </a:solidFill>
          <a:ln/>
          <a:effectLst>
            <a:outerShdw blurRad="101600" dist="25400" dir="5400000" algn="bl" rotWithShape="0">
              <a:srgbClr val="0F172A">
                <a:alpha val="10000"/>
              </a:srgbClr>
            </a:outerShdw>
          </a:effectLst>
        </p:spPr>
      </p:sp>
      <p:sp>
        <p:nvSpPr>
          <p:cNvPr id="11" name="Text 9"/>
          <p:cNvSpPr/>
          <p:nvPr/>
        </p:nvSpPr>
        <p:spPr>
          <a:xfrm>
            <a:off x="7452360" y="3227832"/>
            <a:ext cx="3611880" cy="457200"/>
          </a:xfrm>
          <a:prstGeom prst="rect">
            <a:avLst/>
          </a:prstGeom>
          <a:noFill/>
          <a:ln/>
        </p:spPr>
        <p:txBody>
          <a:bodyPr wrap="square" lIns="0" tIns="0" rIns="0" bIns="0" rtlCol="0" anchor="ctr"/>
          <a:lstStyle/>
          <a:p>
            <a:pPr marL="0" indent="0">
              <a:buNone/>
            </a:pPr>
            <a:r>
              <a:rPr lang="en-US" sz="2400" b="1" dirty="0">
                <a:solidFill>
                  <a:srgbClr val="22D3EE"/>
                </a:solidFill>
                <a:latin typeface="Cambria" pitchFamily="34" charset="0"/>
                <a:ea typeface="Cambria" pitchFamily="34" charset="-122"/>
                <a:cs typeface="Cambria" pitchFamily="34" charset="-120"/>
              </a:rPr>
              <a:t>±1.000.000 IOPS</a:t>
            </a:r>
            <a:endParaRPr lang="en-US" sz="2400" dirty="0"/>
          </a:p>
        </p:txBody>
      </p:sp>
      <p:sp>
        <p:nvSpPr>
          <p:cNvPr id="12" name="Text 10"/>
          <p:cNvSpPr/>
          <p:nvPr/>
        </p:nvSpPr>
        <p:spPr>
          <a:xfrm>
            <a:off x="7452360" y="3703320"/>
            <a:ext cx="3611880" cy="502920"/>
          </a:xfrm>
          <a:prstGeom prst="rect">
            <a:avLst/>
          </a:prstGeom>
          <a:noFill/>
          <a:ln/>
        </p:spPr>
        <p:txBody>
          <a:bodyPr wrap="square" lIns="0" tIns="0" rIns="0" bIns="0" rtlCol="0" anchor="ctr"/>
          <a:lstStyle/>
          <a:p>
            <a:pPr marL="0" indent="0">
              <a:lnSpc>
                <a:spcPct val="110000"/>
              </a:lnSpc>
              <a:buNone/>
            </a:pPr>
            <a:r>
              <a:rPr lang="en-US" sz="1100" dirty="0">
                <a:solidFill>
                  <a:srgbClr val="F1F5F9"/>
                </a:solidFill>
                <a:latin typeface="Calibri" pitchFamily="34" charset="0"/>
                <a:ea typeface="Calibri" pitchFamily="34" charset="-122"/>
                <a:cs typeface="Calibri" pitchFamily="34" charset="-120"/>
              </a:rPr>
              <a:t>Kapasitas SSD NVMe pada kondisi pengujian tertentu</a:t>
            </a:r>
            <a:endParaRPr lang="en-US" sz="1100" dirty="0"/>
          </a:p>
        </p:txBody>
      </p:sp>
      <p:sp>
        <p:nvSpPr>
          <p:cNvPr id="13" name="Text 11"/>
          <p:cNvSpPr/>
          <p:nvPr/>
        </p:nvSpPr>
        <p:spPr>
          <a:xfrm>
            <a:off x="7452360" y="4270248"/>
            <a:ext cx="3611880" cy="228600"/>
          </a:xfrm>
          <a:prstGeom prst="rect">
            <a:avLst/>
          </a:prstGeom>
          <a:noFill/>
          <a:ln/>
        </p:spPr>
        <p:txBody>
          <a:bodyPr wrap="square" lIns="0" tIns="0" rIns="0" bIns="0"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1gbits, 2026</a:t>
            </a:r>
            <a:endParaRPr lang="en-US" sz="900" dirty="0"/>
          </a:p>
        </p:txBody>
      </p:sp>
      <p:sp>
        <p:nvSpPr>
          <p:cNvPr id="14" name="Shape 12"/>
          <p:cNvSpPr/>
          <p:nvPr/>
        </p:nvSpPr>
        <p:spPr>
          <a:xfrm>
            <a:off x="7178040" y="4745736"/>
            <a:ext cx="4160520" cy="1481328"/>
          </a:xfrm>
          <a:prstGeom prst="roundRect">
            <a:avLst>
              <a:gd name="adj" fmla="val 5556"/>
            </a:avLst>
          </a:prstGeom>
          <a:solidFill>
            <a:srgbClr val="1E1B4B"/>
          </a:solidFill>
          <a:ln/>
          <a:effectLst>
            <a:outerShdw blurRad="101600" dist="25400" dir="5400000" algn="bl" rotWithShape="0">
              <a:srgbClr val="0F172A">
                <a:alpha val="10000"/>
              </a:srgbClr>
            </a:outerShdw>
          </a:effectLst>
        </p:spPr>
      </p:sp>
      <p:sp>
        <p:nvSpPr>
          <p:cNvPr id="15" name="Text 13"/>
          <p:cNvSpPr/>
          <p:nvPr/>
        </p:nvSpPr>
        <p:spPr>
          <a:xfrm>
            <a:off x="7452360" y="4892040"/>
            <a:ext cx="3611880" cy="457200"/>
          </a:xfrm>
          <a:prstGeom prst="rect">
            <a:avLst/>
          </a:prstGeom>
          <a:noFill/>
          <a:ln/>
        </p:spPr>
        <p:txBody>
          <a:bodyPr wrap="square" lIns="0" tIns="0" rIns="0" bIns="0" rtlCol="0" anchor="ctr"/>
          <a:lstStyle/>
          <a:p>
            <a:pPr marL="0" indent="0">
              <a:buNone/>
            </a:pPr>
            <a:r>
              <a:rPr lang="en-US" sz="2400" b="1" dirty="0">
                <a:solidFill>
                  <a:srgbClr val="22D3EE"/>
                </a:solidFill>
                <a:latin typeface="Cambria" pitchFamily="34" charset="0"/>
                <a:ea typeface="Cambria" pitchFamily="34" charset="-122"/>
                <a:cs typeface="Cambria" pitchFamily="34" charset="-120"/>
              </a:rPr>
              <a:t>5 µs</a:t>
            </a:r>
            <a:endParaRPr lang="en-US" sz="2400" dirty="0"/>
          </a:p>
        </p:txBody>
      </p:sp>
      <p:sp>
        <p:nvSpPr>
          <p:cNvPr id="16" name="Text 14"/>
          <p:cNvSpPr/>
          <p:nvPr/>
        </p:nvSpPr>
        <p:spPr>
          <a:xfrm>
            <a:off x="7452360" y="5367528"/>
            <a:ext cx="3611880" cy="502920"/>
          </a:xfrm>
          <a:prstGeom prst="rect">
            <a:avLst/>
          </a:prstGeom>
          <a:noFill/>
          <a:ln/>
        </p:spPr>
        <p:txBody>
          <a:bodyPr wrap="square" lIns="0" tIns="0" rIns="0" bIns="0" rtlCol="0" anchor="ctr"/>
          <a:lstStyle/>
          <a:p>
            <a:pPr marL="0" indent="0">
              <a:lnSpc>
                <a:spcPct val="110000"/>
              </a:lnSpc>
              <a:buNone/>
            </a:pPr>
            <a:r>
              <a:rPr lang="en-US" sz="1100" dirty="0">
                <a:solidFill>
                  <a:srgbClr val="F1F5F9"/>
                </a:solidFill>
                <a:latin typeface="Calibri" pitchFamily="34" charset="0"/>
                <a:ea typeface="Calibri" pitchFamily="34" charset="-122"/>
                <a:cs typeface="Calibri" pitchFamily="34" charset="-120"/>
              </a:rPr>
              <a:t>Latensi SSD NVMe, jauh lebih rendah dari SATA (36 µs)</a:t>
            </a:r>
            <a:endParaRPr lang="en-US" sz="1100" dirty="0"/>
          </a:p>
        </p:txBody>
      </p:sp>
      <p:sp>
        <p:nvSpPr>
          <p:cNvPr id="17" name="Text 15"/>
          <p:cNvSpPr/>
          <p:nvPr/>
        </p:nvSpPr>
        <p:spPr>
          <a:xfrm>
            <a:off x="7452360" y="5934456"/>
            <a:ext cx="3611880" cy="228600"/>
          </a:xfrm>
          <a:prstGeom prst="rect">
            <a:avLst/>
          </a:prstGeom>
          <a:noFill/>
          <a:ln/>
        </p:spPr>
        <p:txBody>
          <a:bodyPr wrap="square" lIns="0" tIns="0" rIns="0" bIns="0"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Atlantic.net, 2026</a:t>
            </a:r>
            <a:endParaRPr lang="en-US" sz="900" dirty="0"/>
          </a:p>
        </p:txBody>
      </p:sp>
      <p:sp>
        <p:nvSpPr>
          <p:cNvPr id="18" name="Text 16"/>
          <p:cNvSpPr/>
          <p:nvPr/>
        </p:nvSpPr>
        <p:spPr>
          <a:xfrm>
            <a:off x="11338560" y="640080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822960" y="566928"/>
            <a:ext cx="5486400" cy="320040"/>
          </a:xfrm>
          <a:prstGeom prst="rect">
            <a:avLst/>
          </a:prstGeom>
          <a:noFill/>
          <a:ln/>
        </p:spPr>
        <p:txBody>
          <a:bodyPr wrap="square" lIns="0" tIns="0" rIns="0" bIns="0" rtlCol="0" anchor="ctr"/>
          <a:lstStyle/>
          <a:p>
            <a:pPr marL="0" indent="0">
              <a:buNone/>
            </a:pPr>
            <a:r>
              <a:rPr lang="en-US" sz="1250" b="1" kern="0" spc="200" dirty="0">
                <a:solidFill>
                  <a:srgbClr val="312E81"/>
                </a:solidFill>
                <a:latin typeface="Calibri" pitchFamily="34" charset="0"/>
                <a:ea typeface="Calibri" pitchFamily="34" charset="-122"/>
                <a:cs typeface="Calibri" pitchFamily="34" charset="-120"/>
              </a:rPr>
              <a:t>BAB I . PENDAHULUAN</a:t>
            </a:r>
            <a:endParaRPr lang="en-US" sz="1250" dirty="0"/>
          </a:p>
        </p:txBody>
      </p:sp>
      <p:sp>
        <p:nvSpPr>
          <p:cNvPr id="3" name="Text 1"/>
          <p:cNvSpPr/>
          <p:nvPr/>
        </p:nvSpPr>
        <p:spPr>
          <a:xfrm>
            <a:off x="822960" y="914400"/>
            <a:ext cx="10515600" cy="822960"/>
          </a:xfrm>
          <a:prstGeom prst="rect">
            <a:avLst/>
          </a:prstGeom>
          <a:noFill/>
          <a:ln/>
        </p:spPr>
        <p:txBody>
          <a:bodyPr wrap="square" lIns="0" tIns="0" rIns="0" bIns="0" rtlCol="0" anchor="t"/>
          <a:lstStyle/>
          <a:p>
            <a:pPr marL="0" indent="0">
              <a:buNone/>
            </a:pPr>
            <a:r>
              <a:rPr lang="en-US" sz="3000" b="1" dirty="0">
                <a:solidFill>
                  <a:srgbClr val="1E1B4B"/>
                </a:solidFill>
                <a:latin typeface="Cambria" pitchFamily="34" charset="0"/>
                <a:ea typeface="Cambria" pitchFamily="34" charset="-122"/>
                <a:cs typeface="Cambria" pitchFamily="34" charset="-120"/>
              </a:rPr>
              <a:t>Rumusan Masalah dan Tujuan Penelitian</a:t>
            </a:r>
            <a:endParaRPr lang="en-US" sz="3000" dirty="0"/>
          </a:p>
        </p:txBody>
      </p:sp>
      <p:sp>
        <p:nvSpPr>
          <p:cNvPr id="4" name="Shape 2"/>
          <p:cNvSpPr/>
          <p:nvPr/>
        </p:nvSpPr>
        <p:spPr>
          <a:xfrm>
            <a:off x="822960" y="1554480"/>
            <a:ext cx="5349240" cy="4434840"/>
          </a:xfrm>
          <a:prstGeom prst="roundRect">
            <a:avLst>
              <a:gd name="adj" fmla="val 1856"/>
            </a:avLst>
          </a:prstGeom>
          <a:solidFill>
            <a:srgbClr val="FFFFFF"/>
          </a:solidFill>
          <a:ln/>
          <a:effectLst>
            <a:outerShdw blurRad="101600" dist="25400" dir="5400000" algn="bl" rotWithShape="0">
              <a:srgbClr val="0F172A">
                <a:alpha val="10000"/>
              </a:srgbClr>
            </a:outerShdw>
          </a:effectLst>
        </p:spPr>
      </p:sp>
      <p:sp>
        <p:nvSpPr>
          <p:cNvPr id="5" name="Shape 3"/>
          <p:cNvSpPr/>
          <p:nvPr/>
        </p:nvSpPr>
        <p:spPr>
          <a:xfrm>
            <a:off x="1097280" y="1810512"/>
            <a:ext cx="502920" cy="502920"/>
          </a:xfrm>
          <a:prstGeom prst="ellipse">
            <a:avLst/>
          </a:prstGeom>
          <a:solidFill>
            <a:srgbClr val="E0FBFF"/>
          </a:solidFill>
          <a:ln/>
        </p:spPr>
      </p:sp>
      <p:pic>
        <p:nvPicPr>
          <p:cNvPr id="6" name="Image 0" descr="/home/claude/pptx/assets/warning_navy.png"/>
          <p:cNvPicPr>
            <a:picLocks noChangeAspect="1"/>
          </p:cNvPicPr>
          <p:nvPr/>
        </p:nvPicPr>
        <p:blipFill>
          <a:blip r:embed="rId3"/>
          <a:stretch>
            <a:fillRect/>
          </a:stretch>
        </p:blipFill>
        <p:spPr>
          <a:xfrm>
            <a:off x="1217981" y="1931213"/>
            <a:ext cx="261518" cy="261518"/>
          </a:xfrm>
          <a:prstGeom prst="rect">
            <a:avLst/>
          </a:prstGeom>
        </p:spPr>
      </p:pic>
      <p:sp>
        <p:nvSpPr>
          <p:cNvPr id="7" name="Text 4"/>
          <p:cNvSpPr/>
          <p:nvPr/>
        </p:nvSpPr>
        <p:spPr>
          <a:xfrm>
            <a:off x="1755648" y="1874520"/>
            <a:ext cx="4206240" cy="365760"/>
          </a:xfrm>
          <a:prstGeom prst="rect">
            <a:avLst/>
          </a:prstGeom>
          <a:noFill/>
          <a:ln/>
        </p:spPr>
        <p:txBody>
          <a:bodyPr wrap="square" lIns="0" tIns="0" rIns="0" bIns="0" rtlCol="0" anchor="ctr"/>
          <a:lstStyle/>
          <a:p>
            <a:pPr marL="0" indent="0">
              <a:buNone/>
            </a:pPr>
            <a:r>
              <a:rPr lang="en-US" sz="1800" b="1" dirty="0">
                <a:solidFill>
                  <a:srgbClr val="1E1B4B"/>
                </a:solidFill>
                <a:latin typeface="Cambria" pitchFamily="34" charset="0"/>
                <a:ea typeface="Cambria" pitchFamily="34" charset="-122"/>
                <a:cs typeface="Cambria" pitchFamily="34" charset="-120"/>
              </a:rPr>
              <a:t>Rumusan Masalah</a:t>
            </a:r>
            <a:endParaRPr lang="en-US" sz="1800" dirty="0"/>
          </a:p>
        </p:txBody>
      </p:sp>
      <p:sp>
        <p:nvSpPr>
          <p:cNvPr id="8" name="Text 5"/>
          <p:cNvSpPr/>
          <p:nvPr/>
        </p:nvSpPr>
        <p:spPr>
          <a:xfrm>
            <a:off x="1097280" y="2423160"/>
            <a:ext cx="4800600" cy="3383280"/>
          </a:xfrm>
          <a:prstGeom prst="rect">
            <a:avLst/>
          </a:prstGeom>
          <a:noFill/>
          <a:ln/>
        </p:spPr>
        <p:txBody>
          <a:bodyPr wrap="square" lIns="0" tIns="0" rIns="0" bIns="0" rtlCol="0" anchor="t"/>
          <a:lstStyle/>
          <a:p>
            <a:pPr marL="342900" indent="-342900">
              <a:lnSpc>
                <a:spcPct val="125000"/>
              </a:lnSpc>
              <a:spcAft>
                <a:spcPts val="1200"/>
              </a:spcAft>
              <a:buSzPct val="100000"/>
              <a:buFont typeface="+mj-lt"/>
              <a:buAutoNum type="arabicPeriod"/>
            </a:pPr>
            <a:r>
              <a:rPr lang="en-US" sz="1250" dirty="0">
                <a:solidFill>
                  <a:srgbClr val="0F172A"/>
                </a:solidFill>
                <a:latin typeface="Calibri" pitchFamily="34" charset="0"/>
                <a:ea typeface="Calibri" pitchFamily="34" charset="-122"/>
                <a:cs typeface="Calibri" pitchFamily="34" charset="-120"/>
              </a:rPr>
              <a:t>Bagaimana merancang Perceptron untuk mengklasifikasikan kompatibilitas SSD dan laptop?</a:t>
            </a:r>
            <a:endParaRPr lang="en-US" sz="1250" dirty="0"/>
          </a:p>
          <a:p>
            <a:pPr marL="342900" indent="-342900">
              <a:lnSpc>
                <a:spcPct val="125000"/>
              </a:lnSpc>
              <a:spcAft>
                <a:spcPts val="1200"/>
              </a:spcAft>
              <a:buSzPct val="100000"/>
              <a:buFont typeface="+mj-lt"/>
              <a:buAutoNum type="arabicPeriod"/>
            </a:pPr>
            <a:r>
              <a:rPr lang="en-US" sz="1250" dirty="0">
                <a:solidFill>
                  <a:srgbClr val="0F172A"/>
                </a:solidFill>
                <a:latin typeface="Calibri" pitchFamily="34" charset="0"/>
                <a:ea typeface="Calibri" pitchFamily="34" charset="-122"/>
                <a:cs typeface="Calibri" pitchFamily="34" charset="-120"/>
              </a:rPr>
              <a:t>Bagaimana merancang LVQ untuk merekomendasikan kategori SSD sesuai budget dan kebutuhan?</a:t>
            </a:r>
            <a:endParaRPr lang="en-US" sz="1250" dirty="0"/>
          </a:p>
          <a:p>
            <a:pPr marL="342900" indent="-342900">
              <a:lnSpc>
                <a:spcPct val="125000"/>
              </a:lnSpc>
              <a:spcAft>
                <a:spcPts val="1200"/>
              </a:spcAft>
              <a:buSzPct val="100000"/>
              <a:buFont typeface="+mj-lt"/>
              <a:buAutoNum type="arabicPeriod"/>
            </a:pPr>
            <a:r>
              <a:rPr lang="en-US" sz="1250" dirty="0">
                <a:solidFill>
                  <a:srgbClr val="0F172A"/>
                </a:solidFill>
                <a:latin typeface="Calibri" pitchFamily="34" charset="0"/>
                <a:ea typeface="Calibri" pitchFamily="34" charset="-122"/>
                <a:cs typeface="Calibri" pitchFamily="34" charset="-120"/>
              </a:rPr>
              <a:t>Bagaimana pengaruh learning rate dan epoch terhadap akurasi kedua model?</a:t>
            </a:r>
            <a:endParaRPr lang="en-US" sz="1250" dirty="0"/>
          </a:p>
          <a:p>
            <a:pPr marL="342900" indent="-342900">
              <a:lnSpc>
                <a:spcPct val="125000"/>
              </a:lnSpc>
              <a:spcAft>
                <a:spcPts val="1200"/>
              </a:spcAft>
              <a:buSzPct val="100000"/>
              <a:buFont typeface="+mj-lt"/>
              <a:buAutoNum type="arabicPeriod"/>
            </a:pPr>
            <a:r>
              <a:rPr lang="en-US" sz="1250" dirty="0">
                <a:solidFill>
                  <a:srgbClr val="0F172A"/>
                </a:solidFill>
                <a:latin typeface="Calibri" pitchFamily="34" charset="0"/>
                <a:ea typeface="Calibri" pitchFamily="34" charset="-122"/>
                <a:cs typeface="Calibri" pitchFamily="34" charset="-120"/>
              </a:rPr>
              <a:t>Bagaimana mengintegrasikan kedua model ke dalam satu aplikasi interaktif?</a:t>
            </a:r>
            <a:endParaRPr lang="en-US" sz="1250" dirty="0"/>
          </a:p>
        </p:txBody>
      </p:sp>
      <p:sp>
        <p:nvSpPr>
          <p:cNvPr id="9" name="Shape 6"/>
          <p:cNvSpPr/>
          <p:nvPr/>
        </p:nvSpPr>
        <p:spPr>
          <a:xfrm>
            <a:off x="6355080" y="1554480"/>
            <a:ext cx="4983480" cy="4434840"/>
          </a:xfrm>
          <a:prstGeom prst="roundRect">
            <a:avLst>
              <a:gd name="adj" fmla="val 1856"/>
            </a:avLst>
          </a:prstGeom>
          <a:solidFill>
            <a:srgbClr val="1E1B4B"/>
          </a:solidFill>
          <a:ln/>
          <a:effectLst>
            <a:outerShdw blurRad="101600" dist="25400" dir="5400000" algn="bl" rotWithShape="0">
              <a:srgbClr val="0F172A">
                <a:alpha val="10000"/>
              </a:srgbClr>
            </a:outerShdw>
          </a:effectLst>
        </p:spPr>
      </p:sp>
      <p:sp>
        <p:nvSpPr>
          <p:cNvPr id="10" name="Shape 7"/>
          <p:cNvSpPr/>
          <p:nvPr/>
        </p:nvSpPr>
        <p:spPr>
          <a:xfrm>
            <a:off x="6629400" y="1810512"/>
            <a:ext cx="502920" cy="502920"/>
          </a:xfrm>
          <a:prstGeom prst="ellipse">
            <a:avLst/>
          </a:prstGeom>
          <a:solidFill>
            <a:srgbClr val="22D3EE"/>
          </a:solidFill>
          <a:ln/>
        </p:spPr>
      </p:sp>
      <p:pic>
        <p:nvPicPr>
          <p:cNvPr id="11" name="Image 1" descr="/home/claude/pptx/assets/bullseye_navy.png"/>
          <p:cNvPicPr>
            <a:picLocks noChangeAspect="1"/>
          </p:cNvPicPr>
          <p:nvPr/>
        </p:nvPicPr>
        <p:blipFill>
          <a:blip r:embed="rId4"/>
          <a:stretch>
            <a:fillRect/>
          </a:stretch>
        </p:blipFill>
        <p:spPr>
          <a:xfrm>
            <a:off x="6750101" y="1931213"/>
            <a:ext cx="261518" cy="261518"/>
          </a:xfrm>
          <a:prstGeom prst="rect">
            <a:avLst/>
          </a:prstGeom>
        </p:spPr>
      </p:pic>
      <p:sp>
        <p:nvSpPr>
          <p:cNvPr id="12" name="Text 8"/>
          <p:cNvSpPr/>
          <p:nvPr/>
        </p:nvSpPr>
        <p:spPr>
          <a:xfrm>
            <a:off x="7287768" y="1874520"/>
            <a:ext cx="3931920" cy="365760"/>
          </a:xfrm>
          <a:prstGeom prst="rect">
            <a:avLst/>
          </a:prstGeom>
          <a:noFill/>
          <a:ln/>
        </p:spPr>
        <p:txBody>
          <a:bodyPr wrap="square" lIns="0" tIns="0" rIns="0" bIns="0" rtlCol="0" anchor="ctr"/>
          <a:lstStyle/>
          <a:p>
            <a:pPr marL="0" indent="0">
              <a:buNone/>
            </a:pPr>
            <a:r>
              <a:rPr lang="en-US" sz="1800" b="1" dirty="0">
                <a:solidFill>
                  <a:srgbClr val="F1F5F9"/>
                </a:solidFill>
                <a:latin typeface="Cambria" pitchFamily="34" charset="0"/>
                <a:ea typeface="Cambria" pitchFamily="34" charset="-122"/>
                <a:cs typeface="Cambria" pitchFamily="34" charset="-120"/>
              </a:rPr>
              <a:t>Tujuan Penelitian</a:t>
            </a:r>
            <a:endParaRPr lang="en-US" sz="1800" dirty="0"/>
          </a:p>
        </p:txBody>
      </p:sp>
      <p:sp>
        <p:nvSpPr>
          <p:cNvPr id="13" name="Text 9"/>
          <p:cNvSpPr/>
          <p:nvPr/>
        </p:nvSpPr>
        <p:spPr>
          <a:xfrm>
            <a:off x="6629400" y="2423160"/>
            <a:ext cx="4434840" cy="3383280"/>
          </a:xfrm>
          <a:prstGeom prst="rect">
            <a:avLst/>
          </a:prstGeom>
          <a:noFill/>
          <a:ln/>
        </p:spPr>
        <p:txBody>
          <a:bodyPr wrap="square" lIns="0" tIns="0" rIns="0" bIns="0" rtlCol="0" anchor="t"/>
          <a:lstStyle/>
          <a:p>
            <a:pPr marL="342900" indent="-342900">
              <a:lnSpc>
                <a:spcPct val="125000"/>
              </a:lnSpc>
              <a:spcAft>
                <a:spcPts val="1200"/>
              </a:spcAft>
              <a:buSzPct val="100000"/>
              <a:buChar char="•"/>
            </a:pPr>
            <a:r>
              <a:rPr lang="en-US" sz="1250" dirty="0">
                <a:solidFill>
                  <a:srgbClr val="E2E8F0"/>
                </a:solidFill>
                <a:latin typeface="Calibri" pitchFamily="34" charset="0"/>
                <a:ea typeface="Calibri" pitchFamily="34" charset="-122"/>
                <a:cs typeface="Calibri" pitchFamily="34" charset="-120"/>
              </a:rPr>
              <a:t>Membangun Perceptron from scratch untuk klasifikasi kompatibilitas SSD.</a:t>
            </a:r>
            <a:endParaRPr lang="en-US" sz="1250" dirty="0"/>
          </a:p>
          <a:p>
            <a:pPr marL="342900" indent="-342900">
              <a:lnSpc>
                <a:spcPct val="125000"/>
              </a:lnSpc>
              <a:spcAft>
                <a:spcPts val="1200"/>
              </a:spcAft>
              <a:buSzPct val="100000"/>
              <a:buChar char="•"/>
            </a:pPr>
            <a:r>
              <a:rPr lang="en-US" sz="1250" dirty="0">
                <a:solidFill>
                  <a:srgbClr val="E2E8F0"/>
                </a:solidFill>
                <a:latin typeface="Calibri" pitchFamily="34" charset="0"/>
                <a:ea typeface="Calibri" pitchFamily="34" charset="-122"/>
                <a:cs typeface="Calibri" pitchFamily="34" charset="-120"/>
              </a:rPr>
              <a:t>Membangun LVQ from scratch untuk rekomendasi kategori SSD.</a:t>
            </a:r>
            <a:endParaRPr lang="en-US" sz="1250" dirty="0"/>
          </a:p>
          <a:p>
            <a:pPr marL="342900" indent="-342900">
              <a:lnSpc>
                <a:spcPct val="125000"/>
              </a:lnSpc>
              <a:spcAft>
                <a:spcPts val="1200"/>
              </a:spcAft>
              <a:buSzPct val="100000"/>
              <a:buChar char="•"/>
            </a:pPr>
            <a:r>
              <a:rPr lang="en-US" sz="1250" dirty="0">
                <a:solidFill>
                  <a:srgbClr val="E2E8F0"/>
                </a:solidFill>
                <a:latin typeface="Calibri" pitchFamily="34" charset="0"/>
                <a:ea typeface="Calibri" pitchFamily="34" charset="-122"/>
                <a:cs typeface="Calibri" pitchFamily="34" charset="-120"/>
              </a:rPr>
              <a:t>Mengimplementasikan kedua model dalam aplikasi Streamlit yang interaktif.</a:t>
            </a:r>
            <a:endParaRPr lang="en-US" sz="1250" dirty="0"/>
          </a:p>
          <a:p>
            <a:pPr marL="342900" indent="-342900">
              <a:lnSpc>
                <a:spcPct val="125000"/>
              </a:lnSpc>
              <a:spcAft>
                <a:spcPts val="1200"/>
              </a:spcAft>
              <a:buSzPct val="100000"/>
              <a:buChar char="•"/>
            </a:pPr>
            <a:r>
              <a:rPr lang="en-US" sz="1250" dirty="0">
                <a:solidFill>
                  <a:srgbClr val="E2E8F0"/>
                </a:solidFill>
                <a:latin typeface="Calibri" pitchFamily="34" charset="0"/>
                <a:ea typeface="Calibri" pitchFamily="34" charset="-122"/>
                <a:cs typeface="Calibri" pitchFamily="34" charset="-120"/>
              </a:rPr>
              <a:t>Menganalisis pengaruh learning rate dan epoch terhadap konvergensi model.</a:t>
            </a:r>
            <a:endParaRPr lang="en-US" sz="1250" dirty="0"/>
          </a:p>
        </p:txBody>
      </p:sp>
      <p:sp>
        <p:nvSpPr>
          <p:cNvPr id="14" name="Text 10"/>
          <p:cNvSpPr/>
          <p:nvPr/>
        </p:nvSpPr>
        <p:spPr>
          <a:xfrm>
            <a:off x="11338560" y="640080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822960" y="566928"/>
            <a:ext cx="5486400" cy="320040"/>
          </a:xfrm>
          <a:prstGeom prst="rect">
            <a:avLst/>
          </a:prstGeom>
          <a:noFill/>
          <a:ln/>
        </p:spPr>
        <p:txBody>
          <a:bodyPr wrap="square" lIns="0" tIns="0" rIns="0" bIns="0" rtlCol="0" anchor="ctr"/>
          <a:lstStyle/>
          <a:p>
            <a:pPr marL="0" indent="0">
              <a:buNone/>
            </a:pPr>
            <a:r>
              <a:rPr lang="en-US" sz="1250" b="1" kern="0" spc="200" dirty="0">
                <a:solidFill>
                  <a:srgbClr val="312E81"/>
                </a:solidFill>
                <a:latin typeface="Calibri" pitchFamily="34" charset="0"/>
                <a:ea typeface="Calibri" pitchFamily="34" charset="-122"/>
                <a:cs typeface="Calibri" pitchFamily="34" charset="-120"/>
              </a:rPr>
              <a:t>BAB I . PENDAHULUAN</a:t>
            </a:r>
            <a:endParaRPr lang="en-US" sz="1250" dirty="0"/>
          </a:p>
        </p:txBody>
      </p:sp>
      <p:sp>
        <p:nvSpPr>
          <p:cNvPr id="3" name="Text 1"/>
          <p:cNvSpPr/>
          <p:nvPr/>
        </p:nvSpPr>
        <p:spPr>
          <a:xfrm>
            <a:off x="822960" y="914400"/>
            <a:ext cx="9144000" cy="822960"/>
          </a:xfrm>
          <a:prstGeom prst="rect">
            <a:avLst/>
          </a:prstGeom>
          <a:noFill/>
          <a:ln/>
        </p:spPr>
        <p:txBody>
          <a:bodyPr wrap="square" lIns="0" tIns="0" rIns="0" bIns="0" rtlCol="0" anchor="t"/>
          <a:lstStyle/>
          <a:p>
            <a:pPr marL="0" indent="0">
              <a:buNone/>
            </a:pPr>
            <a:r>
              <a:rPr lang="en-US" sz="3000" b="1" dirty="0">
                <a:solidFill>
                  <a:srgbClr val="1E1B4B"/>
                </a:solidFill>
                <a:latin typeface="Cambria" pitchFamily="34" charset="0"/>
                <a:ea typeface="Cambria" pitchFamily="34" charset="-122"/>
                <a:cs typeface="Cambria" pitchFamily="34" charset="-120"/>
              </a:rPr>
              <a:t>Manfaat Penelitian</a:t>
            </a:r>
            <a:endParaRPr lang="en-US" sz="3000" dirty="0"/>
          </a:p>
        </p:txBody>
      </p:sp>
      <p:sp>
        <p:nvSpPr>
          <p:cNvPr id="4" name="Shape 2"/>
          <p:cNvSpPr/>
          <p:nvPr/>
        </p:nvSpPr>
        <p:spPr>
          <a:xfrm>
            <a:off x="822960" y="1783080"/>
            <a:ext cx="3456432" cy="4160520"/>
          </a:xfrm>
          <a:prstGeom prst="roundRect">
            <a:avLst>
              <a:gd name="adj" fmla="val 2646"/>
            </a:avLst>
          </a:prstGeom>
          <a:solidFill>
            <a:srgbClr val="FFFFFF"/>
          </a:solidFill>
          <a:ln/>
          <a:effectLst>
            <a:outerShdw blurRad="101600" dist="25400" dir="5400000" algn="bl" rotWithShape="0">
              <a:srgbClr val="0F172A">
                <a:alpha val="10000"/>
              </a:srgbClr>
            </a:outerShdw>
          </a:effectLst>
        </p:spPr>
      </p:sp>
      <p:sp>
        <p:nvSpPr>
          <p:cNvPr id="5" name="Shape 3"/>
          <p:cNvSpPr/>
          <p:nvPr/>
        </p:nvSpPr>
        <p:spPr>
          <a:xfrm>
            <a:off x="2116836" y="2194560"/>
            <a:ext cx="868680" cy="868680"/>
          </a:xfrm>
          <a:prstGeom prst="ellipse">
            <a:avLst/>
          </a:prstGeom>
          <a:solidFill>
            <a:srgbClr val="E0FBFF"/>
          </a:solidFill>
          <a:ln/>
        </p:spPr>
      </p:sp>
      <p:pic>
        <p:nvPicPr>
          <p:cNvPr id="6" name="Image 0" descr="/home/claude/pptx/assets/laptop_navy.png"/>
          <p:cNvPicPr>
            <a:picLocks noChangeAspect="1"/>
          </p:cNvPicPr>
          <p:nvPr/>
        </p:nvPicPr>
        <p:blipFill>
          <a:blip r:embed="rId3"/>
          <a:stretch>
            <a:fillRect/>
          </a:stretch>
        </p:blipFill>
        <p:spPr>
          <a:xfrm>
            <a:off x="2325319" y="2403043"/>
            <a:ext cx="451714" cy="451714"/>
          </a:xfrm>
          <a:prstGeom prst="rect">
            <a:avLst/>
          </a:prstGeom>
        </p:spPr>
      </p:pic>
      <p:sp>
        <p:nvSpPr>
          <p:cNvPr id="7" name="Text 4"/>
          <p:cNvSpPr/>
          <p:nvPr/>
        </p:nvSpPr>
        <p:spPr>
          <a:xfrm>
            <a:off x="1051560" y="3291840"/>
            <a:ext cx="2999232" cy="640080"/>
          </a:xfrm>
          <a:prstGeom prst="rect">
            <a:avLst/>
          </a:prstGeom>
          <a:noFill/>
          <a:ln/>
        </p:spPr>
        <p:txBody>
          <a:bodyPr wrap="square" lIns="0" tIns="0" rIns="0" bIns="0" rtlCol="0" anchor="t"/>
          <a:lstStyle/>
          <a:p>
            <a:pPr marL="0" indent="0" algn="ctr">
              <a:buNone/>
            </a:pPr>
            <a:r>
              <a:rPr lang="en-US" sz="1650" b="1" dirty="0">
                <a:solidFill>
                  <a:srgbClr val="1E1B4B"/>
                </a:solidFill>
                <a:latin typeface="Cambria" pitchFamily="34" charset="0"/>
                <a:ea typeface="Cambria" pitchFamily="34" charset="-122"/>
                <a:cs typeface="Cambria" pitchFamily="34" charset="-120"/>
              </a:rPr>
              <a:t>Bagi Pengguna Umum</a:t>
            </a:r>
            <a:endParaRPr lang="en-US" sz="1650" dirty="0"/>
          </a:p>
        </p:txBody>
      </p:sp>
      <p:sp>
        <p:nvSpPr>
          <p:cNvPr id="8" name="Text 5"/>
          <p:cNvSpPr/>
          <p:nvPr/>
        </p:nvSpPr>
        <p:spPr>
          <a:xfrm>
            <a:off x="1143000" y="3977640"/>
            <a:ext cx="2816352" cy="1737360"/>
          </a:xfrm>
          <a:prstGeom prst="rect">
            <a:avLst/>
          </a:prstGeom>
          <a:noFill/>
          <a:ln/>
        </p:spPr>
        <p:txBody>
          <a:bodyPr wrap="square" lIns="0" tIns="0" rIns="0" bIns="0" rtlCol="0" anchor="t"/>
          <a:lstStyle/>
          <a:p>
            <a:pPr marL="0" indent="0" algn="ctr">
              <a:lnSpc>
                <a:spcPct val="125000"/>
              </a:lnSpc>
              <a:buNone/>
            </a:pPr>
            <a:r>
              <a:rPr lang="en-US" sz="1250" dirty="0">
                <a:solidFill>
                  <a:srgbClr val="64748B"/>
                </a:solidFill>
                <a:latin typeface="Calibri" pitchFamily="34" charset="0"/>
                <a:ea typeface="Calibri" pitchFamily="34" charset="-122"/>
                <a:cs typeface="Calibri" pitchFamily="34" charset="-120"/>
              </a:rPr>
              <a:t>Membantu memilih SSD yang sesuai kebutuhan dan budget tanpa perlu memahami detail teknis hardware secara mendalam.</a:t>
            </a:r>
            <a:endParaRPr lang="en-US" sz="1250" dirty="0"/>
          </a:p>
        </p:txBody>
      </p:sp>
      <p:sp>
        <p:nvSpPr>
          <p:cNvPr id="9" name="Shape 6"/>
          <p:cNvSpPr/>
          <p:nvPr/>
        </p:nvSpPr>
        <p:spPr>
          <a:xfrm>
            <a:off x="4526280" y="1783080"/>
            <a:ext cx="3456432" cy="4160520"/>
          </a:xfrm>
          <a:prstGeom prst="roundRect">
            <a:avLst>
              <a:gd name="adj" fmla="val 2646"/>
            </a:avLst>
          </a:prstGeom>
          <a:solidFill>
            <a:srgbClr val="FFFFFF"/>
          </a:solidFill>
          <a:ln/>
          <a:effectLst>
            <a:outerShdw blurRad="101600" dist="25400" dir="5400000" algn="bl" rotWithShape="0">
              <a:srgbClr val="0F172A">
                <a:alpha val="10000"/>
              </a:srgbClr>
            </a:outerShdw>
          </a:effectLst>
        </p:spPr>
      </p:sp>
      <p:sp>
        <p:nvSpPr>
          <p:cNvPr id="10" name="Shape 7"/>
          <p:cNvSpPr/>
          <p:nvPr/>
        </p:nvSpPr>
        <p:spPr>
          <a:xfrm>
            <a:off x="5820156" y="2194560"/>
            <a:ext cx="868680" cy="868680"/>
          </a:xfrm>
          <a:prstGeom prst="ellipse">
            <a:avLst/>
          </a:prstGeom>
          <a:solidFill>
            <a:srgbClr val="E0FBFF"/>
          </a:solidFill>
          <a:ln/>
        </p:spPr>
      </p:sp>
      <p:pic>
        <p:nvPicPr>
          <p:cNvPr id="11" name="Image 1" descr="/home/claude/pptx/assets/book_navy.png"/>
          <p:cNvPicPr>
            <a:picLocks noChangeAspect="1"/>
          </p:cNvPicPr>
          <p:nvPr/>
        </p:nvPicPr>
        <p:blipFill>
          <a:blip r:embed="rId4"/>
          <a:stretch>
            <a:fillRect/>
          </a:stretch>
        </p:blipFill>
        <p:spPr>
          <a:xfrm>
            <a:off x="6028639" y="2403043"/>
            <a:ext cx="451714" cy="451714"/>
          </a:xfrm>
          <a:prstGeom prst="rect">
            <a:avLst/>
          </a:prstGeom>
        </p:spPr>
      </p:pic>
      <p:sp>
        <p:nvSpPr>
          <p:cNvPr id="12" name="Text 8"/>
          <p:cNvSpPr/>
          <p:nvPr/>
        </p:nvSpPr>
        <p:spPr>
          <a:xfrm>
            <a:off x="4754880" y="3291840"/>
            <a:ext cx="2999232" cy="640080"/>
          </a:xfrm>
          <a:prstGeom prst="rect">
            <a:avLst/>
          </a:prstGeom>
          <a:noFill/>
          <a:ln/>
        </p:spPr>
        <p:txBody>
          <a:bodyPr wrap="square" lIns="0" tIns="0" rIns="0" bIns="0" rtlCol="0" anchor="t"/>
          <a:lstStyle/>
          <a:p>
            <a:pPr marL="0" indent="0" algn="ctr">
              <a:buNone/>
            </a:pPr>
            <a:r>
              <a:rPr lang="en-US" sz="1650" b="1" dirty="0">
                <a:solidFill>
                  <a:srgbClr val="1E1B4B"/>
                </a:solidFill>
                <a:latin typeface="Cambria" pitchFamily="34" charset="0"/>
                <a:ea typeface="Cambria" pitchFamily="34" charset="-122"/>
                <a:cs typeface="Cambria" pitchFamily="34" charset="-120"/>
              </a:rPr>
              <a:t>Bagi Kalangan Akademis</a:t>
            </a:r>
            <a:endParaRPr lang="en-US" sz="1650" dirty="0"/>
          </a:p>
        </p:txBody>
      </p:sp>
      <p:sp>
        <p:nvSpPr>
          <p:cNvPr id="13" name="Text 9"/>
          <p:cNvSpPr/>
          <p:nvPr/>
        </p:nvSpPr>
        <p:spPr>
          <a:xfrm>
            <a:off x="4846320" y="3977640"/>
            <a:ext cx="2816352" cy="1737360"/>
          </a:xfrm>
          <a:prstGeom prst="rect">
            <a:avLst/>
          </a:prstGeom>
          <a:noFill/>
          <a:ln/>
        </p:spPr>
        <p:txBody>
          <a:bodyPr wrap="square" lIns="0" tIns="0" rIns="0" bIns="0" rtlCol="0" anchor="t"/>
          <a:lstStyle/>
          <a:p>
            <a:pPr marL="0" indent="0" algn="ctr">
              <a:lnSpc>
                <a:spcPct val="125000"/>
              </a:lnSpc>
              <a:buNone/>
            </a:pPr>
            <a:r>
              <a:rPr lang="en-US" sz="1250" dirty="0">
                <a:solidFill>
                  <a:srgbClr val="64748B"/>
                </a:solidFill>
                <a:latin typeface="Calibri" pitchFamily="34" charset="0"/>
                <a:ea typeface="Calibri" pitchFamily="34" charset="-122"/>
                <a:cs typeface="Calibri" pitchFamily="34" charset="-120"/>
              </a:rPr>
              <a:t>Memberi contoh penerapan Perceptron dan LVQ pada studi kasus nyata, melengkapi studi kasus klasik seperti logic gate.</a:t>
            </a:r>
            <a:endParaRPr lang="en-US" sz="1250" dirty="0"/>
          </a:p>
        </p:txBody>
      </p:sp>
      <p:sp>
        <p:nvSpPr>
          <p:cNvPr id="14" name="Shape 10"/>
          <p:cNvSpPr/>
          <p:nvPr/>
        </p:nvSpPr>
        <p:spPr>
          <a:xfrm>
            <a:off x="8229600" y="1783080"/>
            <a:ext cx="3456432" cy="4160520"/>
          </a:xfrm>
          <a:prstGeom prst="roundRect">
            <a:avLst>
              <a:gd name="adj" fmla="val 2646"/>
            </a:avLst>
          </a:prstGeom>
          <a:solidFill>
            <a:srgbClr val="FFFFFF"/>
          </a:solidFill>
          <a:ln/>
          <a:effectLst>
            <a:outerShdw blurRad="101600" dist="25400" dir="5400000" algn="bl" rotWithShape="0">
              <a:srgbClr val="0F172A">
                <a:alpha val="10000"/>
              </a:srgbClr>
            </a:outerShdw>
          </a:effectLst>
        </p:spPr>
      </p:sp>
      <p:sp>
        <p:nvSpPr>
          <p:cNvPr id="15" name="Shape 11"/>
          <p:cNvSpPr/>
          <p:nvPr/>
        </p:nvSpPr>
        <p:spPr>
          <a:xfrm>
            <a:off x="9523476" y="2194560"/>
            <a:ext cx="868680" cy="868680"/>
          </a:xfrm>
          <a:prstGeom prst="ellipse">
            <a:avLst/>
          </a:prstGeom>
          <a:solidFill>
            <a:srgbClr val="E0FBFF"/>
          </a:solidFill>
          <a:ln/>
        </p:spPr>
      </p:sp>
      <p:pic>
        <p:nvPicPr>
          <p:cNvPr id="16" name="Image 2" descr="/home/claude/pptx/assets/cogs_navy.png"/>
          <p:cNvPicPr>
            <a:picLocks noChangeAspect="1"/>
          </p:cNvPicPr>
          <p:nvPr/>
        </p:nvPicPr>
        <p:blipFill>
          <a:blip r:embed="rId5"/>
          <a:stretch>
            <a:fillRect/>
          </a:stretch>
        </p:blipFill>
        <p:spPr>
          <a:xfrm>
            <a:off x="9731959" y="2403043"/>
            <a:ext cx="451714" cy="451714"/>
          </a:xfrm>
          <a:prstGeom prst="rect">
            <a:avLst/>
          </a:prstGeom>
        </p:spPr>
      </p:pic>
      <p:sp>
        <p:nvSpPr>
          <p:cNvPr id="17" name="Text 12"/>
          <p:cNvSpPr/>
          <p:nvPr/>
        </p:nvSpPr>
        <p:spPr>
          <a:xfrm>
            <a:off x="8458200" y="3291840"/>
            <a:ext cx="2999232" cy="640080"/>
          </a:xfrm>
          <a:prstGeom prst="rect">
            <a:avLst/>
          </a:prstGeom>
          <a:noFill/>
          <a:ln/>
        </p:spPr>
        <p:txBody>
          <a:bodyPr wrap="square" lIns="0" tIns="0" rIns="0" bIns="0" rtlCol="0" anchor="t"/>
          <a:lstStyle/>
          <a:p>
            <a:pPr marL="0" indent="0" algn="ctr">
              <a:buNone/>
            </a:pPr>
            <a:r>
              <a:rPr lang="en-US" sz="1650" b="1" dirty="0">
                <a:solidFill>
                  <a:srgbClr val="1E1B4B"/>
                </a:solidFill>
                <a:latin typeface="Cambria" pitchFamily="34" charset="0"/>
                <a:ea typeface="Cambria" pitchFamily="34" charset="-122"/>
                <a:cs typeface="Cambria" pitchFamily="34" charset="-120"/>
              </a:rPr>
              <a:t>Bagi Pengembang Sistem</a:t>
            </a:r>
            <a:endParaRPr lang="en-US" sz="1650" dirty="0"/>
          </a:p>
        </p:txBody>
      </p:sp>
      <p:sp>
        <p:nvSpPr>
          <p:cNvPr id="18" name="Text 13"/>
          <p:cNvSpPr/>
          <p:nvPr/>
        </p:nvSpPr>
        <p:spPr>
          <a:xfrm>
            <a:off x="8549640" y="3977640"/>
            <a:ext cx="2816352" cy="1737360"/>
          </a:xfrm>
          <a:prstGeom prst="rect">
            <a:avLst/>
          </a:prstGeom>
          <a:noFill/>
          <a:ln/>
        </p:spPr>
        <p:txBody>
          <a:bodyPr wrap="square" lIns="0" tIns="0" rIns="0" bIns="0" rtlCol="0" anchor="t"/>
          <a:lstStyle/>
          <a:p>
            <a:pPr marL="0" indent="0" algn="ctr">
              <a:lnSpc>
                <a:spcPct val="125000"/>
              </a:lnSpc>
              <a:buNone/>
            </a:pPr>
            <a:r>
              <a:rPr lang="en-US" sz="1250" dirty="0">
                <a:solidFill>
                  <a:srgbClr val="64748B"/>
                </a:solidFill>
                <a:latin typeface="Calibri" pitchFamily="34" charset="0"/>
                <a:ea typeface="Calibri" pitchFamily="34" charset="-122"/>
                <a:cs typeface="Calibri" pitchFamily="34" charset="-120"/>
              </a:rPr>
              <a:t>Menjadi rujukan pengembangan sistem rekomendasi berbasis JST untuk produk hardware lain seperti RAM atau GPU.</a:t>
            </a:r>
            <a:endParaRPr lang="en-US" sz="1250" dirty="0"/>
          </a:p>
        </p:txBody>
      </p:sp>
      <p:sp>
        <p:nvSpPr>
          <p:cNvPr id="19" name="Text 14"/>
          <p:cNvSpPr/>
          <p:nvPr/>
        </p:nvSpPr>
        <p:spPr>
          <a:xfrm>
            <a:off x="11338560" y="640080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822960" y="566928"/>
            <a:ext cx="5486400" cy="320040"/>
          </a:xfrm>
          <a:prstGeom prst="rect">
            <a:avLst/>
          </a:prstGeom>
          <a:noFill/>
          <a:ln/>
        </p:spPr>
        <p:txBody>
          <a:bodyPr wrap="square" lIns="0" tIns="0" rIns="0" bIns="0" rtlCol="0" anchor="ctr"/>
          <a:lstStyle/>
          <a:p>
            <a:pPr marL="0" indent="0">
              <a:buNone/>
            </a:pPr>
            <a:r>
              <a:rPr lang="en-US" sz="1250" b="1" kern="0" spc="200" dirty="0">
                <a:solidFill>
                  <a:srgbClr val="312E81"/>
                </a:solidFill>
                <a:latin typeface="Calibri" pitchFamily="34" charset="0"/>
                <a:ea typeface="Calibri" pitchFamily="34" charset="-122"/>
                <a:cs typeface="Calibri" pitchFamily="34" charset="-120"/>
              </a:rPr>
              <a:t>BAB II . LANDASAN TEORI</a:t>
            </a:r>
            <a:endParaRPr lang="en-US" sz="1250" dirty="0"/>
          </a:p>
        </p:txBody>
      </p:sp>
      <p:sp>
        <p:nvSpPr>
          <p:cNvPr id="3" name="Text 1"/>
          <p:cNvSpPr/>
          <p:nvPr/>
        </p:nvSpPr>
        <p:spPr>
          <a:xfrm>
            <a:off x="822960" y="914400"/>
            <a:ext cx="10515600" cy="822960"/>
          </a:xfrm>
          <a:prstGeom prst="rect">
            <a:avLst/>
          </a:prstGeom>
          <a:noFill/>
          <a:ln/>
        </p:spPr>
        <p:txBody>
          <a:bodyPr wrap="square" lIns="0" tIns="0" rIns="0" bIns="0" rtlCol="0" anchor="t"/>
          <a:lstStyle/>
          <a:p>
            <a:pPr marL="0" indent="0">
              <a:buNone/>
            </a:pPr>
            <a:r>
              <a:rPr lang="en-US" sz="2700" b="1" dirty="0">
                <a:solidFill>
                  <a:srgbClr val="1E1B4B"/>
                </a:solidFill>
                <a:latin typeface="Cambria" pitchFamily="34" charset="0"/>
                <a:ea typeface="Cambria" pitchFamily="34" charset="-122"/>
                <a:cs typeface="Cambria" pitchFamily="34" charset="-120"/>
              </a:rPr>
              <a:t>Neuron Buatan dan Jaringan Syaraf Tiruan</a:t>
            </a:r>
            <a:endParaRPr lang="en-US" sz="2700" dirty="0"/>
          </a:p>
        </p:txBody>
      </p:sp>
      <p:sp>
        <p:nvSpPr>
          <p:cNvPr id="4" name="Text 2"/>
          <p:cNvSpPr/>
          <p:nvPr/>
        </p:nvSpPr>
        <p:spPr>
          <a:xfrm>
            <a:off x="822960" y="1417320"/>
            <a:ext cx="5029200" cy="1554480"/>
          </a:xfrm>
          <a:prstGeom prst="rect">
            <a:avLst/>
          </a:prstGeom>
          <a:noFill/>
          <a:ln/>
        </p:spPr>
        <p:txBody>
          <a:bodyPr wrap="square" lIns="0" tIns="0" rIns="0" bIns="0" rtlCol="0" anchor="t"/>
          <a:lstStyle/>
          <a:p>
            <a:pPr marL="0" indent="0">
              <a:lnSpc>
                <a:spcPct val="130000"/>
              </a:lnSpc>
              <a:buNone/>
            </a:pPr>
            <a:r>
              <a:rPr lang="en-US" sz="1350" dirty="0">
                <a:solidFill>
                  <a:srgbClr val="0F172A"/>
                </a:solidFill>
                <a:latin typeface="Calibri" pitchFamily="34" charset="0"/>
                <a:ea typeface="Calibri" pitchFamily="34" charset="-122"/>
                <a:cs typeface="Calibri" pitchFamily="34" charset="-120"/>
              </a:rPr>
              <a:t>Jaringan Syaraf Tiruan (JST) meniru cara kerja neuron biologis untuk mengenali pola dari data. Setiap neuron buatan menerima input, mengalikannya dengan bobot, menambahkan bias, lalu meneruskan hasilnya ke fungsi aktivasi untuk menghasilkan output.</a:t>
            </a:r>
            <a:endParaRPr lang="en-US" sz="1350" dirty="0"/>
          </a:p>
        </p:txBody>
      </p:sp>
      <p:sp>
        <p:nvSpPr>
          <p:cNvPr id="5" name="Text 3"/>
          <p:cNvSpPr/>
          <p:nvPr/>
        </p:nvSpPr>
        <p:spPr>
          <a:xfrm>
            <a:off x="822960" y="3063240"/>
            <a:ext cx="5029200" cy="1371600"/>
          </a:xfrm>
          <a:prstGeom prst="rect">
            <a:avLst/>
          </a:prstGeom>
          <a:noFill/>
          <a:ln/>
        </p:spPr>
        <p:txBody>
          <a:bodyPr wrap="square" lIns="0" tIns="0" rIns="0" bIns="0" rtlCol="0" anchor="t"/>
          <a:lstStyle/>
          <a:p>
            <a:pPr marL="0" indent="0">
              <a:lnSpc>
                <a:spcPct val="130000"/>
              </a:lnSpc>
              <a:spcAft>
                <a:spcPts val="800"/>
              </a:spcAft>
              <a:buNone/>
            </a:pPr>
            <a:r>
              <a:rPr lang="en-US" sz="1250" b="1" dirty="0">
                <a:solidFill>
                  <a:srgbClr val="1E1B4B"/>
                </a:solidFill>
                <a:latin typeface="Calibri" pitchFamily="34" charset="0"/>
                <a:ea typeface="Calibri" pitchFamily="34" charset="-122"/>
                <a:cs typeface="Calibri" pitchFamily="34" charset="-120"/>
              </a:rPr>
              <a:t>Rosenblatt (1958) </a:t>
            </a:r>
            <a:r>
              <a:rPr lang="en-US" sz="1250" dirty="0">
                <a:solidFill>
                  <a:srgbClr val="0F172A"/>
                </a:solidFill>
                <a:latin typeface="Calibri" pitchFamily="34" charset="0"/>
                <a:ea typeface="Calibri" pitchFamily="34" charset="-122"/>
                <a:cs typeface="Calibri" pitchFamily="34" charset="-120"/>
              </a:rPr>
              <a:t>memformalkan konsep ini melalui model Perceptron sebagai dasar pembelajaran adaptif.</a:t>
            </a:r>
            <a:endParaRPr lang="en-US" sz="1250" dirty="0"/>
          </a:p>
          <a:p>
            <a:pPr marL="0" indent="0">
              <a:lnSpc>
                <a:spcPct val="130000"/>
              </a:lnSpc>
              <a:spcAft>
                <a:spcPts val="800"/>
              </a:spcAft>
              <a:buNone/>
            </a:pPr>
            <a:r>
              <a:rPr lang="en-US" sz="1250" b="1" dirty="0">
                <a:solidFill>
                  <a:srgbClr val="1E1B4B"/>
                </a:solidFill>
                <a:latin typeface="Calibri" pitchFamily="34" charset="0"/>
                <a:ea typeface="Calibri" pitchFamily="34" charset="-122"/>
                <a:cs typeface="Calibri" pitchFamily="34" charset="-120"/>
              </a:rPr>
              <a:t>Kohonen (1986, 1990) </a:t>
            </a:r>
            <a:r>
              <a:rPr lang="en-US" sz="1250" dirty="0">
                <a:solidFill>
                  <a:srgbClr val="0F172A"/>
                </a:solidFill>
                <a:latin typeface="Calibri" pitchFamily="34" charset="0"/>
                <a:ea typeface="Calibri" pitchFamily="34" charset="-122"/>
                <a:cs typeface="Calibri" pitchFamily="34" charset="-120"/>
              </a:rPr>
              <a:t>mengembangkan pembelajaran kompetitif yang melandasi algoritma LVQ.</a:t>
            </a:r>
            <a:endParaRPr lang="en-US" sz="1250" dirty="0"/>
          </a:p>
        </p:txBody>
      </p:sp>
      <p:sp>
        <p:nvSpPr>
          <p:cNvPr id="6" name="Shape 4"/>
          <p:cNvSpPr/>
          <p:nvPr/>
        </p:nvSpPr>
        <p:spPr>
          <a:xfrm>
            <a:off x="822960" y="4617720"/>
            <a:ext cx="5029200" cy="1417320"/>
          </a:xfrm>
          <a:prstGeom prst="roundRect">
            <a:avLst>
              <a:gd name="adj" fmla="val 5806"/>
            </a:avLst>
          </a:prstGeom>
          <a:solidFill>
            <a:srgbClr val="E0FBFF"/>
          </a:solidFill>
          <a:ln/>
        </p:spPr>
      </p:sp>
      <p:sp>
        <p:nvSpPr>
          <p:cNvPr id="7" name="Text 5"/>
          <p:cNvSpPr/>
          <p:nvPr/>
        </p:nvSpPr>
        <p:spPr>
          <a:xfrm>
            <a:off x="1051560" y="4754880"/>
            <a:ext cx="4572000" cy="457200"/>
          </a:xfrm>
          <a:prstGeom prst="rect">
            <a:avLst/>
          </a:prstGeom>
          <a:noFill/>
          <a:ln/>
        </p:spPr>
        <p:txBody>
          <a:bodyPr wrap="square" lIns="0" tIns="0" rIns="0" bIns="0" rtlCol="0" anchor="ctr"/>
          <a:lstStyle/>
          <a:p>
            <a:pPr marL="0" indent="0">
              <a:buNone/>
            </a:pPr>
            <a:r>
              <a:rPr lang="en-US" sz="1800" b="1" dirty="0">
                <a:solidFill>
                  <a:srgbClr val="1E1B4B"/>
                </a:solidFill>
                <a:latin typeface="Cambria" pitchFamily="34" charset="0"/>
                <a:ea typeface="Cambria" pitchFamily="34" charset="-122"/>
                <a:cs typeface="Cambria" pitchFamily="34" charset="-120"/>
              </a:rPr>
              <a:t>net = </a:t>
            </a:r>
            <a:r>
              <a:rPr lang="en-US" sz="1800" dirty="0">
                <a:solidFill>
                  <a:srgbClr val="1E1B4B"/>
                </a:solidFill>
                <a:latin typeface="Cambria" pitchFamily="34" charset="0"/>
                <a:ea typeface="Cambria" pitchFamily="34" charset="-122"/>
                <a:cs typeface="Cambria" pitchFamily="34" charset="-120"/>
              </a:rPr>
              <a:t>Σ(wᵢ × xᵢ) + b</a:t>
            </a:r>
            <a:endParaRPr lang="en-US" sz="1800" dirty="0"/>
          </a:p>
        </p:txBody>
      </p:sp>
      <p:sp>
        <p:nvSpPr>
          <p:cNvPr id="8" name="Text 6"/>
          <p:cNvSpPr/>
          <p:nvPr/>
        </p:nvSpPr>
        <p:spPr>
          <a:xfrm>
            <a:off x="1051560" y="5257800"/>
            <a:ext cx="4572000" cy="685800"/>
          </a:xfrm>
          <a:prstGeom prst="rect">
            <a:avLst/>
          </a:prstGeom>
          <a:noFill/>
          <a:ln/>
        </p:spPr>
        <p:txBody>
          <a:bodyPr wrap="square" lIns="0" tIns="0" rIns="0" bIns="0" rtlCol="0" anchor="ctr"/>
          <a:lstStyle/>
          <a:p>
            <a:pPr marL="0" indent="0">
              <a:buNone/>
            </a:pPr>
            <a:r>
              <a:rPr lang="en-US" sz="1150" i="1" dirty="0">
                <a:solidFill>
                  <a:srgbClr val="64748B"/>
                </a:solidFill>
                <a:latin typeface="Calibri" pitchFamily="34" charset="0"/>
                <a:ea typeface="Calibri" pitchFamily="34" charset="-122"/>
                <a:cs typeface="Calibri" pitchFamily="34" charset="-120"/>
              </a:rPr>
              <a:t>Nilai net inilah yang diteruskan ke fungsi aktivasi untuk menghasilkan output neuron.</a:t>
            </a:r>
            <a:endParaRPr lang="en-US" sz="1150" dirty="0"/>
          </a:p>
        </p:txBody>
      </p:sp>
      <p:sp>
        <p:nvSpPr>
          <p:cNvPr id="9" name="Shape 7"/>
          <p:cNvSpPr/>
          <p:nvPr/>
        </p:nvSpPr>
        <p:spPr>
          <a:xfrm>
            <a:off x="6583680" y="2331720"/>
            <a:ext cx="2468880" cy="1371600"/>
          </a:xfrm>
          <a:prstGeom prst="line">
            <a:avLst/>
          </a:prstGeom>
          <a:noFill/>
          <a:ln w="19050">
            <a:solidFill>
              <a:srgbClr val="94A3B8"/>
            </a:solidFill>
            <a:prstDash val="solid"/>
          </a:ln>
        </p:spPr>
      </p:sp>
      <p:sp>
        <p:nvSpPr>
          <p:cNvPr id="10" name="Shape 8"/>
          <p:cNvSpPr/>
          <p:nvPr/>
        </p:nvSpPr>
        <p:spPr>
          <a:xfrm>
            <a:off x="6382512" y="2130552"/>
            <a:ext cx="402336" cy="402336"/>
          </a:xfrm>
          <a:prstGeom prst="ellipse">
            <a:avLst/>
          </a:prstGeom>
          <a:solidFill>
            <a:srgbClr val="EDE9FE"/>
          </a:solidFill>
          <a:ln w="12700">
            <a:solidFill>
              <a:srgbClr val="4C1D95"/>
            </a:solidFill>
            <a:prstDash val="solid"/>
          </a:ln>
        </p:spPr>
      </p:sp>
      <p:sp>
        <p:nvSpPr>
          <p:cNvPr id="11" name="Text 9"/>
          <p:cNvSpPr/>
          <p:nvPr/>
        </p:nvSpPr>
        <p:spPr>
          <a:xfrm>
            <a:off x="6382512" y="2130552"/>
            <a:ext cx="402336" cy="402336"/>
          </a:xfrm>
          <a:prstGeom prst="rect">
            <a:avLst/>
          </a:prstGeom>
          <a:noFill/>
          <a:ln/>
        </p:spPr>
        <p:txBody>
          <a:bodyPr wrap="square" lIns="0" tIns="0" rIns="0" bIns="0" rtlCol="0" anchor="ctr"/>
          <a:lstStyle/>
          <a:p>
            <a:pPr marL="0" indent="0" algn="ctr">
              <a:buNone/>
            </a:pPr>
            <a:r>
              <a:rPr lang="en-US" sz="1300" b="1" dirty="0">
                <a:solidFill>
                  <a:srgbClr val="4C1D95"/>
                </a:solidFill>
                <a:latin typeface="Cambria" pitchFamily="34" charset="0"/>
                <a:ea typeface="Cambria" pitchFamily="34" charset="-122"/>
                <a:cs typeface="Cambria" pitchFamily="34" charset="-120"/>
              </a:rPr>
              <a:t>x1</a:t>
            </a:r>
            <a:endParaRPr lang="en-US" sz="1300" dirty="0"/>
          </a:p>
        </p:txBody>
      </p:sp>
      <p:sp>
        <p:nvSpPr>
          <p:cNvPr id="12" name="Shape 10"/>
          <p:cNvSpPr/>
          <p:nvPr/>
        </p:nvSpPr>
        <p:spPr>
          <a:xfrm>
            <a:off x="6583680" y="3703320"/>
            <a:ext cx="2468880" cy="914"/>
          </a:xfrm>
          <a:prstGeom prst="line">
            <a:avLst/>
          </a:prstGeom>
          <a:noFill/>
          <a:ln w="19050">
            <a:solidFill>
              <a:srgbClr val="94A3B8"/>
            </a:solidFill>
            <a:prstDash val="solid"/>
          </a:ln>
        </p:spPr>
      </p:sp>
      <p:sp>
        <p:nvSpPr>
          <p:cNvPr id="13" name="Shape 11"/>
          <p:cNvSpPr/>
          <p:nvPr/>
        </p:nvSpPr>
        <p:spPr>
          <a:xfrm>
            <a:off x="6382512" y="3502152"/>
            <a:ext cx="402336" cy="402336"/>
          </a:xfrm>
          <a:prstGeom prst="ellipse">
            <a:avLst/>
          </a:prstGeom>
          <a:solidFill>
            <a:srgbClr val="EDE9FE"/>
          </a:solidFill>
          <a:ln w="12700">
            <a:solidFill>
              <a:srgbClr val="4C1D95"/>
            </a:solidFill>
            <a:prstDash val="solid"/>
          </a:ln>
        </p:spPr>
      </p:sp>
      <p:sp>
        <p:nvSpPr>
          <p:cNvPr id="14" name="Text 12"/>
          <p:cNvSpPr/>
          <p:nvPr/>
        </p:nvSpPr>
        <p:spPr>
          <a:xfrm>
            <a:off x="6382512" y="3502152"/>
            <a:ext cx="402336" cy="402336"/>
          </a:xfrm>
          <a:prstGeom prst="rect">
            <a:avLst/>
          </a:prstGeom>
          <a:noFill/>
          <a:ln/>
        </p:spPr>
        <p:txBody>
          <a:bodyPr wrap="square" lIns="0" tIns="0" rIns="0" bIns="0" rtlCol="0" anchor="ctr"/>
          <a:lstStyle/>
          <a:p>
            <a:pPr marL="0" indent="0" algn="ctr">
              <a:buNone/>
            </a:pPr>
            <a:r>
              <a:rPr lang="en-US" sz="1300" b="1" dirty="0">
                <a:solidFill>
                  <a:srgbClr val="4C1D95"/>
                </a:solidFill>
                <a:latin typeface="Cambria" pitchFamily="34" charset="0"/>
                <a:ea typeface="Cambria" pitchFamily="34" charset="-122"/>
                <a:cs typeface="Cambria" pitchFamily="34" charset="-120"/>
              </a:rPr>
              <a:t>x2</a:t>
            </a:r>
            <a:endParaRPr lang="en-US" sz="1300" dirty="0"/>
          </a:p>
        </p:txBody>
      </p:sp>
      <p:sp>
        <p:nvSpPr>
          <p:cNvPr id="15" name="Shape 13"/>
          <p:cNvSpPr/>
          <p:nvPr/>
        </p:nvSpPr>
        <p:spPr>
          <a:xfrm flipV="1">
            <a:off x="6583680" y="3703320"/>
            <a:ext cx="2468880" cy="1371600"/>
          </a:xfrm>
          <a:prstGeom prst="line">
            <a:avLst/>
          </a:prstGeom>
          <a:noFill/>
          <a:ln w="19050">
            <a:solidFill>
              <a:srgbClr val="94A3B8"/>
            </a:solidFill>
            <a:prstDash val="solid"/>
          </a:ln>
        </p:spPr>
      </p:sp>
      <p:sp>
        <p:nvSpPr>
          <p:cNvPr id="16" name="Shape 14"/>
          <p:cNvSpPr/>
          <p:nvPr/>
        </p:nvSpPr>
        <p:spPr>
          <a:xfrm>
            <a:off x="6382512" y="4873752"/>
            <a:ext cx="402336" cy="402336"/>
          </a:xfrm>
          <a:prstGeom prst="ellipse">
            <a:avLst/>
          </a:prstGeom>
          <a:solidFill>
            <a:srgbClr val="EDE9FE"/>
          </a:solidFill>
          <a:ln w="12700">
            <a:solidFill>
              <a:srgbClr val="4C1D95"/>
            </a:solidFill>
            <a:prstDash val="solid"/>
          </a:ln>
        </p:spPr>
      </p:sp>
      <p:sp>
        <p:nvSpPr>
          <p:cNvPr id="17" name="Text 15"/>
          <p:cNvSpPr/>
          <p:nvPr/>
        </p:nvSpPr>
        <p:spPr>
          <a:xfrm>
            <a:off x="6382512" y="4873752"/>
            <a:ext cx="402336" cy="402336"/>
          </a:xfrm>
          <a:prstGeom prst="rect">
            <a:avLst/>
          </a:prstGeom>
          <a:noFill/>
          <a:ln/>
        </p:spPr>
        <p:txBody>
          <a:bodyPr wrap="square" lIns="0" tIns="0" rIns="0" bIns="0" rtlCol="0" anchor="ctr"/>
          <a:lstStyle/>
          <a:p>
            <a:pPr marL="0" indent="0" algn="ctr">
              <a:buNone/>
            </a:pPr>
            <a:r>
              <a:rPr lang="en-US" sz="1300" b="1" dirty="0">
                <a:solidFill>
                  <a:srgbClr val="4C1D95"/>
                </a:solidFill>
                <a:latin typeface="Cambria" pitchFamily="34" charset="0"/>
                <a:ea typeface="Cambria" pitchFamily="34" charset="-122"/>
                <a:cs typeface="Cambria" pitchFamily="34" charset="-120"/>
              </a:rPr>
              <a:t>x3</a:t>
            </a:r>
            <a:endParaRPr lang="en-US" sz="1300" dirty="0"/>
          </a:p>
        </p:txBody>
      </p:sp>
      <p:sp>
        <p:nvSpPr>
          <p:cNvPr id="18" name="Shape 16"/>
          <p:cNvSpPr/>
          <p:nvPr/>
        </p:nvSpPr>
        <p:spPr>
          <a:xfrm>
            <a:off x="8549640" y="3200400"/>
            <a:ext cx="1005840" cy="1005840"/>
          </a:xfrm>
          <a:prstGeom prst="ellipse">
            <a:avLst/>
          </a:prstGeom>
          <a:solidFill>
            <a:srgbClr val="1E1B4B"/>
          </a:solidFill>
          <a:ln/>
          <a:effectLst>
            <a:outerShdw blurRad="101600" dist="25400" dir="5400000" algn="bl" rotWithShape="0">
              <a:srgbClr val="0F172A">
                <a:alpha val="10000"/>
              </a:srgbClr>
            </a:outerShdw>
          </a:effectLst>
        </p:spPr>
      </p:sp>
      <p:sp>
        <p:nvSpPr>
          <p:cNvPr id="19" name="Text 17"/>
          <p:cNvSpPr/>
          <p:nvPr/>
        </p:nvSpPr>
        <p:spPr>
          <a:xfrm>
            <a:off x="8549640" y="3200400"/>
            <a:ext cx="1005840" cy="1005840"/>
          </a:xfrm>
          <a:prstGeom prst="rect">
            <a:avLst/>
          </a:prstGeom>
          <a:noFill/>
          <a:ln/>
        </p:spPr>
        <p:txBody>
          <a:bodyPr wrap="square" lIns="0" tIns="0" rIns="0" bIns="0" rtlCol="0" anchor="ctr"/>
          <a:lstStyle/>
          <a:p>
            <a:pPr marL="0" indent="0" algn="ctr">
              <a:buNone/>
            </a:pPr>
            <a:r>
              <a:rPr lang="en-US" sz="2000" b="1" dirty="0">
                <a:solidFill>
                  <a:srgbClr val="22D3EE"/>
                </a:solidFill>
                <a:latin typeface="Cambria" pitchFamily="34" charset="0"/>
                <a:ea typeface="Cambria" pitchFamily="34" charset="-122"/>
                <a:cs typeface="Cambria" pitchFamily="34" charset="-120"/>
              </a:rPr>
              <a:t>Σ, f</a:t>
            </a:r>
            <a:endParaRPr lang="en-US" sz="2000" dirty="0"/>
          </a:p>
        </p:txBody>
      </p:sp>
      <p:sp>
        <p:nvSpPr>
          <p:cNvPr id="20" name="Shape 18"/>
          <p:cNvSpPr/>
          <p:nvPr/>
        </p:nvSpPr>
        <p:spPr>
          <a:xfrm>
            <a:off x="9555480" y="3703320"/>
            <a:ext cx="914400" cy="914"/>
          </a:xfrm>
          <a:prstGeom prst="line">
            <a:avLst/>
          </a:prstGeom>
          <a:noFill/>
          <a:ln w="25400">
            <a:solidFill>
              <a:srgbClr val="22D3EE"/>
            </a:solidFill>
            <a:prstDash val="solid"/>
          </a:ln>
        </p:spPr>
      </p:sp>
      <p:sp>
        <p:nvSpPr>
          <p:cNvPr id="21" name="Shape 19"/>
          <p:cNvSpPr/>
          <p:nvPr/>
        </p:nvSpPr>
        <p:spPr>
          <a:xfrm>
            <a:off x="10287000" y="3520440"/>
            <a:ext cx="365760" cy="365760"/>
          </a:xfrm>
          <a:prstGeom prst="ellipse">
            <a:avLst/>
          </a:prstGeom>
          <a:solidFill>
            <a:srgbClr val="22D3EE"/>
          </a:solidFill>
          <a:ln/>
        </p:spPr>
      </p:sp>
      <p:sp>
        <p:nvSpPr>
          <p:cNvPr id="22" name="Text 20"/>
          <p:cNvSpPr/>
          <p:nvPr/>
        </p:nvSpPr>
        <p:spPr>
          <a:xfrm>
            <a:off x="10287000" y="3520440"/>
            <a:ext cx="365760" cy="365760"/>
          </a:xfrm>
          <a:prstGeom prst="rect">
            <a:avLst/>
          </a:prstGeom>
          <a:noFill/>
          <a:ln/>
        </p:spPr>
        <p:txBody>
          <a:bodyPr wrap="square" lIns="0" tIns="0" rIns="0" bIns="0" rtlCol="0" anchor="ctr"/>
          <a:lstStyle/>
          <a:p>
            <a:pPr marL="0" indent="0" algn="ctr">
              <a:buNone/>
            </a:pPr>
            <a:r>
              <a:rPr lang="en-US" sz="1300" b="1" dirty="0">
                <a:solidFill>
                  <a:srgbClr val="1E1B4B"/>
                </a:solidFill>
                <a:latin typeface="Cambria" pitchFamily="34" charset="0"/>
                <a:ea typeface="Cambria" pitchFamily="34" charset="-122"/>
                <a:cs typeface="Cambria" pitchFamily="34" charset="-120"/>
              </a:rPr>
              <a:t>y</a:t>
            </a:r>
            <a:endParaRPr lang="en-US" sz="1300" dirty="0"/>
          </a:p>
        </p:txBody>
      </p:sp>
      <p:sp>
        <p:nvSpPr>
          <p:cNvPr id="23" name="Text 21"/>
          <p:cNvSpPr/>
          <p:nvPr/>
        </p:nvSpPr>
        <p:spPr>
          <a:xfrm>
            <a:off x="6400800" y="5532120"/>
            <a:ext cx="4114800" cy="365760"/>
          </a:xfrm>
          <a:prstGeom prst="rect">
            <a:avLst/>
          </a:prstGeom>
          <a:noFill/>
          <a:ln/>
        </p:spPr>
        <p:txBody>
          <a:bodyPr wrap="square" lIns="0" tIns="0" rIns="0" bIns="0" rtlCol="0" anchor="ctr"/>
          <a:lstStyle/>
          <a:p>
            <a:pPr marL="0" indent="0" algn="ctr">
              <a:buNone/>
            </a:pPr>
            <a:r>
              <a:rPr lang="en-US" sz="1050" i="1" dirty="0">
                <a:solidFill>
                  <a:srgbClr val="64748B"/>
                </a:solidFill>
                <a:latin typeface="Calibri" pitchFamily="34" charset="0"/>
                <a:ea typeface="Calibri" pitchFamily="34" charset="-122"/>
                <a:cs typeface="Calibri" pitchFamily="34" charset="-120"/>
              </a:rPr>
              <a:t>Ilustrasi neuron buatan: input, bobot, fungsi penjumlah, dan output</a:t>
            </a:r>
            <a:endParaRPr lang="en-US" sz="1050" dirty="0"/>
          </a:p>
        </p:txBody>
      </p:sp>
      <p:sp>
        <p:nvSpPr>
          <p:cNvPr id="24" name="Text 22"/>
          <p:cNvSpPr/>
          <p:nvPr/>
        </p:nvSpPr>
        <p:spPr>
          <a:xfrm>
            <a:off x="11338560" y="640080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822960" y="566928"/>
            <a:ext cx="5486400" cy="320040"/>
          </a:xfrm>
          <a:prstGeom prst="rect">
            <a:avLst/>
          </a:prstGeom>
          <a:noFill/>
          <a:ln/>
        </p:spPr>
        <p:txBody>
          <a:bodyPr wrap="square" lIns="0" tIns="0" rIns="0" bIns="0" rtlCol="0" anchor="ctr"/>
          <a:lstStyle/>
          <a:p>
            <a:pPr marL="0" indent="0">
              <a:buNone/>
            </a:pPr>
            <a:r>
              <a:rPr lang="en-US" sz="1250" b="1" kern="0" spc="200" dirty="0">
                <a:solidFill>
                  <a:srgbClr val="312E81"/>
                </a:solidFill>
                <a:latin typeface="Calibri" pitchFamily="34" charset="0"/>
                <a:ea typeface="Calibri" pitchFamily="34" charset="-122"/>
                <a:cs typeface="Calibri" pitchFamily="34" charset="-120"/>
              </a:rPr>
              <a:t>BAB II . LANDASAN TEORI</a:t>
            </a:r>
            <a:endParaRPr lang="en-US" sz="1250" dirty="0"/>
          </a:p>
        </p:txBody>
      </p:sp>
      <p:sp>
        <p:nvSpPr>
          <p:cNvPr id="3" name="Text 1"/>
          <p:cNvSpPr/>
          <p:nvPr/>
        </p:nvSpPr>
        <p:spPr>
          <a:xfrm>
            <a:off x="822960" y="914400"/>
            <a:ext cx="9144000" cy="822960"/>
          </a:xfrm>
          <a:prstGeom prst="rect">
            <a:avLst/>
          </a:prstGeom>
          <a:noFill/>
          <a:ln/>
        </p:spPr>
        <p:txBody>
          <a:bodyPr wrap="square" lIns="0" tIns="0" rIns="0" bIns="0" rtlCol="0" anchor="t"/>
          <a:lstStyle/>
          <a:p>
            <a:pPr marL="0" indent="0">
              <a:buNone/>
            </a:pPr>
            <a:r>
              <a:rPr lang="en-US" sz="3000" b="1" dirty="0">
                <a:solidFill>
                  <a:srgbClr val="1E1B4B"/>
                </a:solidFill>
                <a:latin typeface="Cambria" pitchFamily="34" charset="0"/>
                <a:ea typeface="Cambria" pitchFamily="34" charset="-122"/>
                <a:cs typeface="Cambria" pitchFamily="34" charset="-120"/>
              </a:rPr>
              <a:t>SSD SATA vs SSD NVMe</a:t>
            </a:r>
            <a:endParaRPr lang="en-US" sz="3000" dirty="0"/>
          </a:p>
        </p:txBody>
      </p:sp>
      <p:sp>
        <p:nvSpPr>
          <p:cNvPr id="4" name="Shape 2"/>
          <p:cNvSpPr/>
          <p:nvPr/>
        </p:nvSpPr>
        <p:spPr>
          <a:xfrm>
            <a:off x="822960" y="1554480"/>
            <a:ext cx="5212080" cy="4434840"/>
          </a:xfrm>
          <a:prstGeom prst="roundRect">
            <a:avLst>
              <a:gd name="adj" fmla="val 2062"/>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5" name="Shape 3"/>
          <p:cNvSpPr/>
          <p:nvPr/>
        </p:nvSpPr>
        <p:spPr>
          <a:xfrm>
            <a:off x="1097280" y="1828800"/>
            <a:ext cx="640080" cy="640080"/>
          </a:xfrm>
          <a:prstGeom prst="ellipse">
            <a:avLst/>
          </a:prstGeom>
          <a:solidFill>
            <a:srgbClr val="E0FBFF"/>
          </a:solidFill>
          <a:ln/>
        </p:spPr>
      </p:sp>
      <p:pic>
        <p:nvPicPr>
          <p:cNvPr id="6" name="Image 0" descr="/home/claude/pptx/assets/database_navy.png"/>
          <p:cNvPicPr>
            <a:picLocks noChangeAspect="1"/>
          </p:cNvPicPr>
          <p:nvPr/>
        </p:nvPicPr>
        <p:blipFill>
          <a:blip r:embed="rId3"/>
          <a:stretch>
            <a:fillRect/>
          </a:stretch>
        </p:blipFill>
        <p:spPr>
          <a:xfrm>
            <a:off x="1250899" y="1982419"/>
            <a:ext cx="332842" cy="332842"/>
          </a:xfrm>
          <a:prstGeom prst="rect">
            <a:avLst/>
          </a:prstGeom>
        </p:spPr>
      </p:pic>
      <p:sp>
        <p:nvSpPr>
          <p:cNvPr id="7" name="Text 4"/>
          <p:cNvSpPr/>
          <p:nvPr/>
        </p:nvSpPr>
        <p:spPr>
          <a:xfrm>
            <a:off x="1920240" y="1920240"/>
            <a:ext cx="3657600" cy="457200"/>
          </a:xfrm>
          <a:prstGeom prst="rect">
            <a:avLst/>
          </a:prstGeom>
          <a:noFill/>
          <a:ln/>
        </p:spPr>
        <p:txBody>
          <a:bodyPr wrap="square" lIns="0" tIns="0" rIns="0" bIns="0" rtlCol="0" anchor="ctr"/>
          <a:lstStyle/>
          <a:p>
            <a:pPr marL="0" indent="0">
              <a:buNone/>
            </a:pPr>
            <a:r>
              <a:rPr lang="en-US" sz="1900" b="1" dirty="0">
                <a:solidFill>
                  <a:srgbClr val="1E1B4B"/>
                </a:solidFill>
                <a:latin typeface="Cambria" pitchFamily="34" charset="0"/>
                <a:ea typeface="Cambria" pitchFamily="34" charset="-122"/>
                <a:cs typeface="Cambria" pitchFamily="34" charset="-120"/>
              </a:rPr>
              <a:t>SSD SATA</a:t>
            </a:r>
            <a:endParaRPr lang="en-US" sz="1900" dirty="0"/>
          </a:p>
        </p:txBody>
      </p:sp>
      <p:sp>
        <p:nvSpPr>
          <p:cNvPr id="8" name="Text 5"/>
          <p:cNvSpPr/>
          <p:nvPr/>
        </p:nvSpPr>
        <p:spPr>
          <a:xfrm>
            <a:off x="1097280" y="2697480"/>
            <a:ext cx="1554480" cy="457200"/>
          </a:xfrm>
          <a:prstGeom prst="rect">
            <a:avLst/>
          </a:prstGeom>
          <a:noFill/>
          <a:ln/>
        </p:spPr>
        <p:txBody>
          <a:bodyPr wrap="square" lIns="0" tIns="0" rIns="0" bIns="0" rtlCol="0" anchor="t"/>
          <a:lstStyle/>
          <a:p>
            <a:pPr marL="0" indent="0">
              <a:buNone/>
            </a:pPr>
            <a:r>
              <a:rPr lang="en-US" sz="1150" b="1" dirty="0">
                <a:solidFill>
                  <a:srgbClr val="64748B"/>
                </a:solidFill>
                <a:latin typeface="Calibri" pitchFamily="34" charset="0"/>
                <a:ea typeface="Calibri" pitchFamily="34" charset="-122"/>
                <a:cs typeface="Calibri" pitchFamily="34" charset="-120"/>
              </a:rPr>
              <a:t>Protokol</a:t>
            </a:r>
            <a:endParaRPr lang="en-US" sz="1150" dirty="0"/>
          </a:p>
        </p:txBody>
      </p:sp>
      <p:sp>
        <p:nvSpPr>
          <p:cNvPr id="9" name="Text 6"/>
          <p:cNvSpPr/>
          <p:nvPr/>
        </p:nvSpPr>
        <p:spPr>
          <a:xfrm>
            <a:off x="2697480" y="2697480"/>
            <a:ext cx="3063240" cy="457200"/>
          </a:xfrm>
          <a:prstGeom prst="rect">
            <a:avLst/>
          </a:prstGeom>
          <a:noFill/>
          <a:ln/>
        </p:spPr>
        <p:txBody>
          <a:bodyPr wrap="square" lIns="0" tIns="0" rIns="0" bIns="0" rtlCol="0" anchor="t"/>
          <a:lstStyle/>
          <a:p>
            <a:pPr marL="0" indent="0">
              <a:buNone/>
            </a:pPr>
            <a:r>
              <a:rPr lang="en-US" sz="1150" dirty="0">
                <a:solidFill>
                  <a:srgbClr val="0F172A"/>
                </a:solidFill>
                <a:latin typeface="Calibri" pitchFamily="34" charset="0"/>
                <a:ea typeface="Calibri" pitchFamily="34" charset="-122"/>
                <a:cs typeface="Calibri" pitchFamily="34" charset="-120"/>
              </a:rPr>
              <a:t>AHCI, 1 antrian perintah</a:t>
            </a:r>
            <a:endParaRPr lang="en-US" sz="1150" dirty="0"/>
          </a:p>
        </p:txBody>
      </p:sp>
      <p:sp>
        <p:nvSpPr>
          <p:cNvPr id="10" name="Text 7"/>
          <p:cNvSpPr/>
          <p:nvPr/>
        </p:nvSpPr>
        <p:spPr>
          <a:xfrm>
            <a:off x="1097280" y="3291840"/>
            <a:ext cx="1554480" cy="457200"/>
          </a:xfrm>
          <a:prstGeom prst="rect">
            <a:avLst/>
          </a:prstGeom>
          <a:noFill/>
          <a:ln/>
        </p:spPr>
        <p:txBody>
          <a:bodyPr wrap="square" lIns="0" tIns="0" rIns="0" bIns="0" rtlCol="0" anchor="t"/>
          <a:lstStyle/>
          <a:p>
            <a:pPr marL="0" indent="0">
              <a:buNone/>
            </a:pPr>
            <a:r>
              <a:rPr lang="en-US" sz="1150" b="1" dirty="0">
                <a:solidFill>
                  <a:srgbClr val="64748B"/>
                </a:solidFill>
                <a:latin typeface="Calibri" pitchFamily="34" charset="0"/>
                <a:ea typeface="Calibri" pitchFamily="34" charset="-122"/>
                <a:cs typeface="Calibri" pitchFamily="34" charset="-120"/>
              </a:rPr>
              <a:t>Throughput</a:t>
            </a:r>
            <a:endParaRPr lang="en-US" sz="1150" dirty="0"/>
          </a:p>
        </p:txBody>
      </p:sp>
      <p:sp>
        <p:nvSpPr>
          <p:cNvPr id="11" name="Text 8"/>
          <p:cNvSpPr/>
          <p:nvPr/>
        </p:nvSpPr>
        <p:spPr>
          <a:xfrm>
            <a:off x="2697480" y="3291840"/>
            <a:ext cx="3063240" cy="457200"/>
          </a:xfrm>
          <a:prstGeom prst="rect">
            <a:avLst/>
          </a:prstGeom>
          <a:noFill/>
          <a:ln/>
        </p:spPr>
        <p:txBody>
          <a:bodyPr wrap="square" lIns="0" tIns="0" rIns="0" bIns="0" rtlCol="0" anchor="t"/>
          <a:lstStyle/>
          <a:p>
            <a:pPr marL="0" indent="0">
              <a:buNone/>
            </a:pPr>
            <a:r>
              <a:rPr lang="en-US" sz="1150" dirty="0">
                <a:solidFill>
                  <a:srgbClr val="0F172A"/>
                </a:solidFill>
                <a:latin typeface="Calibri" pitchFamily="34" charset="0"/>
                <a:ea typeface="Calibri" pitchFamily="34" charset="-122"/>
                <a:cs typeface="Calibri" pitchFamily="34" charset="-120"/>
              </a:rPr>
              <a:t>Maksimum ± 6 Gbps</a:t>
            </a:r>
            <a:endParaRPr lang="en-US" sz="1150" dirty="0"/>
          </a:p>
        </p:txBody>
      </p:sp>
      <p:sp>
        <p:nvSpPr>
          <p:cNvPr id="12" name="Text 9"/>
          <p:cNvSpPr/>
          <p:nvPr/>
        </p:nvSpPr>
        <p:spPr>
          <a:xfrm>
            <a:off x="1097280" y="3886200"/>
            <a:ext cx="1554480" cy="457200"/>
          </a:xfrm>
          <a:prstGeom prst="rect">
            <a:avLst/>
          </a:prstGeom>
          <a:noFill/>
          <a:ln/>
        </p:spPr>
        <p:txBody>
          <a:bodyPr wrap="square" lIns="0" tIns="0" rIns="0" bIns="0" rtlCol="0" anchor="t"/>
          <a:lstStyle/>
          <a:p>
            <a:pPr marL="0" indent="0">
              <a:buNone/>
            </a:pPr>
            <a:r>
              <a:rPr lang="en-US" sz="1150" b="1" dirty="0">
                <a:solidFill>
                  <a:srgbClr val="64748B"/>
                </a:solidFill>
                <a:latin typeface="Calibri" pitchFamily="34" charset="0"/>
                <a:ea typeface="Calibri" pitchFamily="34" charset="-122"/>
                <a:cs typeface="Calibri" pitchFamily="34" charset="-120"/>
              </a:rPr>
              <a:t>IOPS</a:t>
            </a:r>
            <a:endParaRPr lang="en-US" sz="1150" dirty="0"/>
          </a:p>
        </p:txBody>
      </p:sp>
      <p:sp>
        <p:nvSpPr>
          <p:cNvPr id="13" name="Text 10"/>
          <p:cNvSpPr/>
          <p:nvPr/>
        </p:nvSpPr>
        <p:spPr>
          <a:xfrm>
            <a:off x="2697480" y="3886200"/>
            <a:ext cx="3063240" cy="457200"/>
          </a:xfrm>
          <a:prstGeom prst="rect">
            <a:avLst/>
          </a:prstGeom>
          <a:noFill/>
          <a:ln/>
        </p:spPr>
        <p:txBody>
          <a:bodyPr wrap="square" lIns="0" tIns="0" rIns="0" bIns="0" rtlCol="0" anchor="t"/>
          <a:lstStyle/>
          <a:p>
            <a:pPr marL="0" indent="0">
              <a:buNone/>
            </a:pPr>
            <a:r>
              <a:rPr lang="en-US" sz="1150" dirty="0">
                <a:solidFill>
                  <a:srgbClr val="0F172A"/>
                </a:solidFill>
                <a:latin typeface="Calibri" pitchFamily="34" charset="0"/>
                <a:ea typeface="Calibri" pitchFamily="34" charset="-122"/>
                <a:cs typeface="Calibri" pitchFamily="34" charset="-120"/>
              </a:rPr>
              <a:t>± 100.000</a:t>
            </a:r>
            <a:endParaRPr lang="en-US" sz="1150" dirty="0"/>
          </a:p>
        </p:txBody>
      </p:sp>
      <p:sp>
        <p:nvSpPr>
          <p:cNvPr id="14" name="Text 11"/>
          <p:cNvSpPr/>
          <p:nvPr/>
        </p:nvSpPr>
        <p:spPr>
          <a:xfrm>
            <a:off x="1097280" y="4480560"/>
            <a:ext cx="1554480" cy="457200"/>
          </a:xfrm>
          <a:prstGeom prst="rect">
            <a:avLst/>
          </a:prstGeom>
          <a:noFill/>
          <a:ln/>
        </p:spPr>
        <p:txBody>
          <a:bodyPr wrap="square" lIns="0" tIns="0" rIns="0" bIns="0" rtlCol="0" anchor="t"/>
          <a:lstStyle/>
          <a:p>
            <a:pPr marL="0" indent="0">
              <a:buNone/>
            </a:pPr>
            <a:r>
              <a:rPr lang="en-US" sz="1150" b="1" dirty="0">
                <a:solidFill>
                  <a:srgbClr val="64748B"/>
                </a:solidFill>
                <a:latin typeface="Calibri" pitchFamily="34" charset="0"/>
                <a:ea typeface="Calibri" pitchFamily="34" charset="-122"/>
                <a:cs typeface="Calibri" pitchFamily="34" charset="-120"/>
              </a:rPr>
              <a:t>Latensi</a:t>
            </a:r>
            <a:endParaRPr lang="en-US" sz="1150" dirty="0"/>
          </a:p>
        </p:txBody>
      </p:sp>
      <p:sp>
        <p:nvSpPr>
          <p:cNvPr id="15" name="Text 12"/>
          <p:cNvSpPr/>
          <p:nvPr/>
        </p:nvSpPr>
        <p:spPr>
          <a:xfrm>
            <a:off x="2697480" y="4480560"/>
            <a:ext cx="3063240" cy="457200"/>
          </a:xfrm>
          <a:prstGeom prst="rect">
            <a:avLst/>
          </a:prstGeom>
          <a:noFill/>
          <a:ln/>
        </p:spPr>
        <p:txBody>
          <a:bodyPr wrap="square" lIns="0" tIns="0" rIns="0" bIns="0" rtlCol="0" anchor="t"/>
          <a:lstStyle/>
          <a:p>
            <a:pPr marL="0" indent="0">
              <a:buNone/>
            </a:pPr>
            <a:r>
              <a:rPr lang="en-US" sz="1150" dirty="0">
                <a:solidFill>
                  <a:srgbClr val="0F172A"/>
                </a:solidFill>
                <a:latin typeface="Calibri" pitchFamily="34" charset="0"/>
                <a:ea typeface="Calibri" pitchFamily="34" charset="-122"/>
                <a:cs typeface="Calibri" pitchFamily="34" charset="-120"/>
              </a:rPr>
              <a:t>&gt; 100 µs (± 36 µs kelas enterprise)</a:t>
            </a:r>
            <a:endParaRPr lang="en-US" sz="1150" dirty="0"/>
          </a:p>
        </p:txBody>
      </p:sp>
      <p:sp>
        <p:nvSpPr>
          <p:cNvPr id="16" name="Text 13"/>
          <p:cNvSpPr/>
          <p:nvPr/>
        </p:nvSpPr>
        <p:spPr>
          <a:xfrm>
            <a:off x="1097280" y="5074920"/>
            <a:ext cx="1554480" cy="457200"/>
          </a:xfrm>
          <a:prstGeom prst="rect">
            <a:avLst/>
          </a:prstGeom>
          <a:noFill/>
          <a:ln/>
        </p:spPr>
        <p:txBody>
          <a:bodyPr wrap="square" lIns="0" tIns="0" rIns="0" bIns="0" rtlCol="0" anchor="t"/>
          <a:lstStyle/>
          <a:p>
            <a:pPr marL="0" indent="0">
              <a:buNone/>
            </a:pPr>
            <a:r>
              <a:rPr lang="en-US" sz="1150" b="1" dirty="0">
                <a:solidFill>
                  <a:srgbClr val="64748B"/>
                </a:solidFill>
                <a:latin typeface="Calibri" pitchFamily="34" charset="0"/>
                <a:ea typeface="Calibri" pitchFamily="34" charset="-122"/>
                <a:cs typeface="Calibri" pitchFamily="34" charset="-120"/>
              </a:rPr>
              <a:t>Cocok untuk</a:t>
            </a:r>
            <a:endParaRPr lang="en-US" sz="1150" dirty="0"/>
          </a:p>
        </p:txBody>
      </p:sp>
      <p:sp>
        <p:nvSpPr>
          <p:cNvPr id="17" name="Text 14"/>
          <p:cNvSpPr/>
          <p:nvPr/>
        </p:nvSpPr>
        <p:spPr>
          <a:xfrm>
            <a:off x="2697480" y="5074920"/>
            <a:ext cx="3063240" cy="457200"/>
          </a:xfrm>
          <a:prstGeom prst="rect">
            <a:avLst/>
          </a:prstGeom>
          <a:noFill/>
          <a:ln/>
        </p:spPr>
        <p:txBody>
          <a:bodyPr wrap="square" lIns="0" tIns="0" rIns="0" bIns="0" rtlCol="0" anchor="t"/>
          <a:lstStyle/>
          <a:p>
            <a:pPr marL="0" indent="0">
              <a:buNone/>
            </a:pPr>
            <a:r>
              <a:rPr lang="en-US" sz="1150" dirty="0">
                <a:solidFill>
                  <a:srgbClr val="0F172A"/>
                </a:solidFill>
                <a:latin typeface="Calibri" pitchFamily="34" charset="0"/>
                <a:ea typeface="Calibri" pitchFamily="34" charset="-122"/>
                <a:cs typeface="Calibri" pitchFamily="34" charset="-120"/>
              </a:rPr>
              <a:t>Office, browsing, multimedia ringan</a:t>
            </a:r>
            <a:endParaRPr lang="en-US" sz="1150" dirty="0"/>
          </a:p>
        </p:txBody>
      </p:sp>
      <p:sp>
        <p:nvSpPr>
          <p:cNvPr id="18" name="Shape 15"/>
          <p:cNvSpPr/>
          <p:nvPr/>
        </p:nvSpPr>
        <p:spPr>
          <a:xfrm>
            <a:off x="6309360" y="1554480"/>
            <a:ext cx="5212080" cy="4434840"/>
          </a:xfrm>
          <a:prstGeom prst="roundRect">
            <a:avLst>
              <a:gd name="adj" fmla="val 2062"/>
            </a:avLst>
          </a:prstGeom>
          <a:solidFill>
            <a:srgbClr val="1E1B4B"/>
          </a:solidFill>
          <a:ln/>
          <a:effectLst>
            <a:outerShdw blurRad="101600" dist="25400" dir="5400000" algn="bl" rotWithShape="0">
              <a:srgbClr val="0F172A">
                <a:alpha val="10000"/>
              </a:srgbClr>
            </a:outerShdw>
          </a:effectLst>
        </p:spPr>
      </p:sp>
      <p:sp>
        <p:nvSpPr>
          <p:cNvPr id="19" name="Shape 16"/>
          <p:cNvSpPr/>
          <p:nvPr/>
        </p:nvSpPr>
        <p:spPr>
          <a:xfrm>
            <a:off x="6583680" y="1828800"/>
            <a:ext cx="640080" cy="640080"/>
          </a:xfrm>
          <a:prstGeom prst="ellipse">
            <a:avLst/>
          </a:prstGeom>
          <a:solidFill>
            <a:srgbClr val="22D3EE"/>
          </a:solidFill>
          <a:ln/>
        </p:spPr>
      </p:sp>
      <p:pic>
        <p:nvPicPr>
          <p:cNvPr id="20" name="Image 1" descr="/home/claude/pptx/assets/bolt_navy.png"/>
          <p:cNvPicPr>
            <a:picLocks noChangeAspect="1"/>
          </p:cNvPicPr>
          <p:nvPr/>
        </p:nvPicPr>
        <p:blipFill>
          <a:blip r:embed="rId4"/>
          <a:stretch>
            <a:fillRect/>
          </a:stretch>
        </p:blipFill>
        <p:spPr>
          <a:xfrm>
            <a:off x="6737299" y="1982419"/>
            <a:ext cx="332842" cy="332842"/>
          </a:xfrm>
          <a:prstGeom prst="rect">
            <a:avLst/>
          </a:prstGeom>
        </p:spPr>
      </p:pic>
      <p:sp>
        <p:nvSpPr>
          <p:cNvPr id="21" name="Text 17"/>
          <p:cNvSpPr/>
          <p:nvPr/>
        </p:nvSpPr>
        <p:spPr>
          <a:xfrm>
            <a:off x="7406640" y="1920240"/>
            <a:ext cx="3657600" cy="457200"/>
          </a:xfrm>
          <a:prstGeom prst="rect">
            <a:avLst/>
          </a:prstGeom>
          <a:noFill/>
          <a:ln/>
        </p:spPr>
        <p:txBody>
          <a:bodyPr wrap="square" lIns="0" tIns="0" rIns="0" bIns="0" rtlCol="0" anchor="ctr"/>
          <a:lstStyle/>
          <a:p>
            <a:pPr marL="0" indent="0">
              <a:buNone/>
            </a:pPr>
            <a:r>
              <a:rPr lang="en-US" sz="1900" b="1" dirty="0">
                <a:solidFill>
                  <a:srgbClr val="F1F5F9"/>
                </a:solidFill>
                <a:latin typeface="Cambria" pitchFamily="34" charset="0"/>
                <a:ea typeface="Cambria" pitchFamily="34" charset="-122"/>
                <a:cs typeface="Cambria" pitchFamily="34" charset="-120"/>
              </a:rPr>
              <a:t>SSD NVMe</a:t>
            </a:r>
            <a:endParaRPr lang="en-US" sz="1900" dirty="0"/>
          </a:p>
        </p:txBody>
      </p:sp>
      <p:sp>
        <p:nvSpPr>
          <p:cNvPr id="22" name="Text 18"/>
          <p:cNvSpPr/>
          <p:nvPr/>
        </p:nvSpPr>
        <p:spPr>
          <a:xfrm>
            <a:off x="6583680" y="2697480"/>
            <a:ext cx="1554480" cy="457200"/>
          </a:xfrm>
          <a:prstGeom prst="rect">
            <a:avLst/>
          </a:prstGeom>
          <a:noFill/>
          <a:ln/>
        </p:spPr>
        <p:txBody>
          <a:bodyPr wrap="square" lIns="0" tIns="0" rIns="0" bIns="0" rtlCol="0" anchor="t"/>
          <a:lstStyle/>
          <a:p>
            <a:pPr marL="0" indent="0">
              <a:buNone/>
            </a:pPr>
            <a:r>
              <a:rPr lang="en-US" sz="1150" b="1" dirty="0">
                <a:solidFill>
                  <a:srgbClr val="94A3B8"/>
                </a:solidFill>
                <a:latin typeface="Calibri" pitchFamily="34" charset="0"/>
                <a:ea typeface="Calibri" pitchFamily="34" charset="-122"/>
                <a:cs typeface="Calibri" pitchFamily="34" charset="-120"/>
              </a:rPr>
              <a:t>Protokol</a:t>
            </a:r>
            <a:endParaRPr lang="en-US" sz="1150" dirty="0"/>
          </a:p>
        </p:txBody>
      </p:sp>
      <p:sp>
        <p:nvSpPr>
          <p:cNvPr id="23" name="Text 19"/>
          <p:cNvSpPr/>
          <p:nvPr/>
        </p:nvSpPr>
        <p:spPr>
          <a:xfrm>
            <a:off x="8183880" y="2697480"/>
            <a:ext cx="3063240" cy="457200"/>
          </a:xfrm>
          <a:prstGeom prst="rect">
            <a:avLst/>
          </a:prstGeom>
          <a:noFill/>
          <a:ln/>
        </p:spPr>
        <p:txBody>
          <a:bodyPr wrap="square" lIns="0" tIns="0" rIns="0" bIns="0" rtlCol="0" anchor="t"/>
          <a:lstStyle/>
          <a:p>
            <a:pPr marL="0" indent="0">
              <a:buNone/>
            </a:pPr>
            <a:r>
              <a:rPr lang="en-US" sz="1150" dirty="0">
                <a:solidFill>
                  <a:srgbClr val="F1F5F9"/>
                </a:solidFill>
                <a:latin typeface="Calibri" pitchFamily="34" charset="0"/>
                <a:ea typeface="Calibri" pitchFamily="34" charset="-122"/>
                <a:cs typeface="Calibri" pitchFamily="34" charset="-120"/>
              </a:rPr>
              <a:t>Native PCIe, ribuan antrian paralel</a:t>
            </a:r>
            <a:endParaRPr lang="en-US" sz="1150" dirty="0"/>
          </a:p>
        </p:txBody>
      </p:sp>
      <p:sp>
        <p:nvSpPr>
          <p:cNvPr id="24" name="Text 20"/>
          <p:cNvSpPr/>
          <p:nvPr/>
        </p:nvSpPr>
        <p:spPr>
          <a:xfrm>
            <a:off x="6583680" y="3291840"/>
            <a:ext cx="1554480" cy="457200"/>
          </a:xfrm>
          <a:prstGeom prst="rect">
            <a:avLst/>
          </a:prstGeom>
          <a:noFill/>
          <a:ln/>
        </p:spPr>
        <p:txBody>
          <a:bodyPr wrap="square" lIns="0" tIns="0" rIns="0" bIns="0" rtlCol="0" anchor="t"/>
          <a:lstStyle/>
          <a:p>
            <a:pPr marL="0" indent="0">
              <a:buNone/>
            </a:pPr>
            <a:r>
              <a:rPr lang="en-US" sz="1150" b="1" dirty="0">
                <a:solidFill>
                  <a:srgbClr val="94A3B8"/>
                </a:solidFill>
                <a:latin typeface="Calibri" pitchFamily="34" charset="0"/>
                <a:ea typeface="Calibri" pitchFamily="34" charset="-122"/>
                <a:cs typeface="Calibri" pitchFamily="34" charset="-120"/>
              </a:rPr>
              <a:t>Throughput</a:t>
            </a:r>
            <a:endParaRPr lang="en-US" sz="1150" dirty="0"/>
          </a:p>
        </p:txBody>
      </p:sp>
      <p:sp>
        <p:nvSpPr>
          <p:cNvPr id="25" name="Text 21"/>
          <p:cNvSpPr/>
          <p:nvPr/>
        </p:nvSpPr>
        <p:spPr>
          <a:xfrm>
            <a:off x="8183880" y="3291840"/>
            <a:ext cx="3063240" cy="457200"/>
          </a:xfrm>
          <a:prstGeom prst="rect">
            <a:avLst/>
          </a:prstGeom>
          <a:noFill/>
          <a:ln/>
        </p:spPr>
        <p:txBody>
          <a:bodyPr wrap="square" lIns="0" tIns="0" rIns="0" bIns="0" rtlCol="0" anchor="t"/>
          <a:lstStyle/>
          <a:p>
            <a:pPr marL="0" indent="0">
              <a:buNone/>
            </a:pPr>
            <a:r>
              <a:rPr lang="en-US" sz="1150" dirty="0">
                <a:solidFill>
                  <a:srgbClr val="F1F5F9"/>
                </a:solidFill>
                <a:latin typeface="Calibri" pitchFamily="34" charset="0"/>
                <a:ea typeface="Calibri" pitchFamily="34" charset="-122"/>
                <a:cs typeface="Calibri" pitchFamily="34" charset="-120"/>
              </a:rPr>
              <a:t>Bergantung jalur PCIe (Gen3 - Gen5)</a:t>
            </a:r>
            <a:endParaRPr lang="en-US" sz="1150" dirty="0"/>
          </a:p>
        </p:txBody>
      </p:sp>
      <p:sp>
        <p:nvSpPr>
          <p:cNvPr id="26" name="Text 22"/>
          <p:cNvSpPr/>
          <p:nvPr/>
        </p:nvSpPr>
        <p:spPr>
          <a:xfrm>
            <a:off x="6583680" y="3886200"/>
            <a:ext cx="1554480" cy="457200"/>
          </a:xfrm>
          <a:prstGeom prst="rect">
            <a:avLst/>
          </a:prstGeom>
          <a:noFill/>
          <a:ln/>
        </p:spPr>
        <p:txBody>
          <a:bodyPr wrap="square" lIns="0" tIns="0" rIns="0" bIns="0" rtlCol="0" anchor="t"/>
          <a:lstStyle/>
          <a:p>
            <a:pPr marL="0" indent="0">
              <a:buNone/>
            </a:pPr>
            <a:r>
              <a:rPr lang="en-US" sz="1150" b="1" dirty="0">
                <a:solidFill>
                  <a:srgbClr val="94A3B8"/>
                </a:solidFill>
                <a:latin typeface="Calibri" pitchFamily="34" charset="0"/>
                <a:ea typeface="Calibri" pitchFamily="34" charset="-122"/>
                <a:cs typeface="Calibri" pitchFamily="34" charset="-120"/>
              </a:rPr>
              <a:t>IOPS</a:t>
            </a:r>
            <a:endParaRPr lang="en-US" sz="1150" dirty="0"/>
          </a:p>
        </p:txBody>
      </p:sp>
      <p:sp>
        <p:nvSpPr>
          <p:cNvPr id="27" name="Text 23"/>
          <p:cNvSpPr/>
          <p:nvPr/>
        </p:nvSpPr>
        <p:spPr>
          <a:xfrm>
            <a:off x="8183880" y="3886200"/>
            <a:ext cx="3063240" cy="457200"/>
          </a:xfrm>
          <a:prstGeom prst="rect">
            <a:avLst/>
          </a:prstGeom>
          <a:noFill/>
          <a:ln/>
        </p:spPr>
        <p:txBody>
          <a:bodyPr wrap="square" lIns="0" tIns="0" rIns="0" bIns="0" rtlCol="0" anchor="t"/>
          <a:lstStyle/>
          <a:p>
            <a:pPr marL="0" indent="0">
              <a:buNone/>
            </a:pPr>
            <a:r>
              <a:rPr lang="en-US" sz="1150" dirty="0">
                <a:solidFill>
                  <a:srgbClr val="F1F5F9"/>
                </a:solidFill>
                <a:latin typeface="Calibri" pitchFamily="34" charset="0"/>
                <a:ea typeface="Calibri" pitchFamily="34" charset="-122"/>
                <a:cs typeface="Calibri" pitchFamily="34" charset="-120"/>
              </a:rPr>
              <a:t>Dapat melampaui 1.000.000</a:t>
            </a:r>
            <a:endParaRPr lang="en-US" sz="1150" dirty="0"/>
          </a:p>
        </p:txBody>
      </p:sp>
      <p:sp>
        <p:nvSpPr>
          <p:cNvPr id="28" name="Text 24"/>
          <p:cNvSpPr/>
          <p:nvPr/>
        </p:nvSpPr>
        <p:spPr>
          <a:xfrm>
            <a:off x="6583680" y="4480560"/>
            <a:ext cx="1554480" cy="457200"/>
          </a:xfrm>
          <a:prstGeom prst="rect">
            <a:avLst/>
          </a:prstGeom>
          <a:noFill/>
          <a:ln/>
        </p:spPr>
        <p:txBody>
          <a:bodyPr wrap="square" lIns="0" tIns="0" rIns="0" bIns="0" rtlCol="0" anchor="t"/>
          <a:lstStyle/>
          <a:p>
            <a:pPr marL="0" indent="0">
              <a:buNone/>
            </a:pPr>
            <a:r>
              <a:rPr lang="en-US" sz="1150" b="1" dirty="0">
                <a:solidFill>
                  <a:srgbClr val="94A3B8"/>
                </a:solidFill>
                <a:latin typeface="Calibri" pitchFamily="34" charset="0"/>
                <a:ea typeface="Calibri" pitchFamily="34" charset="-122"/>
                <a:cs typeface="Calibri" pitchFamily="34" charset="-120"/>
              </a:rPr>
              <a:t>Latensi</a:t>
            </a:r>
            <a:endParaRPr lang="en-US" sz="1150" dirty="0"/>
          </a:p>
        </p:txBody>
      </p:sp>
      <p:sp>
        <p:nvSpPr>
          <p:cNvPr id="29" name="Text 25"/>
          <p:cNvSpPr/>
          <p:nvPr/>
        </p:nvSpPr>
        <p:spPr>
          <a:xfrm>
            <a:off x="8183880" y="4480560"/>
            <a:ext cx="3063240" cy="457200"/>
          </a:xfrm>
          <a:prstGeom prst="rect">
            <a:avLst/>
          </a:prstGeom>
          <a:noFill/>
          <a:ln/>
        </p:spPr>
        <p:txBody>
          <a:bodyPr wrap="square" lIns="0" tIns="0" rIns="0" bIns="0" rtlCol="0" anchor="t"/>
          <a:lstStyle/>
          <a:p>
            <a:pPr marL="0" indent="0">
              <a:buNone/>
            </a:pPr>
            <a:r>
              <a:rPr lang="en-US" sz="1150" dirty="0">
                <a:solidFill>
                  <a:srgbClr val="F1F5F9"/>
                </a:solidFill>
                <a:latin typeface="Calibri" pitchFamily="34" charset="0"/>
                <a:ea typeface="Calibri" pitchFamily="34" charset="-122"/>
                <a:cs typeface="Calibri" pitchFamily="34" charset="-120"/>
              </a:rPr>
              <a:t>Serendah ± 5 µs</a:t>
            </a:r>
            <a:endParaRPr lang="en-US" sz="1150" dirty="0"/>
          </a:p>
        </p:txBody>
      </p:sp>
      <p:sp>
        <p:nvSpPr>
          <p:cNvPr id="30" name="Text 26"/>
          <p:cNvSpPr/>
          <p:nvPr/>
        </p:nvSpPr>
        <p:spPr>
          <a:xfrm>
            <a:off x="6583680" y="5074920"/>
            <a:ext cx="1554480" cy="457200"/>
          </a:xfrm>
          <a:prstGeom prst="rect">
            <a:avLst/>
          </a:prstGeom>
          <a:noFill/>
          <a:ln/>
        </p:spPr>
        <p:txBody>
          <a:bodyPr wrap="square" lIns="0" tIns="0" rIns="0" bIns="0" rtlCol="0" anchor="t"/>
          <a:lstStyle/>
          <a:p>
            <a:pPr marL="0" indent="0">
              <a:buNone/>
            </a:pPr>
            <a:r>
              <a:rPr lang="en-US" sz="1150" b="1" dirty="0">
                <a:solidFill>
                  <a:srgbClr val="94A3B8"/>
                </a:solidFill>
                <a:latin typeface="Calibri" pitchFamily="34" charset="0"/>
                <a:ea typeface="Calibri" pitchFamily="34" charset="-122"/>
                <a:cs typeface="Calibri" pitchFamily="34" charset="-120"/>
              </a:rPr>
              <a:t>Cocok untuk</a:t>
            </a:r>
            <a:endParaRPr lang="en-US" sz="1150" dirty="0"/>
          </a:p>
        </p:txBody>
      </p:sp>
      <p:sp>
        <p:nvSpPr>
          <p:cNvPr id="31" name="Text 27"/>
          <p:cNvSpPr/>
          <p:nvPr/>
        </p:nvSpPr>
        <p:spPr>
          <a:xfrm>
            <a:off x="8183880" y="5074920"/>
            <a:ext cx="3063240" cy="457200"/>
          </a:xfrm>
          <a:prstGeom prst="rect">
            <a:avLst/>
          </a:prstGeom>
          <a:noFill/>
          <a:ln/>
        </p:spPr>
        <p:txBody>
          <a:bodyPr wrap="square" lIns="0" tIns="0" rIns="0" bIns="0" rtlCol="0" anchor="t"/>
          <a:lstStyle/>
          <a:p>
            <a:pPr marL="0" indent="0">
              <a:buNone/>
            </a:pPr>
            <a:r>
              <a:rPr lang="en-US" sz="1150" dirty="0">
                <a:solidFill>
                  <a:srgbClr val="F1F5F9"/>
                </a:solidFill>
                <a:latin typeface="Calibri" pitchFamily="34" charset="0"/>
                <a:ea typeface="Calibri" pitchFamily="34" charset="-122"/>
                <a:cs typeface="Calibri" pitchFamily="34" charset="-120"/>
              </a:rPr>
              <a:t>Gaming, editing video, development</a:t>
            </a:r>
            <a:endParaRPr lang="en-US" sz="1150" dirty="0"/>
          </a:p>
        </p:txBody>
      </p:sp>
      <p:sp>
        <p:nvSpPr>
          <p:cNvPr id="32" name="Text 28"/>
          <p:cNvSpPr/>
          <p:nvPr/>
        </p:nvSpPr>
        <p:spPr>
          <a:xfrm>
            <a:off x="822960" y="6263640"/>
            <a:ext cx="10424160" cy="274320"/>
          </a:xfrm>
          <a:prstGeom prst="rect">
            <a:avLst/>
          </a:prstGeom>
          <a:noFill/>
          <a:ln/>
        </p:spPr>
        <p:txBody>
          <a:bodyPr wrap="square" lIns="0" tIns="0" rIns="0" bIns="0"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Sumber: TechTarget (2024); ServerMania (2026); Atlantic.net (2026); 1gbits (2026)</a:t>
            </a:r>
            <a:endParaRPr lang="en-US" sz="950" dirty="0"/>
          </a:p>
        </p:txBody>
      </p:sp>
      <p:sp>
        <p:nvSpPr>
          <p:cNvPr id="33" name="Text 29"/>
          <p:cNvSpPr/>
          <p:nvPr/>
        </p:nvSpPr>
        <p:spPr>
          <a:xfrm>
            <a:off x="11338560" y="640080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822960" y="566928"/>
            <a:ext cx="5486400" cy="320040"/>
          </a:xfrm>
          <a:prstGeom prst="rect">
            <a:avLst/>
          </a:prstGeom>
          <a:noFill/>
          <a:ln/>
        </p:spPr>
        <p:txBody>
          <a:bodyPr wrap="square" lIns="0" tIns="0" rIns="0" bIns="0" rtlCol="0" anchor="ctr"/>
          <a:lstStyle/>
          <a:p>
            <a:pPr marL="0" indent="0">
              <a:buNone/>
            </a:pPr>
            <a:r>
              <a:rPr lang="en-US" sz="1250" b="1" kern="0" spc="200" dirty="0">
                <a:solidFill>
                  <a:srgbClr val="312E81"/>
                </a:solidFill>
                <a:latin typeface="Calibri" pitchFamily="34" charset="0"/>
                <a:ea typeface="Calibri" pitchFamily="34" charset="-122"/>
                <a:cs typeface="Calibri" pitchFamily="34" charset="-120"/>
              </a:rPr>
              <a:t>BAB III . PERANCANGAN MODEL</a:t>
            </a:r>
            <a:endParaRPr lang="en-US" sz="1250" dirty="0"/>
          </a:p>
        </p:txBody>
      </p:sp>
      <p:sp>
        <p:nvSpPr>
          <p:cNvPr id="3" name="Text 1"/>
          <p:cNvSpPr/>
          <p:nvPr/>
        </p:nvSpPr>
        <p:spPr>
          <a:xfrm>
            <a:off x="822960" y="914400"/>
            <a:ext cx="10515600" cy="822960"/>
          </a:xfrm>
          <a:prstGeom prst="rect">
            <a:avLst/>
          </a:prstGeom>
          <a:noFill/>
          <a:ln/>
        </p:spPr>
        <p:txBody>
          <a:bodyPr wrap="square" lIns="0" tIns="0" rIns="0" bIns="0" rtlCol="0" anchor="t"/>
          <a:lstStyle/>
          <a:p>
            <a:pPr marL="0" indent="0">
              <a:buNone/>
            </a:pPr>
            <a:r>
              <a:rPr lang="en-US" sz="2400" b="1" dirty="0">
                <a:solidFill>
                  <a:srgbClr val="1E1B4B"/>
                </a:solidFill>
                <a:latin typeface="Cambria" pitchFamily="34" charset="0"/>
                <a:ea typeface="Cambria" pitchFamily="34" charset="-122"/>
                <a:cs typeface="Cambria" pitchFamily="34" charset="-120"/>
              </a:rPr>
              <a:t>Model 1 — Perceptron untuk Klasifikasi Kompatibilitas</a:t>
            </a:r>
            <a:endParaRPr lang="en-US" sz="2400" dirty="0"/>
          </a:p>
        </p:txBody>
      </p:sp>
      <p:sp>
        <p:nvSpPr>
          <p:cNvPr id="4" name="Shape 2"/>
          <p:cNvSpPr/>
          <p:nvPr/>
        </p:nvSpPr>
        <p:spPr>
          <a:xfrm>
            <a:off x="822960" y="1536192"/>
            <a:ext cx="1920240" cy="585216"/>
          </a:xfrm>
          <a:prstGeom prst="roundRect">
            <a:avLst>
              <a:gd name="adj" fmla="val 12500"/>
            </a:avLst>
          </a:prstGeom>
          <a:solidFill>
            <a:srgbClr val="FFFFFF"/>
          </a:solidFill>
          <a:ln w="12700">
            <a:solidFill>
              <a:srgbClr val="CBD5E1"/>
            </a:solidFill>
            <a:prstDash val="solid"/>
          </a:ln>
        </p:spPr>
      </p:sp>
      <p:sp>
        <p:nvSpPr>
          <p:cNvPr id="5" name="Text 3"/>
          <p:cNvSpPr/>
          <p:nvPr/>
        </p:nvSpPr>
        <p:spPr>
          <a:xfrm>
            <a:off x="914400" y="1536192"/>
            <a:ext cx="457200" cy="585216"/>
          </a:xfrm>
          <a:prstGeom prst="rect">
            <a:avLst/>
          </a:prstGeom>
          <a:noFill/>
          <a:ln/>
        </p:spPr>
        <p:txBody>
          <a:bodyPr wrap="square" lIns="0" tIns="0" rIns="0" bIns="0" rtlCol="0" anchor="ctr"/>
          <a:lstStyle/>
          <a:p>
            <a:pPr marL="0" indent="0" algn="ctr">
              <a:buNone/>
            </a:pPr>
            <a:r>
              <a:rPr lang="en-US" sz="1500" b="1" dirty="0">
                <a:solidFill>
                  <a:srgbClr val="4C1D95"/>
                </a:solidFill>
                <a:latin typeface="Cambria" pitchFamily="34" charset="0"/>
                <a:ea typeface="Cambria" pitchFamily="34" charset="-122"/>
                <a:cs typeface="Cambria" pitchFamily="34" charset="-120"/>
              </a:rPr>
              <a:t>x1</a:t>
            </a:r>
            <a:endParaRPr lang="en-US" sz="1500" dirty="0"/>
          </a:p>
        </p:txBody>
      </p:sp>
      <p:sp>
        <p:nvSpPr>
          <p:cNvPr id="6" name="Text 4"/>
          <p:cNvSpPr/>
          <p:nvPr/>
        </p:nvSpPr>
        <p:spPr>
          <a:xfrm>
            <a:off x="1371600" y="1536192"/>
            <a:ext cx="1325880" cy="585216"/>
          </a:xfrm>
          <a:prstGeom prst="rect">
            <a:avLst/>
          </a:prstGeom>
          <a:noFill/>
          <a:ln/>
        </p:spPr>
        <p:txBody>
          <a:bodyPr wrap="square" lIns="25400" tIns="25400" rIns="25400" bIns="25400" rtlCol="0" anchor="ctr"/>
          <a:lstStyle/>
          <a:p>
            <a:pPr marL="0" indent="0" algn="l">
              <a:buNone/>
            </a:pPr>
            <a:r>
              <a:rPr lang="en-US" sz="900" dirty="0">
                <a:solidFill>
                  <a:srgbClr val="0F172A"/>
                </a:solidFill>
                <a:latin typeface="Calibri" pitchFamily="34" charset="0"/>
                <a:ea typeface="Calibri" pitchFamily="34" charset="-122"/>
                <a:cs typeface="Calibri" pitchFamily="34" charset="-120"/>
              </a:rPr>
              <a:t>Jenis Slot Laptop</a:t>
            </a:r>
            <a:endParaRPr lang="en-US" sz="900" dirty="0"/>
          </a:p>
        </p:txBody>
      </p:sp>
      <p:sp>
        <p:nvSpPr>
          <p:cNvPr id="7" name="Shape 5"/>
          <p:cNvSpPr/>
          <p:nvPr/>
        </p:nvSpPr>
        <p:spPr>
          <a:xfrm>
            <a:off x="2743200" y="1828800"/>
            <a:ext cx="2148840" cy="1417320"/>
          </a:xfrm>
          <a:prstGeom prst="line">
            <a:avLst/>
          </a:prstGeom>
          <a:noFill/>
          <a:ln w="19050">
            <a:solidFill>
              <a:srgbClr val="94A3B8"/>
            </a:solidFill>
            <a:prstDash val="solid"/>
          </a:ln>
        </p:spPr>
      </p:sp>
      <p:sp>
        <p:nvSpPr>
          <p:cNvPr id="8" name="Shape 6"/>
          <p:cNvSpPr/>
          <p:nvPr/>
        </p:nvSpPr>
        <p:spPr>
          <a:xfrm>
            <a:off x="822960" y="2953512"/>
            <a:ext cx="1920240" cy="585216"/>
          </a:xfrm>
          <a:prstGeom prst="roundRect">
            <a:avLst>
              <a:gd name="adj" fmla="val 12500"/>
            </a:avLst>
          </a:prstGeom>
          <a:solidFill>
            <a:srgbClr val="FFFFFF"/>
          </a:solidFill>
          <a:ln w="12700">
            <a:solidFill>
              <a:srgbClr val="CBD5E1"/>
            </a:solidFill>
            <a:prstDash val="solid"/>
          </a:ln>
        </p:spPr>
      </p:sp>
      <p:sp>
        <p:nvSpPr>
          <p:cNvPr id="9" name="Text 7"/>
          <p:cNvSpPr/>
          <p:nvPr/>
        </p:nvSpPr>
        <p:spPr>
          <a:xfrm>
            <a:off x="914400" y="2953512"/>
            <a:ext cx="457200" cy="585216"/>
          </a:xfrm>
          <a:prstGeom prst="rect">
            <a:avLst/>
          </a:prstGeom>
          <a:noFill/>
          <a:ln/>
        </p:spPr>
        <p:txBody>
          <a:bodyPr wrap="square" lIns="0" tIns="0" rIns="0" bIns="0" rtlCol="0" anchor="ctr"/>
          <a:lstStyle/>
          <a:p>
            <a:pPr marL="0" indent="0" algn="ctr">
              <a:buNone/>
            </a:pPr>
            <a:r>
              <a:rPr lang="en-US" sz="1500" b="1" dirty="0">
                <a:solidFill>
                  <a:srgbClr val="4C1D95"/>
                </a:solidFill>
                <a:latin typeface="Cambria" pitchFamily="34" charset="0"/>
                <a:ea typeface="Cambria" pitchFamily="34" charset="-122"/>
                <a:cs typeface="Cambria" pitchFamily="34" charset="-120"/>
              </a:rPr>
              <a:t>x2</a:t>
            </a:r>
            <a:endParaRPr lang="en-US" sz="1500" dirty="0"/>
          </a:p>
        </p:txBody>
      </p:sp>
      <p:sp>
        <p:nvSpPr>
          <p:cNvPr id="10" name="Text 8"/>
          <p:cNvSpPr/>
          <p:nvPr/>
        </p:nvSpPr>
        <p:spPr>
          <a:xfrm>
            <a:off x="1371600" y="2953512"/>
            <a:ext cx="1325880" cy="585216"/>
          </a:xfrm>
          <a:prstGeom prst="rect">
            <a:avLst/>
          </a:prstGeom>
          <a:noFill/>
          <a:ln/>
        </p:spPr>
        <p:txBody>
          <a:bodyPr wrap="square" lIns="25400" tIns="25400" rIns="25400" bIns="25400" rtlCol="0" anchor="ctr"/>
          <a:lstStyle/>
          <a:p>
            <a:pPr marL="0" indent="0" algn="l">
              <a:buNone/>
            </a:pPr>
            <a:r>
              <a:rPr lang="en-US" sz="900" dirty="0">
                <a:solidFill>
                  <a:srgbClr val="0F172A"/>
                </a:solidFill>
                <a:latin typeface="Calibri" pitchFamily="34" charset="0"/>
                <a:ea typeface="Calibri" pitchFamily="34" charset="-122"/>
                <a:cs typeface="Calibri" pitchFamily="34" charset="-120"/>
              </a:rPr>
              <a:t>Dukungan NVMe Motherboard</a:t>
            </a:r>
            <a:endParaRPr lang="en-US" sz="900" dirty="0"/>
          </a:p>
        </p:txBody>
      </p:sp>
      <p:sp>
        <p:nvSpPr>
          <p:cNvPr id="11" name="Shape 9"/>
          <p:cNvSpPr/>
          <p:nvPr/>
        </p:nvSpPr>
        <p:spPr>
          <a:xfrm>
            <a:off x="2743200" y="3246120"/>
            <a:ext cx="2148840" cy="914"/>
          </a:xfrm>
          <a:prstGeom prst="line">
            <a:avLst/>
          </a:prstGeom>
          <a:noFill/>
          <a:ln w="19050">
            <a:solidFill>
              <a:srgbClr val="94A3B8"/>
            </a:solidFill>
            <a:prstDash val="solid"/>
          </a:ln>
        </p:spPr>
      </p:sp>
      <p:sp>
        <p:nvSpPr>
          <p:cNvPr id="12" name="Shape 10"/>
          <p:cNvSpPr/>
          <p:nvPr/>
        </p:nvSpPr>
        <p:spPr>
          <a:xfrm>
            <a:off x="822960" y="4370832"/>
            <a:ext cx="1920240" cy="585216"/>
          </a:xfrm>
          <a:prstGeom prst="roundRect">
            <a:avLst>
              <a:gd name="adj" fmla="val 12500"/>
            </a:avLst>
          </a:prstGeom>
          <a:solidFill>
            <a:srgbClr val="FFFFFF"/>
          </a:solidFill>
          <a:ln w="12700">
            <a:solidFill>
              <a:srgbClr val="CBD5E1"/>
            </a:solidFill>
            <a:prstDash val="solid"/>
          </a:ln>
        </p:spPr>
      </p:sp>
      <p:sp>
        <p:nvSpPr>
          <p:cNvPr id="13" name="Text 11"/>
          <p:cNvSpPr/>
          <p:nvPr/>
        </p:nvSpPr>
        <p:spPr>
          <a:xfrm>
            <a:off x="914400" y="4370832"/>
            <a:ext cx="457200" cy="585216"/>
          </a:xfrm>
          <a:prstGeom prst="rect">
            <a:avLst/>
          </a:prstGeom>
          <a:noFill/>
          <a:ln/>
        </p:spPr>
        <p:txBody>
          <a:bodyPr wrap="square" lIns="0" tIns="0" rIns="0" bIns="0" rtlCol="0" anchor="ctr"/>
          <a:lstStyle/>
          <a:p>
            <a:pPr marL="0" indent="0" algn="ctr">
              <a:buNone/>
            </a:pPr>
            <a:r>
              <a:rPr lang="en-US" sz="1500" b="1" dirty="0">
                <a:solidFill>
                  <a:srgbClr val="4C1D95"/>
                </a:solidFill>
                <a:latin typeface="Cambria" pitchFamily="34" charset="0"/>
                <a:ea typeface="Cambria" pitchFamily="34" charset="-122"/>
                <a:cs typeface="Cambria" pitchFamily="34" charset="-120"/>
              </a:rPr>
              <a:t>x3</a:t>
            </a:r>
            <a:endParaRPr lang="en-US" sz="1500" dirty="0"/>
          </a:p>
        </p:txBody>
      </p:sp>
      <p:sp>
        <p:nvSpPr>
          <p:cNvPr id="14" name="Text 12"/>
          <p:cNvSpPr/>
          <p:nvPr/>
        </p:nvSpPr>
        <p:spPr>
          <a:xfrm>
            <a:off x="1371600" y="4370832"/>
            <a:ext cx="1325880" cy="585216"/>
          </a:xfrm>
          <a:prstGeom prst="rect">
            <a:avLst/>
          </a:prstGeom>
          <a:noFill/>
          <a:ln/>
        </p:spPr>
        <p:txBody>
          <a:bodyPr wrap="square" lIns="25400" tIns="25400" rIns="25400" bIns="25400" rtlCol="0" anchor="ctr"/>
          <a:lstStyle/>
          <a:p>
            <a:pPr marL="0" indent="0" algn="l">
              <a:buNone/>
            </a:pPr>
            <a:r>
              <a:rPr lang="en-US" sz="900" dirty="0">
                <a:solidFill>
                  <a:srgbClr val="0F172A"/>
                </a:solidFill>
                <a:latin typeface="Calibri" pitchFamily="34" charset="0"/>
                <a:ea typeface="Calibri" pitchFamily="34" charset="-122"/>
                <a:cs typeface="Calibri" pitchFamily="34" charset="-120"/>
              </a:rPr>
              <a:t>Jenis SSD (NVMe/SATA)</a:t>
            </a:r>
            <a:endParaRPr lang="en-US" sz="900" dirty="0"/>
          </a:p>
        </p:txBody>
      </p:sp>
      <p:sp>
        <p:nvSpPr>
          <p:cNvPr id="15" name="Shape 13"/>
          <p:cNvSpPr/>
          <p:nvPr/>
        </p:nvSpPr>
        <p:spPr>
          <a:xfrm flipV="1">
            <a:off x="2743200" y="3246120"/>
            <a:ext cx="2148840" cy="1417320"/>
          </a:xfrm>
          <a:prstGeom prst="line">
            <a:avLst/>
          </a:prstGeom>
          <a:noFill/>
          <a:ln w="19050">
            <a:solidFill>
              <a:srgbClr val="94A3B8"/>
            </a:solidFill>
            <a:prstDash val="solid"/>
          </a:ln>
        </p:spPr>
      </p:sp>
      <p:sp>
        <p:nvSpPr>
          <p:cNvPr id="16" name="Shape 14"/>
          <p:cNvSpPr/>
          <p:nvPr/>
        </p:nvSpPr>
        <p:spPr>
          <a:xfrm>
            <a:off x="4389120" y="2743200"/>
            <a:ext cx="1005840" cy="1005840"/>
          </a:xfrm>
          <a:prstGeom prst="ellipse">
            <a:avLst/>
          </a:prstGeom>
          <a:solidFill>
            <a:srgbClr val="1E1B4B"/>
          </a:solidFill>
          <a:ln/>
          <a:effectLst>
            <a:outerShdw blurRad="101600" dist="25400" dir="5400000" algn="bl" rotWithShape="0">
              <a:srgbClr val="0F172A">
                <a:alpha val="10000"/>
              </a:srgbClr>
            </a:outerShdw>
          </a:effectLst>
        </p:spPr>
      </p:sp>
      <p:sp>
        <p:nvSpPr>
          <p:cNvPr id="17" name="Text 15"/>
          <p:cNvSpPr/>
          <p:nvPr/>
        </p:nvSpPr>
        <p:spPr>
          <a:xfrm>
            <a:off x="4389120" y="2743200"/>
            <a:ext cx="1005840" cy="1005840"/>
          </a:xfrm>
          <a:prstGeom prst="rect">
            <a:avLst/>
          </a:prstGeom>
          <a:noFill/>
          <a:ln/>
        </p:spPr>
        <p:txBody>
          <a:bodyPr wrap="square" lIns="0" tIns="0" rIns="0" bIns="0" rtlCol="0" anchor="ctr"/>
          <a:lstStyle/>
          <a:p>
            <a:pPr marL="0" indent="0" algn="ctr">
              <a:buNone/>
            </a:pPr>
            <a:r>
              <a:rPr lang="en-US" sz="1500" b="1" dirty="0">
                <a:solidFill>
                  <a:srgbClr val="22D3EE"/>
                </a:solidFill>
                <a:latin typeface="Cambria" pitchFamily="34" charset="0"/>
                <a:ea typeface="Cambria" pitchFamily="34" charset="-122"/>
                <a:cs typeface="Cambria" pitchFamily="34" charset="-120"/>
              </a:rPr>
              <a:t>f(net)</a:t>
            </a:r>
            <a:endParaRPr lang="en-US" sz="1500" dirty="0"/>
          </a:p>
        </p:txBody>
      </p:sp>
      <p:sp>
        <p:nvSpPr>
          <p:cNvPr id="18" name="Shape 16"/>
          <p:cNvSpPr/>
          <p:nvPr/>
        </p:nvSpPr>
        <p:spPr>
          <a:xfrm>
            <a:off x="5394960" y="3246120"/>
            <a:ext cx="731520" cy="914"/>
          </a:xfrm>
          <a:prstGeom prst="line">
            <a:avLst/>
          </a:prstGeom>
          <a:noFill/>
          <a:ln w="25400">
            <a:solidFill>
              <a:srgbClr val="22D3EE"/>
            </a:solidFill>
            <a:prstDash val="solid"/>
          </a:ln>
        </p:spPr>
      </p:sp>
      <p:sp>
        <p:nvSpPr>
          <p:cNvPr id="19" name="Shape 17"/>
          <p:cNvSpPr/>
          <p:nvPr/>
        </p:nvSpPr>
        <p:spPr>
          <a:xfrm>
            <a:off x="6172200" y="2926080"/>
            <a:ext cx="1554480" cy="640080"/>
          </a:xfrm>
          <a:prstGeom prst="roundRect">
            <a:avLst>
              <a:gd name="adj" fmla="val 11429"/>
            </a:avLst>
          </a:prstGeom>
          <a:solidFill>
            <a:srgbClr val="E0FBFF"/>
          </a:solidFill>
          <a:ln w="12700">
            <a:solidFill>
              <a:srgbClr val="22D3EE"/>
            </a:solidFill>
            <a:prstDash val="solid"/>
          </a:ln>
        </p:spPr>
      </p:sp>
      <p:sp>
        <p:nvSpPr>
          <p:cNvPr id="20" name="Text 18"/>
          <p:cNvSpPr/>
          <p:nvPr/>
        </p:nvSpPr>
        <p:spPr>
          <a:xfrm>
            <a:off x="6172200" y="2926080"/>
            <a:ext cx="1554480" cy="640080"/>
          </a:xfrm>
          <a:prstGeom prst="rect">
            <a:avLst/>
          </a:prstGeom>
          <a:noFill/>
          <a:ln/>
        </p:spPr>
        <p:txBody>
          <a:bodyPr wrap="square" lIns="25400" tIns="25400" rIns="25400" bIns="25400" rtlCol="0" anchor="ctr"/>
          <a:lstStyle/>
          <a:p>
            <a:pPr marL="0" indent="0" algn="ctr">
              <a:buNone/>
            </a:pPr>
            <a:r>
              <a:rPr lang="en-US" sz="1000" b="1" dirty="0">
                <a:solidFill>
                  <a:srgbClr val="1E1B4B"/>
                </a:solidFill>
                <a:latin typeface="Calibri" pitchFamily="34" charset="0"/>
                <a:ea typeface="Calibri" pitchFamily="34" charset="-122"/>
                <a:cs typeface="Calibri" pitchFamily="34" charset="-120"/>
              </a:rPr>
              <a:t>Kompatibel /</a:t>
            </a:r>
            <a:endParaRPr lang="en-US" sz="1000" dirty="0"/>
          </a:p>
          <a:p>
            <a:pPr marL="0" indent="0" algn="ctr">
              <a:buNone/>
            </a:pPr>
            <a:r>
              <a:rPr lang="en-US" sz="1000" b="1" dirty="0">
                <a:solidFill>
                  <a:srgbClr val="1E1B4B"/>
                </a:solidFill>
                <a:latin typeface="Calibri" pitchFamily="34" charset="0"/>
                <a:ea typeface="Calibri" pitchFamily="34" charset="-122"/>
                <a:cs typeface="Calibri" pitchFamily="34" charset="-120"/>
              </a:rPr>
              <a:t>Tidak Kompatibel</a:t>
            </a:r>
            <a:endParaRPr lang="en-US" sz="1000" dirty="0"/>
          </a:p>
        </p:txBody>
      </p:sp>
      <p:sp>
        <p:nvSpPr>
          <p:cNvPr id="21" name="Text 19"/>
          <p:cNvSpPr/>
          <p:nvPr/>
        </p:nvSpPr>
        <p:spPr>
          <a:xfrm>
            <a:off x="822960" y="4937760"/>
            <a:ext cx="6766560" cy="32004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Arsitektur Perceptron satu lapis (3 input, 1 output)</a:t>
            </a:r>
            <a:endParaRPr lang="en-US" sz="1100" dirty="0"/>
          </a:p>
        </p:txBody>
      </p:sp>
      <p:sp>
        <p:nvSpPr>
          <p:cNvPr id="22" name="Shape 20"/>
          <p:cNvSpPr/>
          <p:nvPr/>
        </p:nvSpPr>
        <p:spPr>
          <a:xfrm>
            <a:off x="7909560" y="1554480"/>
            <a:ext cx="3429000" cy="4526280"/>
          </a:xfrm>
          <a:prstGeom prst="roundRect">
            <a:avLst>
              <a:gd name="adj" fmla="val 2667"/>
            </a:avLst>
          </a:prstGeom>
          <a:solidFill>
            <a:srgbClr val="1E1B4B"/>
          </a:solidFill>
          <a:ln/>
          <a:effectLst>
            <a:outerShdw blurRad="101600" dist="25400" dir="5400000" algn="bl" rotWithShape="0">
              <a:srgbClr val="0F172A">
                <a:alpha val="10000"/>
              </a:srgbClr>
            </a:outerShdw>
          </a:effectLst>
        </p:spPr>
      </p:sp>
      <p:sp>
        <p:nvSpPr>
          <p:cNvPr id="23" name="Text 21"/>
          <p:cNvSpPr/>
          <p:nvPr/>
        </p:nvSpPr>
        <p:spPr>
          <a:xfrm>
            <a:off x="8183880" y="1783080"/>
            <a:ext cx="2880360" cy="365760"/>
          </a:xfrm>
          <a:prstGeom prst="rect">
            <a:avLst/>
          </a:prstGeom>
          <a:noFill/>
          <a:ln/>
        </p:spPr>
        <p:txBody>
          <a:bodyPr wrap="square" lIns="0" tIns="0" rIns="0" bIns="0" rtlCol="0" anchor="ctr"/>
          <a:lstStyle/>
          <a:p>
            <a:pPr marL="0" indent="0">
              <a:buNone/>
            </a:pPr>
            <a:r>
              <a:rPr lang="en-US" sz="1600" b="1" dirty="0">
                <a:solidFill>
                  <a:srgbClr val="F1F5F9"/>
                </a:solidFill>
                <a:latin typeface="Cambria" pitchFamily="34" charset="0"/>
                <a:ea typeface="Cambria" pitchFamily="34" charset="-122"/>
                <a:cs typeface="Cambria" pitchFamily="34" charset="-120"/>
              </a:rPr>
              <a:t>Parameter Pelatihan</a:t>
            </a:r>
            <a:endParaRPr lang="en-US" sz="1600" dirty="0"/>
          </a:p>
        </p:txBody>
      </p:sp>
      <p:sp>
        <p:nvSpPr>
          <p:cNvPr id="24" name="Text 22"/>
          <p:cNvSpPr/>
          <p:nvPr/>
        </p:nvSpPr>
        <p:spPr>
          <a:xfrm>
            <a:off x="8183880" y="2331720"/>
            <a:ext cx="2880360" cy="274320"/>
          </a:xfrm>
          <a:prstGeom prst="rect">
            <a:avLst/>
          </a:prstGeom>
          <a:noFill/>
          <a:ln/>
        </p:spPr>
        <p:txBody>
          <a:bodyPr wrap="square" lIns="0" tIns="0" rIns="0" bIns="0" rtlCol="0" anchor="ctr"/>
          <a:lstStyle/>
          <a:p>
            <a:pPr marL="0" indent="0">
              <a:buNone/>
            </a:pPr>
            <a:r>
              <a:rPr lang="en-US" sz="1150" b="1" dirty="0">
                <a:solidFill>
                  <a:srgbClr val="22D3EE"/>
                </a:solidFill>
                <a:latin typeface="Calibri" pitchFamily="34" charset="0"/>
                <a:ea typeface="Calibri" pitchFamily="34" charset="-122"/>
                <a:cs typeface="Calibri" pitchFamily="34" charset="-120"/>
              </a:rPr>
              <a:t>Fungsi Aktivasi</a:t>
            </a:r>
            <a:endParaRPr lang="en-US" sz="1150" dirty="0"/>
          </a:p>
        </p:txBody>
      </p:sp>
      <p:sp>
        <p:nvSpPr>
          <p:cNvPr id="25" name="Text 23"/>
          <p:cNvSpPr/>
          <p:nvPr/>
        </p:nvSpPr>
        <p:spPr>
          <a:xfrm>
            <a:off x="8183880" y="2606040"/>
            <a:ext cx="2880360" cy="411480"/>
          </a:xfrm>
          <a:prstGeom prst="rect">
            <a:avLst/>
          </a:prstGeom>
          <a:noFill/>
          <a:ln/>
        </p:spPr>
        <p:txBody>
          <a:bodyPr wrap="square" lIns="0" tIns="0" rIns="0" bIns="0" rtlCol="0" anchor="ctr"/>
          <a:lstStyle/>
          <a:p>
            <a:pPr marL="0" indent="0">
              <a:buNone/>
            </a:pPr>
            <a:r>
              <a:rPr lang="en-US" sz="1150" dirty="0">
                <a:solidFill>
                  <a:srgbClr val="E2E8F0"/>
                </a:solidFill>
                <a:latin typeface="Calibri" pitchFamily="34" charset="0"/>
                <a:ea typeface="Calibri" pitchFamily="34" charset="-122"/>
                <a:cs typeface="Calibri" pitchFamily="34" charset="-120"/>
              </a:rPr>
              <a:t>Step function (Heaviside)</a:t>
            </a:r>
            <a:endParaRPr lang="en-US" sz="1150" dirty="0"/>
          </a:p>
        </p:txBody>
      </p:sp>
      <p:sp>
        <p:nvSpPr>
          <p:cNvPr id="26" name="Text 24"/>
          <p:cNvSpPr/>
          <p:nvPr/>
        </p:nvSpPr>
        <p:spPr>
          <a:xfrm>
            <a:off x="8183880" y="3108960"/>
            <a:ext cx="2880360" cy="274320"/>
          </a:xfrm>
          <a:prstGeom prst="rect">
            <a:avLst/>
          </a:prstGeom>
          <a:noFill/>
          <a:ln/>
        </p:spPr>
        <p:txBody>
          <a:bodyPr wrap="square" lIns="0" tIns="0" rIns="0" bIns="0" rtlCol="0" anchor="ctr"/>
          <a:lstStyle/>
          <a:p>
            <a:pPr marL="0" indent="0">
              <a:buNone/>
            </a:pPr>
            <a:r>
              <a:rPr lang="en-US" sz="1150" b="1" dirty="0">
                <a:solidFill>
                  <a:srgbClr val="22D3EE"/>
                </a:solidFill>
                <a:latin typeface="Calibri" pitchFamily="34" charset="0"/>
                <a:ea typeface="Calibri" pitchFamily="34" charset="-122"/>
                <a:cs typeface="Calibri" pitchFamily="34" charset="-120"/>
              </a:rPr>
              <a:t>Learning Rate (α)</a:t>
            </a:r>
            <a:endParaRPr lang="en-US" sz="1150" dirty="0"/>
          </a:p>
        </p:txBody>
      </p:sp>
      <p:sp>
        <p:nvSpPr>
          <p:cNvPr id="27" name="Text 25"/>
          <p:cNvSpPr/>
          <p:nvPr/>
        </p:nvSpPr>
        <p:spPr>
          <a:xfrm>
            <a:off x="8183880" y="3383280"/>
            <a:ext cx="2880360" cy="411480"/>
          </a:xfrm>
          <a:prstGeom prst="rect">
            <a:avLst/>
          </a:prstGeom>
          <a:noFill/>
          <a:ln/>
        </p:spPr>
        <p:txBody>
          <a:bodyPr wrap="square" lIns="0" tIns="0" rIns="0" bIns="0" rtlCol="0" anchor="ctr"/>
          <a:lstStyle/>
          <a:p>
            <a:pPr marL="0" indent="0">
              <a:buNone/>
            </a:pPr>
            <a:r>
              <a:rPr lang="en-US" sz="1150" dirty="0">
                <a:solidFill>
                  <a:srgbClr val="E2E8F0"/>
                </a:solidFill>
                <a:latin typeface="Calibri" pitchFamily="34" charset="0"/>
                <a:ea typeface="Calibri" pitchFamily="34" charset="-122"/>
                <a:cs typeface="Calibri" pitchFamily="34" charset="-120"/>
              </a:rPr>
              <a:t>0,1</a:t>
            </a:r>
            <a:endParaRPr lang="en-US" sz="1150" dirty="0"/>
          </a:p>
        </p:txBody>
      </p:sp>
      <p:sp>
        <p:nvSpPr>
          <p:cNvPr id="28" name="Text 26"/>
          <p:cNvSpPr/>
          <p:nvPr/>
        </p:nvSpPr>
        <p:spPr>
          <a:xfrm>
            <a:off x="8183880" y="3886200"/>
            <a:ext cx="2880360" cy="274320"/>
          </a:xfrm>
          <a:prstGeom prst="rect">
            <a:avLst/>
          </a:prstGeom>
          <a:noFill/>
          <a:ln/>
        </p:spPr>
        <p:txBody>
          <a:bodyPr wrap="square" lIns="0" tIns="0" rIns="0" bIns="0" rtlCol="0" anchor="ctr"/>
          <a:lstStyle/>
          <a:p>
            <a:pPr marL="0" indent="0">
              <a:buNone/>
            </a:pPr>
            <a:r>
              <a:rPr lang="en-US" sz="1150" b="1" dirty="0">
                <a:solidFill>
                  <a:srgbClr val="22D3EE"/>
                </a:solidFill>
                <a:latin typeface="Calibri" pitchFamily="34" charset="0"/>
                <a:ea typeface="Calibri" pitchFamily="34" charset="-122"/>
                <a:cs typeface="Calibri" pitchFamily="34" charset="-120"/>
              </a:rPr>
              <a:t>Epoch Maksimum</a:t>
            </a:r>
            <a:endParaRPr lang="en-US" sz="1150" dirty="0"/>
          </a:p>
        </p:txBody>
      </p:sp>
      <p:sp>
        <p:nvSpPr>
          <p:cNvPr id="29" name="Text 27"/>
          <p:cNvSpPr/>
          <p:nvPr/>
        </p:nvSpPr>
        <p:spPr>
          <a:xfrm>
            <a:off x="8183880" y="4160520"/>
            <a:ext cx="2880360" cy="411480"/>
          </a:xfrm>
          <a:prstGeom prst="rect">
            <a:avLst/>
          </a:prstGeom>
          <a:noFill/>
          <a:ln/>
        </p:spPr>
        <p:txBody>
          <a:bodyPr wrap="square" lIns="0" tIns="0" rIns="0" bIns="0" rtlCol="0" anchor="ctr"/>
          <a:lstStyle/>
          <a:p>
            <a:pPr marL="0" indent="0">
              <a:buNone/>
            </a:pPr>
            <a:r>
              <a:rPr lang="en-US" sz="1150" dirty="0">
                <a:solidFill>
                  <a:srgbClr val="E2E8F0"/>
                </a:solidFill>
                <a:latin typeface="Calibri" pitchFamily="34" charset="0"/>
                <a:ea typeface="Calibri" pitchFamily="34" charset="-122"/>
                <a:cs typeface="Calibri" pitchFamily="34" charset="-120"/>
              </a:rPr>
              <a:t>100 (early stopping)</a:t>
            </a:r>
            <a:endParaRPr lang="en-US" sz="1150" dirty="0"/>
          </a:p>
        </p:txBody>
      </p:sp>
      <p:sp>
        <p:nvSpPr>
          <p:cNvPr id="30" name="Text 28"/>
          <p:cNvSpPr/>
          <p:nvPr/>
        </p:nvSpPr>
        <p:spPr>
          <a:xfrm>
            <a:off x="8183880" y="4663440"/>
            <a:ext cx="2880360" cy="274320"/>
          </a:xfrm>
          <a:prstGeom prst="rect">
            <a:avLst/>
          </a:prstGeom>
          <a:noFill/>
          <a:ln/>
        </p:spPr>
        <p:txBody>
          <a:bodyPr wrap="square" lIns="0" tIns="0" rIns="0" bIns="0" rtlCol="0" anchor="ctr"/>
          <a:lstStyle/>
          <a:p>
            <a:pPr marL="0" indent="0">
              <a:buNone/>
            </a:pPr>
            <a:r>
              <a:rPr lang="en-US" sz="1150" b="1" dirty="0">
                <a:solidFill>
                  <a:srgbClr val="22D3EE"/>
                </a:solidFill>
                <a:latin typeface="Calibri" pitchFamily="34" charset="0"/>
                <a:ea typeface="Calibri" pitchFamily="34" charset="-122"/>
                <a:cs typeface="Calibri" pitchFamily="34" charset="-120"/>
              </a:rPr>
              <a:t>Aturan Update</a:t>
            </a:r>
            <a:endParaRPr lang="en-US" sz="1150" dirty="0"/>
          </a:p>
        </p:txBody>
      </p:sp>
      <p:sp>
        <p:nvSpPr>
          <p:cNvPr id="31" name="Text 29"/>
          <p:cNvSpPr/>
          <p:nvPr/>
        </p:nvSpPr>
        <p:spPr>
          <a:xfrm>
            <a:off x="8183880" y="4937760"/>
            <a:ext cx="2880360" cy="411480"/>
          </a:xfrm>
          <a:prstGeom prst="rect">
            <a:avLst/>
          </a:prstGeom>
          <a:noFill/>
          <a:ln/>
        </p:spPr>
        <p:txBody>
          <a:bodyPr wrap="square" lIns="0" tIns="0" rIns="0" bIns="0" rtlCol="0" anchor="ctr"/>
          <a:lstStyle/>
          <a:p>
            <a:pPr marL="0" indent="0">
              <a:buNone/>
            </a:pPr>
            <a:r>
              <a:rPr lang="en-US" sz="1150" dirty="0">
                <a:solidFill>
                  <a:srgbClr val="E2E8F0"/>
                </a:solidFill>
                <a:latin typeface="Calibri" pitchFamily="34" charset="0"/>
                <a:ea typeface="Calibri" pitchFamily="34" charset="-122"/>
                <a:cs typeface="Calibri" pitchFamily="34" charset="-120"/>
              </a:rPr>
              <a:t>Δw = α(target − output)xᵢ</a:t>
            </a:r>
            <a:endParaRPr lang="en-US" sz="1150" dirty="0"/>
          </a:p>
        </p:txBody>
      </p:sp>
      <p:sp>
        <p:nvSpPr>
          <p:cNvPr id="32" name="Text 30"/>
          <p:cNvSpPr/>
          <p:nvPr/>
        </p:nvSpPr>
        <p:spPr>
          <a:xfrm>
            <a:off x="8183880" y="5440680"/>
            <a:ext cx="2880360" cy="274320"/>
          </a:xfrm>
          <a:prstGeom prst="rect">
            <a:avLst/>
          </a:prstGeom>
          <a:noFill/>
          <a:ln/>
        </p:spPr>
        <p:txBody>
          <a:bodyPr wrap="square" lIns="0" tIns="0" rIns="0" bIns="0" rtlCol="0" anchor="ctr"/>
          <a:lstStyle/>
          <a:p>
            <a:pPr marL="0" indent="0">
              <a:buNone/>
            </a:pPr>
            <a:r>
              <a:rPr lang="en-US" sz="1150" b="1" dirty="0">
                <a:solidFill>
                  <a:srgbClr val="22D3EE"/>
                </a:solidFill>
                <a:latin typeface="Calibri" pitchFamily="34" charset="0"/>
                <a:ea typeface="Calibri" pitchFamily="34" charset="-122"/>
                <a:cs typeface="Calibri" pitchFamily="34" charset="-120"/>
              </a:rPr>
              <a:t>Sifat Data</a:t>
            </a:r>
            <a:endParaRPr lang="en-US" sz="1150" dirty="0"/>
          </a:p>
        </p:txBody>
      </p:sp>
      <p:sp>
        <p:nvSpPr>
          <p:cNvPr id="33" name="Text 31"/>
          <p:cNvSpPr/>
          <p:nvPr/>
        </p:nvSpPr>
        <p:spPr>
          <a:xfrm>
            <a:off x="8183880" y="5715000"/>
            <a:ext cx="2880360" cy="411480"/>
          </a:xfrm>
          <a:prstGeom prst="rect">
            <a:avLst/>
          </a:prstGeom>
          <a:noFill/>
          <a:ln/>
        </p:spPr>
        <p:txBody>
          <a:bodyPr wrap="square" lIns="0" tIns="0" rIns="0" bIns="0" rtlCol="0" anchor="ctr"/>
          <a:lstStyle/>
          <a:p>
            <a:pPr marL="0" indent="0">
              <a:buNone/>
            </a:pPr>
            <a:r>
              <a:rPr lang="en-US" sz="1150" dirty="0">
                <a:solidFill>
                  <a:srgbClr val="E2E8F0"/>
                </a:solidFill>
                <a:latin typeface="Calibri" pitchFamily="34" charset="0"/>
                <a:ea typeface="Calibri" pitchFamily="34" charset="-122"/>
                <a:cs typeface="Calibri" pitchFamily="34" charset="-120"/>
              </a:rPr>
              <a:t>Linearly separable (terbukti pada Bab IV)</a:t>
            </a:r>
            <a:endParaRPr lang="en-US" sz="1150" dirty="0"/>
          </a:p>
        </p:txBody>
      </p:sp>
      <p:sp>
        <p:nvSpPr>
          <p:cNvPr id="34" name="Text 32"/>
          <p:cNvSpPr/>
          <p:nvPr/>
        </p:nvSpPr>
        <p:spPr>
          <a:xfrm>
            <a:off x="11338560" y="640080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822960" y="566928"/>
            <a:ext cx="5486400" cy="320040"/>
          </a:xfrm>
          <a:prstGeom prst="rect">
            <a:avLst/>
          </a:prstGeom>
          <a:noFill/>
          <a:ln/>
        </p:spPr>
        <p:txBody>
          <a:bodyPr wrap="square" lIns="0" tIns="0" rIns="0" bIns="0" rtlCol="0" anchor="ctr"/>
          <a:lstStyle/>
          <a:p>
            <a:pPr marL="0" indent="0">
              <a:buNone/>
            </a:pPr>
            <a:r>
              <a:rPr lang="en-US" sz="1250" b="1" kern="0" spc="200" dirty="0">
                <a:solidFill>
                  <a:srgbClr val="312E81"/>
                </a:solidFill>
                <a:latin typeface="Calibri" pitchFamily="34" charset="0"/>
                <a:ea typeface="Calibri" pitchFamily="34" charset="-122"/>
                <a:cs typeface="Calibri" pitchFamily="34" charset="-120"/>
              </a:rPr>
              <a:t>BAB III . PERANCANGAN MODEL</a:t>
            </a:r>
            <a:endParaRPr lang="en-US" sz="1250" dirty="0"/>
          </a:p>
        </p:txBody>
      </p:sp>
      <p:sp>
        <p:nvSpPr>
          <p:cNvPr id="3" name="Text 1"/>
          <p:cNvSpPr/>
          <p:nvPr/>
        </p:nvSpPr>
        <p:spPr>
          <a:xfrm>
            <a:off x="822960" y="914400"/>
            <a:ext cx="10515600" cy="822960"/>
          </a:xfrm>
          <a:prstGeom prst="rect">
            <a:avLst/>
          </a:prstGeom>
          <a:noFill/>
          <a:ln/>
        </p:spPr>
        <p:txBody>
          <a:bodyPr wrap="square" lIns="0" tIns="0" rIns="0" bIns="0" rtlCol="0" anchor="t"/>
          <a:lstStyle/>
          <a:p>
            <a:pPr marL="0" indent="0">
              <a:buNone/>
            </a:pPr>
            <a:r>
              <a:rPr lang="en-US" sz="2600" b="1" dirty="0">
                <a:solidFill>
                  <a:srgbClr val="1E1B4B"/>
                </a:solidFill>
                <a:latin typeface="Cambria" pitchFamily="34" charset="0"/>
                <a:ea typeface="Cambria" pitchFamily="34" charset="-122"/>
                <a:cs typeface="Cambria" pitchFamily="34" charset="-120"/>
              </a:rPr>
              <a:t>Model 2 — LVQ untuk Rekomendasi Kategori SSD</a:t>
            </a:r>
            <a:endParaRPr lang="en-US" sz="2600" dirty="0"/>
          </a:p>
        </p:txBody>
      </p:sp>
      <p:sp>
        <p:nvSpPr>
          <p:cNvPr id="4" name="Text 2"/>
          <p:cNvSpPr/>
          <p:nvPr/>
        </p:nvSpPr>
        <p:spPr>
          <a:xfrm>
            <a:off x="822960" y="1417320"/>
            <a:ext cx="5029200" cy="320040"/>
          </a:xfrm>
          <a:prstGeom prst="rect">
            <a:avLst/>
          </a:prstGeom>
          <a:noFill/>
          <a:ln/>
        </p:spPr>
        <p:txBody>
          <a:bodyPr wrap="square" lIns="0" tIns="0" rIns="0" bIns="0" rtlCol="0" anchor="ctr"/>
          <a:lstStyle/>
          <a:p>
            <a:pPr marL="0" indent="0">
              <a:buNone/>
            </a:pPr>
            <a:r>
              <a:rPr lang="en-US" sz="1450" b="1" dirty="0">
                <a:solidFill>
                  <a:srgbClr val="1E1B4B"/>
                </a:solidFill>
                <a:latin typeface="Cambria" pitchFamily="34" charset="0"/>
                <a:ea typeface="Cambria" pitchFamily="34" charset="-122"/>
                <a:cs typeface="Cambria" pitchFamily="34" charset="-120"/>
              </a:rPr>
              <a:t>4 Input Pengguna</a:t>
            </a:r>
            <a:endParaRPr lang="en-US" sz="1450" dirty="0"/>
          </a:p>
        </p:txBody>
      </p:sp>
      <p:sp>
        <p:nvSpPr>
          <p:cNvPr id="5" name="Text 3"/>
          <p:cNvSpPr/>
          <p:nvPr/>
        </p:nvSpPr>
        <p:spPr>
          <a:xfrm>
            <a:off x="822960" y="1828800"/>
            <a:ext cx="5029200" cy="1554480"/>
          </a:xfrm>
          <a:prstGeom prst="rect">
            <a:avLst/>
          </a:prstGeom>
          <a:noFill/>
          <a:ln/>
        </p:spPr>
        <p:txBody>
          <a:bodyPr wrap="square" lIns="0" tIns="0" rIns="0" bIns="0" rtlCol="0" anchor="t"/>
          <a:lstStyle/>
          <a:p>
            <a:pPr marL="342900" indent="-342900">
              <a:lnSpc>
                <a:spcPct val="130000"/>
              </a:lnSpc>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x1 — Budget (dinormalisasi 0-1)</a:t>
            </a:r>
            <a:endParaRPr lang="en-US" sz="1250" dirty="0"/>
          </a:p>
          <a:p>
            <a:pPr marL="342900" indent="-342900">
              <a:lnSpc>
                <a:spcPct val="130000"/>
              </a:lnSpc>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x2 — Kebutuhan Penggunaan (1-4)</a:t>
            </a:r>
            <a:endParaRPr lang="en-US" sz="1250" dirty="0"/>
          </a:p>
          <a:p>
            <a:pPr marL="342900" indent="-342900">
              <a:lnSpc>
                <a:spcPct val="130000"/>
              </a:lnSpc>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x3 — Kapasitas yang Diinginkan (dinormalisasi)</a:t>
            </a:r>
            <a:endParaRPr lang="en-US" sz="1250" dirty="0"/>
          </a:p>
          <a:p>
            <a:pPr marL="342900" indent="-342900">
              <a:lnSpc>
                <a:spcPct val="130000"/>
              </a:lnSpc>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x4 — Intensitas Pemakaian (1-3)</a:t>
            </a:r>
            <a:endParaRPr lang="en-US" sz="1250" dirty="0"/>
          </a:p>
        </p:txBody>
      </p:sp>
      <p:sp>
        <p:nvSpPr>
          <p:cNvPr id="6" name="Text 4"/>
          <p:cNvSpPr/>
          <p:nvPr/>
        </p:nvSpPr>
        <p:spPr>
          <a:xfrm>
            <a:off x="822960" y="3520440"/>
            <a:ext cx="5029200" cy="320040"/>
          </a:xfrm>
          <a:prstGeom prst="rect">
            <a:avLst/>
          </a:prstGeom>
          <a:noFill/>
          <a:ln/>
        </p:spPr>
        <p:txBody>
          <a:bodyPr wrap="square" lIns="0" tIns="0" rIns="0" bIns="0" rtlCol="0" anchor="ctr"/>
          <a:lstStyle/>
          <a:p>
            <a:pPr marL="0" indent="0">
              <a:buNone/>
            </a:pPr>
            <a:r>
              <a:rPr lang="en-US" sz="1450" b="1" dirty="0">
                <a:solidFill>
                  <a:srgbClr val="1E1B4B"/>
                </a:solidFill>
                <a:latin typeface="Cambria" pitchFamily="34" charset="0"/>
                <a:ea typeface="Cambria" pitchFamily="34" charset="-122"/>
                <a:cs typeface="Cambria" pitchFamily="34" charset="-120"/>
              </a:rPr>
              <a:t>4 Kategori Output (Prototype Vector)</a:t>
            </a:r>
            <a:endParaRPr lang="en-US" sz="1450" dirty="0"/>
          </a:p>
        </p:txBody>
      </p:sp>
      <p:sp>
        <p:nvSpPr>
          <p:cNvPr id="7" name="Shape 5"/>
          <p:cNvSpPr/>
          <p:nvPr/>
        </p:nvSpPr>
        <p:spPr>
          <a:xfrm>
            <a:off x="822960" y="3931920"/>
            <a:ext cx="1243584" cy="868680"/>
          </a:xfrm>
          <a:prstGeom prst="roundRect">
            <a:avLst>
              <a:gd name="adj" fmla="val 8421"/>
            </a:avLst>
          </a:prstGeom>
          <a:solidFill>
            <a:srgbClr val="E0FBFF"/>
          </a:solidFill>
          <a:ln/>
        </p:spPr>
      </p:sp>
      <p:sp>
        <p:nvSpPr>
          <p:cNvPr id="8" name="Text 6"/>
          <p:cNvSpPr/>
          <p:nvPr/>
        </p:nvSpPr>
        <p:spPr>
          <a:xfrm>
            <a:off x="868680" y="3931920"/>
            <a:ext cx="1152144" cy="868680"/>
          </a:xfrm>
          <a:prstGeom prst="rect">
            <a:avLst/>
          </a:prstGeom>
          <a:noFill/>
          <a:ln/>
        </p:spPr>
        <p:txBody>
          <a:bodyPr wrap="square" lIns="0" tIns="0" rIns="0" bIns="0" rtlCol="0" anchor="ctr"/>
          <a:lstStyle/>
          <a:p>
            <a:pPr marL="0" indent="0" algn="ctr">
              <a:buNone/>
            </a:pPr>
            <a:r>
              <a:rPr lang="en-US" sz="1000" b="1" dirty="0">
                <a:solidFill>
                  <a:srgbClr val="1E1B4B"/>
                </a:solidFill>
                <a:latin typeface="Calibri" pitchFamily="34" charset="0"/>
                <a:ea typeface="Calibri" pitchFamily="34" charset="-122"/>
                <a:cs typeface="Calibri" pitchFamily="34" charset="-120"/>
              </a:rPr>
              <a:t>Entry Level</a:t>
            </a:r>
            <a:endParaRPr lang="en-US" sz="1000" dirty="0"/>
          </a:p>
        </p:txBody>
      </p:sp>
      <p:sp>
        <p:nvSpPr>
          <p:cNvPr id="9" name="Shape 7"/>
          <p:cNvSpPr/>
          <p:nvPr/>
        </p:nvSpPr>
        <p:spPr>
          <a:xfrm>
            <a:off x="2121408" y="3931920"/>
            <a:ext cx="1243584" cy="868680"/>
          </a:xfrm>
          <a:prstGeom prst="roundRect">
            <a:avLst>
              <a:gd name="adj" fmla="val 8421"/>
            </a:avLst>
          </a:prstGeom>
          <a:solidFill>
            <a:srgbClr val="C7D2FE"/>
          </a:solidFill>
          <a:ln/>
        </p:spPr>
      </p:sp>
      <p:sp>
        <p:nvSpPr>
          <p:cNvPr id="10" name="Text 8"/>
          <p:cNvSpPr/>
          <p:nvPr/>
        </p:nvSpPr>
        <p:spPr>
          <a:xfrm>
            <a:off x="2167128" y="3931920"/>
            <a:ext cx="1152144" cy="868680"/>
          </a:xfrm>
          <a:prstGeom prst="rect">
            <a:avLst/>
          </a:prstGeom>
          <a:noFill/>
          <a:ln/>
        </p:spPr>
        <p:txBody>
          <a:bodyPr wrap="square" lIns="0" tIns="0" rIns="0" bIns="0" rtlCol="0" anchor="ctr"/>
          <a:lstStyle/>
          <a:p>
            <a:pPr marL="0" indent="0" algn="ctr">
              <a:buNone/>
            </a:pPr>
            <a:r>
              <a:rPr lang="en-US" sz="1000" b="1" dirty="0">
                <a:solidFill>
                  <a:srgbClr val="1E1B4B"/>
                </a:solidFill>
                <a:latin typeface="Calibri" pitchFamily="34" charset="0"/>
                <a:ea typeface="Calibri" pitchFamily="34" charset="-122"/>
                <a:cs typeface="Calibri" pitchFamily="34" charset="-120"/>
              </a:rPr>
              <a:t>Mid Range</a:t>
            </a:r>
            <a:endParaRPr lang="en-US" sz="1000" dirty="0"/>
          </a:p>
        </p:txBody>
      </p:sp>
      <p:sp>
        <p:nvSpPr>
          <p:cNvPr id="11" name="Shape 9"/>
          <p:cNvSpPr/>
          <p:nvPr/>
        </p:nvSpPr>
        <p:spPr>
          <a:xfrm>
            <a:off x="3419856" y="3931920"/>
            <a:ext cx="1243584" cy="868680"/>
          </a:xfrm>
          <a:prstGeom prst="roundRect">
            <a:avLst>
              <a:gd name="adj" fmla="val 8421"/>
            </a:avLst>
          </a:prstGeom>
          <a:solidFill>
            <a:srgbClr val="A5B4FC"/>
          </a:solidFill>
          <a:ln/>
        </p:spPr>
      </p:sp>
      <p:sp>
        <p:nvSpPr>
          <p:cNvPr id="12" name="Text 10"/>
          <p:cNvSpPr/>
          <p:nvPr/>
        </p:nvSpPr>
        <p:spPr>
          <a:xfrm>
            <a:off x="3465576" y="3931920"/>
            <a:ext cx="1152144" cy="868680"/>
          </a:xfrm>
          <a:prstGeom prst="rect">
            <a:avLst/>
          </a:prstGeom>
          <a:noFill/>
          <a:ln/>
        </p:spPr>
        <p:txBody>
          <a:bodyPr wrap="square" lIns="0" tIns="0" rIns="0" bIns="0" rtlCol="0" anchor="ctr"/>
          <a:lstStyle/>
          <a:p>
            <a:pPr marL="0" indent="0" algn="ctr">
              <a:buNone/>
            </a:pPr>
            <a:r>
              <a:rPr lang="en-US" sz="1000" b="1" dirty="0">
                <a:solidFill>
                  <a:srgbClr val="1E1B4B"/>
                </a:solidFill>
                <a:latin typeface="Calibri" pitchFamily="34" charset="0"/>
                <a:ea typeface="Calibri" pitchFamily="34" charset="-122"/>
                <a:cs typeface="Calibri" pitchFamily="34" charset="-120"/>
              </a:rPr>
              <a:t>High Performance</a:t>
            </a:r>
            <a:endParaRPr lang="en-US" sz="1000" dirty="0"/>
          </a:p>
        </p:txBody>
      </p:sp>
      <p:sp>
        <p:nvSpPr>
          <p:cNvPr id="13" name="Shape 11"/>
          <p:cNvSpPr/>
          <p:nvPr/>
        </p:nvSpPr>
        <p:spPr>
          <a:xfrm>
            <a:off x="4718304" y="3931920"/>
            <a:ext cx="1243584" cy="868680"/>
          </a:xfrm>
          <a:prstGeom prst="roundRect">
            <a:avLst>
              <a:gd name="adj" fmla="val 8421"/>
            </a:avLst>
          </a:prstGeom>
          <a:solidFill>
            <a:srgbClr val="1E1B4B"/>
          </a:solidFill>
          <a:ln/>
        </p:spPr>
      </p:sp>
      <p:sp>
        <p:nvSpPr>
          <p:cNvPr id="14" name="Text 12"/>
          <p:cNvSpPr/>
          <p:nvPr/>
        </p:nvSpPr>
        <p:spPr>
          <a:xfrm>
            <a:off x="4764024" y="3931920"/>
            <a:ext cx="1152144" cy="868680"/>
          </a:xfrm>
          <a:prstGeom prst="rect">
            <a:avLst/>
          </a:prstGeom>
          <a:noFill/>
          <a:ln/>
        </p:spPr>
        <p:txBody>
          <a:bodyPr wrap="square" lIns="0" tIns="0" rIns="0" bIns="0" rtlCol="0" anchor="ctr"/>
          <a:lstStyle/>
          <a:p>
            <a:pPr marL="0" indent="0" algn="ctr">
              <a:buNone/>
            </a:pPr>
            <a:r>
              <a:rPr lang="en-US" sz="1000" b="1" dirty="0">
                <a:solidFill>
                  <a:srgbClr val="F1F5F9"/>
                </a:solidFill>
                <a:latin typeface="Calibri" pitchFamily="34" charset="0"/>
                <a:ea typeface="Calibri" pitchFamily="34" charset="-122"/>
                <a:cs typeface="Calibri" pitchFamily="34" charset="-120"/>
              </a:rPr>
              <a:t>Professional</a:t>
            </a:r>
            <a:endParaRPr lang="en-US" sz="1000" dirty="0"/>
          </a:p>
        </p:txBody>
      </p:sp>
      <p:sp>
        <p:nvSpPr>
          <p:cNvPr id="15" name="Text 13"/>
          <p:cNvSpPr/>
          <p:nvPr/>
        </p:nvSpPr>
        <p:spPr>
          <a:xfrm>
            <a:off x="822960" y="5029200"/>
            <a:ext cx="5029200" cy="1005840"/>
          </a:xfrm>
          <a:prstGeom prst="rect">
            <a:avLst/>
          </a:prstGeom>
          <a:noFill/>
          <a:ln/>
        </p:spPr>
        <p:txBody>
          <a:bodyPr wrap="square" lIns="0" tIns="0" rIns="0" bIns="0" rtlCol="0" anchor="t"/>
          <a:lstStyle/>
          <a:p>
            <a:pPr marL="0" indent="0">
              <a:lnSpc>
                <a:spcPct val="125000"/>
              </a:lnSpc>
              <a:buNone/>
            </a:pPr>
            <a:r>
              <a:rPr lang="en-US" sz="1150" i="1" dirty="0">
                <a:solidFill>
                  <a:srgbClr val="64748B"/>
                </a:solidFill>
                <a:latin typeface="Calibri" pitchFamily="34" charset="0"/>
                <a:ea typeface="Calibri" pitchFamily="34" charset="-122"/>
                <a:cs typeface="Calibri" pitchFamily="34" charset="-120"/>
              </a:rPr>
              <a:t>Setiap data pengguna dibandingkan dengan keempat prototipe menggunakan jarak Euclidean. Prototipe terdekat (winner) menjadi kategori rekomendasi.</a:t>
            </a:r>
            <a:endParaRPr lang="en-US" sz="1150" dirty="0"/>
          </a:p>
        </p:txBody>
      </p:sp>
      <p:sp>
        <p:nvSpPr>
          <p:cNvPr id="16" name="Shape 14"/>
          <p:cNvSpPr/>
          <p:nvPr/>
        </p:nvSpPr>
        <p:spPr>
          <a:xfrm>
            <a:off x="6355080" y="1417320"/>
            <a:ext cx="4983480" cy="4663440"/>
          </a:xfrm>
          <a:prstGeom prst="roundRect">
            <a:avLst>
              <a:gd name="adj" fmla="val 1961"/>
            </a:avLst>
          </a:prstGeom>
          <a:solidFill>
            <a:srgbClr val="1E1B4B"/>
          </a:solidFill>
          <a:ln/>
          <a:effectLst>
            <a:outerShdw blurRad="101600" dist="25400" dir="5400000" algn="bl" rotWithShape="0">
              <a:srgbClr val="0F172A">
                <a:alpha val="10000"/>
              </a:srgbClr>
            </a:outerShdw>
          </a:effectLst>
        </p:spPr>
      </p:sp>
      <p:sp>
        <p:nvSpPr>
          <p:cNvPr id="17" name="Text 15"/>
          <p:cNvSpPr/>
          <p:nvPr/>
        </p:nvSpPr>
        <p:spPr>
          <a:xfrm>
            <a:off x="6629400" y="1645920"/>
            <a:ext cx="4434840" cy="365760"/>
          </a:xfrm>
          <a:prstGeom prst="rect">
            <a:avLst/>
          </a:prstGeom>
          <a:noFill/>
          <a:ln/>
        </p:spPr>
        <p:txBody>
          <a:bodyPr wrap="square" lIns="0" tIns="0" rIns="0" bIns="0" rtlCol="0" anchor="ctr"/>
          <a:lstStyle/>
          <a:p>
            <a:pPr marL="0" indent="0">
              <a:buNone/>
            </a:pPr>
            <a:r>
              <a:rPr lang="en-US" sz="1600" b="1" dirty="0">
                <a:solidFill>
                  <a:srgbClr val="F1F5F9"/>
                </a:solidFill>
                <a:latin typeface="Cambria" pitchFamily="34" charset="0"/>
                <a:ea typeface="Cambria" pitchFamily="34" charset="-122"/>
                <a:cs typeface="Cambria" pitchFamily="34" charset="-120"/>
              </a:rPr>
              <a:t>Parameter &amp; Aturan Pembelajaran</a:t>
            </a:r>
            <a:endParaRPr lang="en-US" sz="1600" dirty="0"/>
          </a:p>
        </p:txBody>
      </p:sp>
      <p:sp>
        <p:nvSpPr>
          <p:cNvPr id="18" name="Shape 16"/>
          <p:cNvSpPr/>
          <p:nvPr/>
        </p:nvSpPr>
        <p:spPr>
          <a:xfrm>
            <a:off x="6629400" y="2148840"/>
            <a:ext cx="4434840" cy="777240"/>
          </a:xfrm>
          <a:prstGeom prst="roundRect">
            <a:avLst>
              <a:gd name="adj" fmla="val 9412"/>
            </a:avLst>
          </a:prstGeom>
          <a:solidFill>
            <a:srgbClr val="312E81"/>
          </a:solidFill>
          <a:ln/>
        </p:spPr>
      </p:sp>
      <p:sp>
        <p:nvSpPr>
          <p:cNvPr id="19" name="Text 17"/>
          <p:cNvSpPr/>
          <p:nvPr/>
        </p:nvSpPr>
        <p:spPr>
          <a:xfrm>
            <a:off x="6629400" y="2240280"/>
            <a:ext cx="4434840" cy="411480"/>
          </a:xfrm>
          <a:prstGeom prst="rect">
            <a:avLst/>
          </a:prstGeom>
          <a:noFill/>
          <a:ln/>
        </p:spPr>
        <p:txBody>
          <a:bodyPr wrap="square" lIns="0" tIns="0" rIns="0" bIns="0" rtlCol="0" anchor="ctr"/>
          <a:lstStyle/>
          <a:p>
            <a:pPr marL="0" indent="0" algn="ctr">
              <a:buNone/>
            </a:pPr>
            <a:r>
              <a:rPr lang="en-US" sz="1600" dirty="0">
                <a:solidFill>
                  <a:srgbClr val="22D3EE"/>
                </a:solidFill>
                <a:latin typeface="Cambria" pitchFamily="34" charset="0"/>
                <a:ea typeface="Cambria" pitchFamily="34" charset="-122"/>
                <a:cs typeface="Cambria" pitchFamily="34" charset="-120"/>
              </a:rPr>
              <a:t>d(x, w) = √( Σ (xᵢ − wᵢ)² )</a:t>
            </a:r>
            <a:endParaRPr lang="en-US" sz="1600" dirty="0"/>
          </a:p>
        </p:txBody>
      </p:sp>
      <p:sp>
        <p:nvSpPr>
          <p:cNvPr id="20" name="Text 18"/>
          <p:cNvSpPr/>
          <p:nvPr/>
        </p:nvSpPr>
        <p:spPr>
          <a:xfrm>
            <a:off x="6629400" y="2651760"/>
            <a:ext cx="4434840" cy="228600"/>
          </a:xfrm>
          <a:prstGeom prst="rect">
            <a:avLst/>
          </a:prstGeom>
          <a:noFill/>
          <a:ln/>
        </p:spPr>
        <p:txBody>
          <a:bodyPr wrap="square" lIns="0" tIns="0" rIns="0" bIns="0" rtlCol="0" anchor="ctr"/>
          <a:lstStyle/>
          <a:p>
            <a:pPr marL="0" indent="0" algn="ctr">
              <a:buNone/>
            </a:pPr>
            <a:r>
              <a:rPr lang="en-US" sz="1000" i="1" dirty="0">
                <a:solidFill>
                  <a:srgbClr val="94A3B8"/>
                </a:solidFill>
                <a:latin typeface="Calibri" pitchFamily="34" charset="0"/>
                <a:ea typeface="Calibri" pitchFamily="34" charset="-122"/>
                <a:cs typeface="Calibri" pitchFamily="34" charset="-120"/>
              </a:rPr>
              <a:t>Euclidean Distance</a:t>
            </a:r>
            <a:endParaRPr lang="en-US" sz="1000" dirty="0"/>
          </a:p>
        </p:txBody>
      </p:sp>
      <p:sp>
        <p:nvSpPr>
          <p:cNvPr id="21" name="Text 19"/>
          <p:cNvSpPr/>
          <p:nvPr/>
        </p:nvSpPr>
        <p:spPr>
          <a:xfrm>
            <a:off x="6629400" y="3154680"/>
            <a:ext cx="4434840" cy="274320"/>
          </a:xfrm>
          <a:prstGeom prst="rect">
            <a:avLst/>
          </a:prstGeom>
          <a:noFill/>
          <a:ln/>
        </p:spPr>
        <p:txBody>
          <a:bodyPr wrap="square" lIns="0" tIns="0" rIns="0" bIns="0" rtlCol="0" anchor="ctr"/>
          <a:lstStyle/>
          <a:p>
            <a:pPr marL="0" indent="0">
              <a:buNone/>
            </a:pPr>
            <a:r>
              <a:rPr lang="en-US" sz="1150" b="1" dirty="0">
                <a:solidFill>
                  <a:srgbClr val="22D3EE"/>
                </a:solidFill>
                <a:latin typeface="Calibri" pitchFamily="34" charset="0"/>
                <a:ea typeface="Calibri" pitchFamily="34" charset="-122"/>
                <a:cs typeface="Calibri" pitchFamily="34" charset="-120"/>
              </a:rPr>
              <a:t>Update Bobot (Benar)</a:t>
            </a:r>
            <a:endParaRPr lang="en-US" sz="1150" dirty="0"/>
          </a:p>
        </p:txBody>
      </p:sp>
      <p:sp>
        <p:nvSpPr>
          <p:cNvPr id="22" name="Text 20"/>
          <p:cNvSpPr/>
          <p:nvPr/>
        </p:nvSpPr>
        <p:spPr>
          <a:xfrm>
            <a:off x="6629400" y="3429000"/>
            <a:ext cx="4434840" cy="365760"/>
          </a:xfrm>
          <a:prstGeom prst="rect">
            <a:avLst/>
          </a:prstGeom>
          <a:noFill/>
          <a:ln/>
        </p:spPr>
        <p:txBody>
          <a:bodyPr wrap="square" lIns="0" tIns="0" rIns="0" bIns="0" rtlCol="0" anchor="ctr"/>
          <a:lstStyle/>
          <a:p>
            <a:pPr marL="0" indent="0">
              <a:buNone/>
            </a:pPr>
            <a:r>
              <a:rPr lang="en-US" sz="1150" dirty="0">
                <a:solidFill>
                  <a:srgbClr val="E2E8F0"/>
                </a:solidFill>
                <a:latin typeface="Calibri" pitchFamily="34" charset="0"/>
                <a:ea typeface="Calibri" pitchFamily="34" charset="-122"/>
                <a:cs typeface="Calibri" pitchFamily="34" charset="-120"/>
              </a:rPr>
              <a:t>w_baru = w_lama + α(x − w_lama)</a:t>
            </a:r>
            <a:endParaRPr lang="en-US" sz="1150" dirty="0"/>
          </a:p>
        </p:txBody>
      </p:sp>
      <p:sp>
        <p:nvSpPr>
          <p:cNvPr id="23" name="Text 21"/>
          <p:cNvSpPr/>
          <p:nvPr/>
        </p:nvSpPr>
        <p:spPr>
          <a:xfrm>
            <a:off x="6629400" y="3867912"/>
            <a:ext cx="4434840" cy="274320"/>
          </a:xfrm>
          <a:prstGeom prst="rect">
            <a:avLst/>
          </a:prstGeom>
          <a:noFill/>
          <a:ln/>
        </p:spPr>
        <p:txBody>
          <a:bodyPr wrap="square" lIns="0" tIns="0" rIns="0" bIns="0" rtlCol="0" anchor="ctr"/>
          <a:lstStyle/>
          <a:p>
            <a:pPr marL="0" indent="0">
              <a:buNone/>
            </a:pPr>
            <a:r>
              <a:rPr lang="en-US" sz="1150" b="1" dirty="0">
                <a:solidFill>
                  <a:srgbClr val="22D3EE"/>
                </a:solidFill>
                <a:latin typeface="Calibri" pitchFamily="34" charset="0"/>
                <a:ea typeface="Calibri" pitchFamily="34" charset="-122"/>
                <a:cs typeface="Calibri" pitchFamily="34" charset="-120"/>
              </a:rPr>
              <a:t>Update Bobot (Salah)</a:t>
            </a:r>
            <a:endParaRPr lang="en-US" sz="1150" dirty="0"/>
          </a:p>
        </p:txBody>
      </p:sp>
      <p:sp>
        <p:nvSpPr>
          <p:cNvPr id="24" name="Text 22"/>
          <p:cNvSpPr/>
          <p:nvPr/>
        </p:nvSpPr>
        <p:spPr>
          <a:xfrm>
            <a:off x="6629400" y="4142232"/>
            <a:ext cx="4434840" cy="365760"/>
          </a:xfrm>
          <a:prstGeom prst="rect">
            <a:avLst/>
          </a:prstGeom>
          <a:noFill/>
          <a:ln/>
        </p:spPr>
        <p:txBody>
          <a:bodyPr wrap="square" lIns="0" tIns="0" rIns="0" bIns="0" rtlCol="0" anchor="ctr"/>
          <a:lstStyle/>
          <a:p>
            <a:pPr marL="0" indent="0">
              <a:buNone/>
            </a:pPr>
            <a:r>
              <a:rPr lang="en-US" sz="1150" dirty="0">
                <a:solidFill>
                  <a:srgbClr val="E2E8F0"/>
                </a:solidFill>
                <a:latin typeface="Calibri" pitchFamily="34" charset="0"/>
                <a:ea typeface="Calibri" pitchFamily="34" charset="-122"/>
                <a:cs typeface="Calibri" pitchFamily="34" charset="-120"/>
              </a:rPr>
              <a:t>w_baru = w_lama − α(x − w_lama)</a:t>
            </a:r>
            <a:endParaRPr lang="en-US" sz="1150" dirty="0"/>
          </a:p>
        </p:txBody>
      </p:sp>
      <p:sp>
        <p:nvSpPr>
          <p:cNvPr id="25" name="Text 23"/>
          <p:cNvSpPr/>
          <p:nvPr/>
        </p:nvSpPr>
        <p:spPr>
          <a:xfrm>
            <a:off x="6629400" y="4581144"/>
            <a:ext cx="4434840" cy="274320"/>
          </a:xfrm>
          <a:prstGeom prst="rect">
            <a:avLst/>
          </a:prstGeom>
          <a:noFill/>
          <a:ln/>
        </p:spPr>
        <p:txBody>
          <a:bodyPr wrap="square" lIns="0" tIns="0" rIns="0" bIns="0" rtlCol="0" anchor="ctr"/>
          <a:lstStyle/>
          <a:p>
            <a:pPr marL="0" indent="0">
              <a:buNone/>
            </a:pPr>
            <a:r>
              <a:rPr lang="en-US" sz="1150" b="1" dirty="0">
                <a:solidFill>
                  <a:srgbClr val="22D3EE"/>
                </a:solidFill>
                <a:latin typeface="Calibri" pitchFamily="34" charset="0"/>
                <a:ea typeface="Calibri" pitchFamily="34" charset="-122"/>
                <a:cs typeface="Calibri" pitchFamily="34" charset="-120"/>
              </a:rPr>
              <a:t>Learning Rate Awal</a:t>
            </a:r>
            <a:endParaRPr lang="en-US" sz="1150" dirty="0"/>
          </a:p>
        </p:txBody>
      </p:sp>
      <p:sp>
        <p:nvSpPr>
          <p:cNvPr id="26" name="Text 24"/>
          <p:cNvSpPr/>
          <p:nvPr/>
        </p:nvSpPr>
        <p:spPr>
          <a:xfrm>
            <a:off x="6629400" y="4855464"/>
            <a:ext cx="4434840" cy="365760"/>
          </a:xfrm>
          <a:prstGeom prst="rect">
            <a:avLst/>
          </a:prstGeom>
          <a:noFill/>
          <a:ln/>
        </p:spPr>
        <p:txBody>
          <a:bodyPr wrap="square" lIns="0" tIns="0" rIns="0" bIns="0" rtlCol="0" anchor="ctr"/>
          <a:lstStyle/>
          <a:p>
            <a:pPr marL="0" indent="0">
              <a:buNone/>
            </a:pPr>
            <a:r>
              <a:rPr lang="en-US" sz="1150" dirty="0">
                <a:solidFill>
                  <a:srgbClr val="E2E8F0"/>
                </a:solidFill>
                <a:latin typeface="Calibri" pitchFamily="34" charset="0"/>
                <a:ea typeface="Calibri" pitchFamily="34" charset="-122"/>
                <a:cs typeface="Calibri" pitchFamily="34" charset="-120"/>
              </a:rPr>
              <a:t>0,2 dengan peluruhan 0,5× setiap 10 epoch</a:t>
            </a:r>
            <a:endParaRPr lang="en-US" sz="1150" dirty="0"/>
          </a:p>
        </p:txBody>
      </p:sp>
      <p:sp>
        <p:nvSpPr>
          <p:cNvPr id="27" name="Text 25"/>
          <p:cNvSpPr/>
          <p:nvPr/>
        </p:nvSpPr>
        <p:spPr>
          <a:xfrm>
            <a:off x="6629400" y="5294376"/>
            <a:ext cx="4434840" cy="274320"/>
          </a:xfrm>
          <a:prstGeom prst="rect">
            <a:avLst/>
          </a:prstGeom>
          <a:noFill/>
          <a:ln/>
        </p:spPr>
        <p:txBody>
          <a:bodyPr wrap="square" lIns="0" tIns="0" rIns="0" bIns="0" rtlCol="0" anchor="ctr"/>
          <a:lstStyle/>
          <a:p>
            <a:pPr marL="0" indent="0">
              <a:buNone/>
            </a:pPr>
            <a:r>
              <a:rPr lang="en-US" sz="1150" b="1" dirty="0">
                <a:solidFill>
                  <a:srgbClr val="22D3EE"/>
                </a:solidFill>
                <a:latin typeface="Calibri" pitchFamily="34" charset="0"/>
                <a:ea typeface="Calibri" pitchFamily="34" charset="-122"/>
                <a:cs typeface="Calibri" pitchFamily="34" charset="-120"/>
              </a:rPr>
              <a:t>Jumlah Epoch</a:t>
            </a:r>
            <a:endParaRPr lang="en-US" sz="1150" dirty="0"/>
          </a:p>
        </p:txBody>
      </p:sp>
      <p:sp>
        <p:nvSpPr>
          <p:cNvPr id="28" name="Text 26"/>
          <p:cNvSpPr/>
          <p:nvPr/>
        </p:nvSpPr>
        <p:spPr>
          <a:xfrm>
            <a:off x="6629400" y="5568696"/>
            <a:ext cx="4434840" cy="365760"/>
          </a:xfrm>
          <a:prstGeom prst="rect">
            <a:avLst/>
          </a:prstGeom>
          <a:noFill/>
          <a:ln/>
        </p:spPr>
        <p:txBody>
          <a:bodyPr wrap="square" lIns="0" tIns="0" rIns="0" bIns="0" rtlCol="0" anchor="ctr"/>
          <a:lstStyle/>
          <a:p>
            <a:pPr marL="0" indent="0">
              <a:buNone/>
            </a:pPr>
            <a:r>
              <a:rPr lang="en-US" sz="1150" dirty="0">
                <a:solidFill>
                  <a:srgbClr val="E2E8F0"/>
                </a:solidFill>
                <a:latin typeface="Calibri" pitchFamily="34" charset="0"/>
                <a:ea typeface="Calibri" pitchFamily="34" charset="-122"/>
                <a:cs typeface="Calibri" pitchFamily="34" charset="-120"/>
              </a:rPr>
              <a:t>50 epoch</a:t>
            </a:r>
            <a:endParaRPr lang="en-US" sz="1150" dirty="0"/>
          </a:p>
        </p:txBody>
      </p:sp>
      <p:sp>
        <p:nvSpPr>
          <p:cNvPr id="29" name="Text 27"/>
          <p:cNvSpPr/>
          <p:nvPr/>
        </p:nvSpPr>
        <p:spPr>
          <a:xfrm>
            <a:off x="11338560" y="640080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822960" y="566928"/>
            <a:ext cx="5486400" cy="320040"/>
          </a:xfrm>
          <a:prstGeom prst="rect">
            <a:avLst/>
          </a:prstGeom>
          <a:noFill/>
          <a:ln/>
        </p:spPr>
        <p:txBody>
          <a:bodyPr wrap="square" lIns="0" tIns="0" rIns="0" bIns="0" rtlCol="0" anchor="ctr"/>
          <a:lstStyle/>
          <a:p>
            <a:pPr marL="0" indent="0">
              <a:buNone/>
            </a:pPr>
            <a:r>
              <a:rPr lang="en-US" sz="1250" b="1" kern="0" spc="200" dirty="0">
                <a:solidFill>
                  <a:srgbClr val="312E81"/>
                </a:solidFill>
                <a:latin typeface="Calibri" pitchFamily="34" charset="0"/>
                <a:ea typeface="Calibri" pitchFamily="34" charset="-122"/>
                <a:cs typeface="Calibri" pitchFamily="34" charset="-120"/>
              </a:rPr>
              <a:t>BAB IV . PERHITUNGAN MATEMATIS</a:t>
            </a:r>
            <a:endParaRPr lang="en-US" sz="1250" dirty="0"/>
          </a:p>
        </p:txBody>
      </p:sp>
      <p:sp>
        <p:nvSpPr>
          <p:cNvPr id="3" name="Text 1"/>
          <p:cNvSpPr/>
          <p:nvPr/>
        </p:nvSpPr>
        <p:spPr>
          <a:xfrm>
            <a:off x="822960" y="914400"/>
            <a:ext cx="10058400" cy="822960"/>
          </a:xfrm>
          <a:prstGeom prst="rect">
            <a:avLst/>
          </a:prstGeom>
          <a:noFill/>
          <a:ln/>
        </p:spPr>
        <p:txBody>
          <a:bodyPr wrap="square" lIns="0" tIns="0" rIns="0" bIns="0" rtlCol="0" anchor="t"/>
          <a:lstStyle/>
          <a:p>
            <a:pPr marL="0" indent="0">
              <a:buNone/>
            </a:pPr>
            <a:r>
              <a:rPr lang="en-US" sz="3000" b="1" dirty="0">
                <a:solidFill>
                  <a:srgbClr val="1E1B4B"/>
                </a:solidFill>
                <a:latin typeface="Cambria" pitchFamily="34" charset="0"/>
                <a:ea typeface="Cambria" pitchFamily="34" charset="-122"/>
                <a:cs typeface="Cambria" pitchFamily="34" charset="-120"/>
              </a:rPr>
              <a:t>Contoh Perhitungan Manual — Perceptron</a:t>
            </a:r>
            <a:endParaRPr lang="en-US" sz="3000" dirty="0"/>
          </a:p>
        </p:txBody>
      </p:sp>
      <p:sp>
        <p:nvSpPr>
          <p:cNvPr id="4" name="Text 2"/>
          <p:cNvSpPr/>
          <p:nvPr/>
        </p:nvSpPr>
        <p:spPr>
          <a:xfrm>
            <a:off x="822960" y="1371600"/>
            <a:ext cx="10424160" cy="36576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Kasus: SSD NVMe dipasang pada laptop tanpa dukungan slot NVMe (seharusnya Tidak Kompatibel)</a:t>
            </a:r>
            <a:endParaRPr lang="en-US" sz="1300" dirty="0"/>
          </a:p>
        </p:txBody>
      </p:sp>
      <p:sp>
        <p:nvSpPr>
          <p:cNvPr id="5" name="Shape 3"/>
          <p:cNvSpPr/>
          <p:nvPr/>
        </p:nvSpPr>
        <p:spPr>
          <a:xfrm>
            <a:off x="822960" y="1874520"/>
            <a:ext cx="5074920" cy="4069080"/>
          </a:xfrm>
          <a:prstGeom prst="roundRect">
            <a:avLst>
              <a:gd name="adj" fmla="val 2247"/>
            </a:avLst>
          </a:prstGeom>
          <a:solidFill>
            <a:srgbClr val="FFFFFF"/>
          </a:solidFill>
          <a:ln/>
          <a:effectLst>
            <a:outerShdw blurRad="101600" dist="25400" dir="5400000" algn="bl" rotWithShape="0">
              <a:srgbClr val="0F172A">
                <a:alpha val="10000"/>
              </a:srgbClr>
            </a:outerShdw>
          </a:effectLst>
        </p:spPr>
      </p:sp>
      <p:sp>
        <p:nvSpPr>
          <p:cNvPr id="6" name="Text 4"/>
          <p:cNvSpPr/>
          <p:nvPr/>
        </p:nvSpPr>
        <p:spPr>
          <a:xfrm>
            <a:off x="1097280" y="2057400"/>
            <a:ext cx="4572000" cy="365760"/>
          </a:xfrm>
          <a:prstGeom prst="rect">
            <a:avLst/>
          </a:prstGeom>
          <a:noFill/>
          <a:ln/>
        </p:spPr>
        <p:txBody>
          <a:bodyPr wrap="square" lIns="0" tIns="0" rIns="0" bIns="0" rtlCol="0" anchor="ctr"/>
          <a:lstStyle/>
          <a:p>
            <a:pPr marL="0" indent="0">
              <a:buNone/>
            </a:pPr>
            <a:r>
              <a:rPr lang="en-US" sz="1550" b="1" dirty="0">
                <a:solidFill>
                  <a:srgbClr val="1E1B4B"/>
                </a:solidFill>
                <a:latin typeface="Cambria" pitchFamily="34" charset="0"/>
                <a:ea typeface="Cambria" pitchFamily="34" charset="-122"/>
                <a:cs typeface="Cambria" pitchFamily="34" charset="-120"/>
              </a:rPr>
              <a:t>Data Uji &amp; Bobot Awal</a:t>
            </a:r>
            <a:endParaRPr lang="en-US" sz="1550" dirty="0"/>
          </a:p>
        </p:txBody>
      </p:sp>
      <p:sp>
        <p:nvSpPr>
          <p:cNvPr id="7" name="Text 5"/>
          <p:cNvSpPr/>
          <p:nvPr/>
        </p:nvSpPr>
        <p:spPr>
          <a:xfrm>
            <a:off x="1097280" y="2514600"/>
            <a:ext cx="457200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Input</a:t>
            </a:r>
            <a:endParaRPr lang="en-US" sz="1100" dirty="0"/>
          </a:p>
        </p:txBody>
      </p:sp>
      <p:sp>
        <p:nvSpPr>
          <p:cNvPr id="8" name="Text 6"/>
          <p:cNvSpPr/>
          <p:nvPr/>
        </p:nvSpPr>
        <p:spPr>
          <a:xfrm>
            <a:off x="1097280" y="2770632"/>
            <a:ext cx="4572000" cy="365760"/>
          </a:xfrm>
          <a:prstGeom prst="rect">
            <a:avLst/>
          </a:prstGeom>
          <a:noFill/>
          <a:ln/>
        </p:spPr>
        <p:txBody>
          <a:bodyPr wrap="square" lIns="0" tIns="0" rIns="0" bIns="0" rtlCol="0" anchor="ctr"/>
          <a:lstStyle/>
          <a:p>
            <a:pPr marL="0" indent="0">
              <a:buNone/>
            </a:pPr>
            <a:r>
              <a:rPr lang="en-US" sz="1350" dirty="0">
                <a:solidFill>
                  <a:srgbClr val="1E1B4B"/>
                </a:solidFill>
                <a:latin typeface="Cambria" pitchFamily="34" charset="0"/>
                <a:ea typeface="Cambria" pitchFamily="34" charset="-122"/>
                <a:cs typeface="Cambria" pitchFamily="34" charset="-120"/>
              </a:rPr>
              <a:t>x1 = 0 ,  x2 = 1 ,  x3 = 1</a:t>
            </a:r>
            <a:endParaRPr lang="en-US" sz="1350" dirty="0"/>
          </a:p>
        </p:txBody>
      </p:sp>
      <p:sp>
        <p:nvSpPr>
          <p:cNvPr id="9" name="Text 7"/>
          <p:cNvSpPr/>
          <p:nvPr/>
        </p:nvSpPr>
        <p:spPr>
          <a:xfrm>
            <a:off x="1097280" y="3136392"/>
            <a:ext cx="457200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Target</a:t>
            </a:r>
            <a:endParaRPr lang="en-US" sz="1100" dirty="0"/>
          </a:p>
        </p:txBody>
      </p:sp>
      <p:sp>
        <p:nvSpPr>
          <p:cNvPr id="10" name="Text 8"/>
          <p:cNvSpPr/>
          <p:nvPr/>
        </p:nvSpPr>
        <p:spPr>
          <a:xfrm>
            <a:off x="1097280" y="3392424"/>
            <a:ext cx="4572000" cy="365760"/>
          </a:xfrm>
          <a:prstGeom prst="rect">
            <a:avLst/>
          </a:prstGeom>
          <a:noFill/>
          <a:ln/>
        </p:spPr>
        <p:txBody>
          <a:bodyPr wrap="square" lIns="0" tIns="0" rIns="0" bIns="0" rtlCol="0" anchor="ctr"/>
          <a:lstStyle/>
          <a:p>
            <a:pPr marL="0" indent="0">
              <a:buNone/>
            </a:pPr>
            <a:r>
              <a:rPr lang="en-US" sz="1350" dirty="0">
                <a:solidFill>
                  <a:srgbClr val="1E1B4B"/>
                </a:solidFill>
                <a:latin typeface="Cambria" pitchFamily="34" charset="0"/>
                <a:ea typeface="Cambria" pitchFamily="34" charset="-122"/>
                <a:cs typeface="Cambria" pitchFamily="34" charset="-120"/>
              </a:rPr>
              <a:t>0  (Tidak Kompatibel)</a:t>
            </a:r>
            <a:endParaRPr lang="en-US" sz="1350" dirty="0"/>
          </a:p>
        </p:txBody>
      </p:sp>
      <p:sp>
        <p:nvSpPr>
          <p:cNvPr id="11" name="Text 9"/>
          <p:cNvSpPr/>
          <p:nvPr/>
        </p:nvSpPr>
        <p:spPr>
          <a:xfrm>
            <a:off x="1097280" y="3758184"/>
            <a:ext cx="457200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Bobot awal</a:t>
            </a:r>
            <a:endParaRPr lang="en-US" sz="1100" dirty="0"/>
          </a:p>
        </p:txBody>
      </p:sp>
      <p:sp>
        <p:nvSpPr>
          <p:cNvPr id="12" name="Text 10"/>
          <p:cNvSpPr/>
          <p:nvPr/>
        </p:nvSpPr>
        <p:spPr>
          <a:xfrm>
            <a:off x="1097280" y="4014216"/>
            <a:ext cx="4572000" cy="365760"/>
          </a:xfrm>
          <a:prstGeom prst="rect">
            <a:avLst/>
          </a:prstGeom>
          <a:noFill/>
          <a:ln/>
        </p:spPr>
        <p:txBody>
          <a:bodyPr wrap="square" lIns="0" tIns="0" rIns="0" bIns="0" rtlCol="0" anchor="ctr"/>
          <a:lstStyle/>
          <a:p>
            <a:pPr marL="0" indent="0">
              <a:buNone/>
            </a:pPr>
            <a:r>
              <a:rPr lang="en-US" sz="1350" dirty="0">
                <a:solidFill>
                  <a:srgbClr val="1E1B4B"/>
                </a:solidFill>
                <a:latin typeface="Cambria" pitchFamily="34" charset="0"/>
                <a:ea typeface="Cambria" pitchFamily="34" charset="-122"/>
                <a:cs typeface="Cambria" pitchFamily="34" charset="-120"/>
              </a:rPr>
              <a:t>w1=0,2  w2=0,3  w3=0,1   b=−0,1</a:t>
            </a:r>
            <a:endParaRPr lang="en-US" sz="1350" dirty="0"/>
          </a:p>
        </p:txBody>
      </p:sp>
      <p:sp>
        <p:nvSpPr>
          <p:cNvPr id="13" name="Text 11"/>
          <p:cNvSpPr/>
          <p:nvPr/>
        </p:nvSpPr>
        <p:spPr>
          <a:xfrm>
            <a:off x="1097280" y="4379976"/>
            <a:ext cx="457200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Learning rate</a:t>
            </a:r>
            <a:endParaRPr lang="en-US" sz="1100" dirty="0"/>
          </a:p>
        </p:txBody>
      </p:sp>
      <p:sp>
        <p:nvSpPr>
          <p:cNvPr id="14" name="Text 12"/>
          <p:cNvSpPr/>
          <p:nvPr/>
        </p:nvSpPr>
        <p:spPr>
          <a:xfrm>
            <a:off x="1097280" y="4636008"/>
            <a:ext cx="4572000" cy="365760"/>
          </a:xfrm>
          <a:prstGeom prst="rect">
            <a:avLst/>
          </a:prstGeom>
          <a:noFill/>
          <a:ln/>
        </p:spPr>
        <p:txBody>
          <a:bodyPr wrap="square" lIns="0" tIns="0" rIns="0" bIns="0" rtlCol="0" anchor="ctr"/>
          <a:lstStyle/>
          <a:p>
            <a:pPr marL="0" indent="0">
              <a:buNone/>
            </a:pPr>
            <a:r>
              <a:rPr lang="en-US" sz="1350" dirty="0">
                <a:solidFill>
                  <a:srgbClr val="1E1B4B"/>
                </a:solidFill>
                <a:latin typeface="Cambria" pitchFamily="34" charset="0"/>
                <a:ea typeface="Cambria" pitchFamily="34" charset="-122"/>
                <a:cs typeface="Cambria" pitchFamily="34" charset="-120"/>
              </a:rPr>
              <a:t>α = 0,1</a:t>
            </a:r>
            <a:endParaRPr lang="en-US" sz="1350" dirty="0"/>
          </a:p>
        </p:txBody>
      </p:sp>
      <p:sp>
        <p:nvSpPr>
          <p:cNvPr id="15" name="Shape 13"/>
          <p:cNvSpPr/>
          <p:nvPr/>
        </p:nvSpPr>
        <p:spPr>
          <a:xfrm>
            <a:off x="6263640" y="1874520"/>
            <a:ext cx="5074920" cy="4069080"/>
          </a:xfrm>
          <a:prstGeom prst="roundRect">
            <a:avLst>
              <a:gd name="adj" fmla="val 2247"/>
            </a:avLst>
          </a:prstGeom>
          <a:solidFill>
            <a:srgbClr val="1E1B4B"/>
          </a:solidFill>
          <a:ln/>
          <a:effectLst>
            <a:outerShdw blurRad="101600" dist="25400" dir="5400000" algn="bl" rotWithShape="0">
              <a:srgbClr val="0F172A">
                <a:alpha val="10000"/>
              </a:srgbClr>
            </a:outerShdw>
          </a:effectLst>
        </p:spPr>
      </p:sp>
      <p:sp>
        <p:nvSpPr>
          <p:cNvPr id="16" name="Text 14"/>
          <p:cNvSpPr/>
          <p:nvPr/>
        </p:nvSpPr>
        <p:spPr>
          <a:xfrm>
            <a:off x="6537960" y="2057400"/>
            <a:ext cx="4572000" cy="365760"/>
          </a:xfrm>
          <a:prstGeom prst="rect">
            <a:avLst/>
          </a:prstGeom>
          <a:noFill/>
          <a:ln/>
        </p:spPr>
        <p:txBody>
          <a:bodyPr wrap="square" lIns="0" tIns="0" rIns="0" bIns="0" rtlCol="0" anchor="ctr"/>
          <a:lstStyle/>
          <a:p>
            <a:pPr marL="0" indent="0">
              <a:buNone/>
            </a:pPr>
            <a:r>
              <a:rPr lang="en-US" sz="1550" b="1" dirty="0">
                <a:solidFill>
                  <a:srgbClr val="F1F5F9"/>
                </a:solidFill>
                <a:latin typeface="Cambria" pitchFamily="34" charset="0"/>
                <a:ea typeface="Cambria" pitchFamily="34" charset="-122"/>
                <a:cs typeface="Cambria" pitchFamily="34" charset="-120"/>
              </a:rPr>
              <a:t>Proses Hitung &amp; Update Bobot</a:t>
            </a:r>
            <a:endParaRPr lang="en-US" sz="1550" dirty="0"/>
          </a:p>
        </p:txBody>
      </p:sp>
      <p:sp>
        <p:nvSpPr>
          <p:cNvPr id="17" name="Text 15"/>
          <p:cNvSpPr/>
          <p:nvPr/>
        </p:nvSpPr>
        <p:spPr>
          <a:xfrm>
            <a:off x="6537960" y="2514600"/>
            <a:ext cx="4572000" cy="27432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Langkah 1 — net</a:t>
            </a:r>
            <a:endParaRPr lang="en-US" sz="1100" dirty="0"/>
          </a:p>
        </p:txBody>
      </p:sp>
      <p:sp>
        <p:nvSpPr>
          <p:cNvPr id="18" name="Text 16"/>
          <p:cNvSpPr/>
          <p:nvPr/>
        </p:nvSpPr>
        <p:spPr>
          <a:xfrm>
            <a:off x="6537960" y="2770632"/>
            <a:ext cx="4572000" cy="365760"/>
          </a:xfrm>
          <a:prstGeom prst="rect">
            <a:avLst/>
          </a:prstGeom>
          <a:noFill/>
          <a:ln/>
        </p:spPr>
        <p:txBody>
          <a:bodyPr wrap="square" lIns="0" tIns="0" rIns="0" bIns="0" rtlCol="0" anchor="ctr"/>
          <a:lstStyle/>
          <a:p>
            <a:pPr marL="0" indent="0">
              <a:buNone/>
            </a:pPr>
            <a:r>
              <a:rPr lang="en-US" sz="1350" dirty="0">
                <a:solidFill>
                  <a:srgbClr val="F1F5F9"/>
                </a:solidFill>
                <a:latin typeface="Cambria" pitchFamily="34" charset="0"/>
                <a:ea typeface="Cambria" pitchFamily="34" charset="-122"/>
                <a:cs typeface="Cambria" pitchFamily="34" charset="-120"/>
              </a:rPr>
              <a:t>(0,2·0)+(0,3·1)+(0,1·1)−0,1 = 0,3</a:t>
            </a:r>
            <a:endParaRPr lang="en-US" sz="1350" dirty="0"/>
          </a:p>
        </p:txBody>
      </p:sp>
      <p:sp>
        <p:nvSpPr>
          <p:cNvPr id="19" name="Text 17"/>
          <p:cNvSpPr/>
          <p:nvPr/>
        </p:nvSpPr>
        <p:spPr>
          <a:xfrm>
            <a:off x="6537960" y="3136392"/>
            <a:ext cx="4572000" cy="27432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Langkah 2 — output</a:t>
            </a:r>
            <a:endParaRPr lang="en-US" sz="1100" dirty="0"/>
          </a:p>
        </p:txBody>
      </p:sp>
      <p:sp>
        <p:nvSpPr>
          <p:cNvPr id="20" name="Text 18"/>
          <p:cNvSpPr/>
          <p:nvPr/>
        </p:nvSpPr>
        <p:spPr>
          <a:xfrm>
            <a:off x="6537960" y="3392424"/>
            <a:ext cx="4572000" cy="365760"/>
          </a:xfrm>
          <a:prstGeom prst="rect">
            <a:avLst/>
          </a:prstGeom>
          <a:noFill/>
          <a:ln/>
        </p:spPr>
        <p:txBody>
          <a:bodyPr wrap="square" lIns="0" tIns="0" rIns="0" bIns="0" rtlCol="0" anchor="ctr"/>
          <a:lstStyle/>
          <a:p>
            <a:pPr marL="0" indent="0">
              <a:buNone/>
            </a:pPr>
            <a:r>
              <a:rPr lang="en-US" sz="1350" b="1" dirty="0">
                <a:solidFill>
                  <a:srgbClr val="22D3EE"/>
                </a:solidFill>
                <a:latin typeface="Cambria" pitchFamily="34" charset="0"/>
                <a:ea typeface="Cambria" pitchFamily="34" charset="-122"/>
                <a:cs typeface="Cambria" pitchFamily="34" charset="-120"/>
              </a:rPr>
              <a:t>f(0,3) = 1  (salah, target = 0)</a:t>
            </a:r>
            <a:endParaRPr lang="en-US" sz="1350" dirty="0"/>
          </a:p>
        </p:txBody>
      </p:sp>
      <p:sp>
        <p:nvSpPr>
          <p:cNvPr id="21" name="Text 19"/>
          <p:cNvSpPr/>
          <p:nvPr/>
        </p:nvSpPr>
        <p:spPr>
          <a:xfrm>
            <a:off x="6537960" y="3758184"/>
            <a:ext cx="4572000" cy="27432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Langkah 3 — Δw2, Δw3, Δb</a:t>
            </a:r>
            <a:endParaRPr lang="en-US" sz="1100" dirty="0"/>
          </a:p>
        </p:txBody>
      </p:sp>
      <p:sp>
        <p:nvSpPr>
          <p:cNvPr id="22" name="Text 20"/>
          <p:cNvSpPr/>
          <p:nvPr/>
        </p:nvSpPr>
        <p:spPr>
          <a:xfrm>
            <a:off x="6537960" y="4014216"/>
            <a:ext cx="4572000" cy="365760"/>
          </a:xfrm>
          <a:prstGeom prst="rect">
            <a:avLst/>
          </a:prstGeom>
          <a:noFill/>
          <a:ln/>
        </p:spPr>
        <p:txBody>
          <a:bodyPr wrap="square" lIns="0" tIns="0" rIns="0" bIns="0" rtlCol="0" anchor="ctr"/>
          <a:lstStyle/>
          <a:p>
            <a:pPr marL="0" indent="0">
              <a:buNone/>
            </a:pPr>
            <a:r>
              <a:rPr lang="en-US" sz="1350" dirty="0">
                <a:solidFill>
                  <a:srgbClr val="F1F5F9"/>
                </a:solidFill>
                <a:latin typeface="Cambria" pitchFamily="34" charset="0"/>
                <a:ea typeface="Cambria" pitchFamily="34" charset="-122"/>
                <a:cs typeface="Cambria" pitchFamily="34" charset="-120"/>
              </a:rPr>
              <a:t>−0,1 ;  −0,1 ;  −0,1</a:t>
            </a:r>
            <a:endParaRPr lang="en-US" sz="1350" dirty="0"/>
          </a:p>
        </p:txBody>
      </p:sp>
      <p:sp>
        <p:nvSpPr>
          <p:cNvPr id="23" name="Text 21"/>
          <p:cNvSpPr/>
          <p:nvPr/>
        </p:nvSpPr>
        <p:spPr>
          <a:xfrm>
            <a:off x="6537960" y="4379976"/>
            <a:ext cx="4572000" cy="27432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Bobot baru</a:t>
            </a:r>
            <a:endParaRPr lang="en-US" sz="1100" dirty="0"/>
          </a:p>
        </p:txBody>
      </p:sp>
      <p:sp>
        <p:nvSpPr>
          <p:cNvPr id="24" name="Text 22"/>
          <p:cNvSpPr/>
          <p:nvPr/>
        </p:nvSpPr>
        <p:spPr>
          <a:xfrm>
            <a:off x="6537960" y="4636008"/>
            <a:ext cx="4572000" cy="365760"/>
          </a:xfrm>
          <a:prstGeom prst="rect">
            <a:avLst/>
          </a:prstGeom>
          <a:noFill/>
          <a:ln/>
        </p:spPr>
        <p:txBody>
          <a:bodyPr wrap="square" lIns="0" tIns="0" rIns="0" bIns="0" rtlCol="0" anchor="ctr"/>
          <a:lstStyle/>
          <a:p>
            <a:pPr marL="0" indent="0">
              <a:buNone/>
            </a:pPr>
            <a:r>
              <a:rPr lang="en-US" sz="1350" b="1" dirty="0">
                <a:solidFill>
                  <a:srgbClr val="22D3EE"/>
                </a:solidFill>
                <a:latin typeface="Cambria" pitchFamily="34" charset="0"/>
                <a:ea typeface="Cambria" pitchFamily="34" charset="-122"/>
                <a:cs typeface="Cambria" pitchFamily="34" charset="-120"/>
              </a:rPr>
              <a:t>w2=0,2  w3=0,0  b=−0,2</a:t>
            </a:r>
            <a:endParaRPr lang="en-US" sz="1350" dirty="0"/>
          </a:p>
        </p:txBody>
      </p:sp>
      <p:sp>
        <p:nvSpPr>
          <p:cNvPr id="25" name="Text 23"/>
          <p:cNvSpPr/>
          <p:nvPr/>
        </p:nvSpPr>
        <p:spPr>
          <a:xfrm>
            <a:off x="822960" y="6080760"/>
            <a:ext cx="1042416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Lihat Bab IV pada Laporan Akademis untuk uraian lengkap seluruh iterasi.</a:t>
            </a:r>
            <a:endParaRPr lang="en-US" sz="1000" dirty="0"/>
          </a:p>
        </p:txBody>
      </p:sp>
      <p:sp>
        <p:nvSpPr>
          <p:cNvPr id="26" name="Text 24"/>
          <p:cNvSpPr/>
          <p:nvPr/>
        </p:nvSpPr>
        <p:spPr>
          <a:xfrm>
            <a:off x="11338560" y="640080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822960" y="566928"/>
            <a:ext cx="5486400" cy="320040"/>
          </a:xfrm>
          <a:prstGeom prst="rect">
            <a:avLst/>
          </a:prstGeom>
          <a:noFill/>
          <a:ln/>
        </p:spPr>
        <p:txBody>
          <a:bodyPr wrap="square" lIns="0" tIns="0" rIns="0" bIns="0" rtlCol="0" anchor="ctr"/>
          <a:lstStyle/>
          <a:p>
            <a:pPr marL="0" indent="0">
              <a:buNone/>
            </a:pPr>
            <a:r>
              <a:rPr lang="en-US" sz="1250" b="1" kern="0" spc="200" dirty="0">
                <a:solidFill>
                  <a:srgbClr val="312E81"/>
                </a:solidFill>
                <a:latin typeface="Calibri" pitchFamily="34" charset="0"/>
                <a:ea typeface="Calibri" pitchFamily="34" charset="-122"/>
                <a:cs typeface="Calibri" pitchFamily="34" charset="-120"/>
              </a:rPr>
              <a:t>BAB IV . PERHITUNGAN MATEMATIS</a:t>
            </a:r>
            <a:endParaRPr lang="en-US" sz="1250" dirty="0"/>
          </a:p>
        </p:txBody>
      </p:sp>
      <p:sp>
        <p:nvSpPr>
          <p:cNvPr id="3" name="Text 1"/>
          <p:cNvSpPr/>
          <p:nvPr/>
        </p:nvSpPr>
        <p:spPr>
          <a:xfrm>
            <a:off x="822960" y="914400"/>
            <a:ext cx="10058400" cy="822960"/>
          </a:xfrm>
          <a:prstGeom prst="rect">
            <a:avLst/>
          </a:prstGeom>
          <a:noFill/>
          <a:ln/>
        </p:spPr>
        <p:txBody>
          <a:bodyPr wrap="square" lIns="0" tIns="0" rIns="0" bIns="0" rtlCol="0" anchor="t"/>
          <a:lstStyle/>
          <a:p>
            <a:pPr marL="0" indent="0">
              <a:buNone/>
            </a:pPr>
            <a:r>
              <a:rPr lang="en-US" sz="3000" b="1" dirty="0">
                <a:solidFill>
                  <a:srgbClr val="1E1B4B"/>
                </a:solidFill>
                <a:latin typeface="Cambria" pitchFamily="34" charset="0"/>
                <a:ea typeface="Cambria" pitchFamily="34" charset="-122"/>
                <a:cs typeface="Cambria" pitchFamily="34" charset="-120"/>
              </a:rPr>
              <a:t>Contoh Perhitungan Manual — LVQ</a:t>
            </a:r>
            <a:endParaRPr lang="en-US" sz="3000" dirty="0"/>
          </a:p>
        </p:txBody>
      </p:sp>
      <p:sp>
        <p:nvSpPr>
          <p:cNvPr id="4" name="Text 2"/>
          <p:cNvSpPr/>
          <p:nvPr/>
        </p:nvSpPr>
        <p:spPr>
          <a:xfrm>
            <a:off x="822960" y="1371600"/>
            <a:ext cx="10424160" cy="36576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Kasus: Data pengguna dengan kebutuhan Multimedia, budget dan kapasitas menengah</a:t>
            </a:r>
            <a:endParaRPr lang="en-US" sz="1300" dirty="0"/>
          </a:p>
        </p:txBody>
      </p:sp>
      <p:sp>
        <p:nvSpPr>
          <p:cNvPr id="5" name="Shape 3"/>
          <p:cNvSpPr/>
          <p:nvPr/>
        </p:nvSpPr>
        <p:spPr>
          <a:xfrm>
            <a:off x="822960" y="1874520"/>
            <a:ext cx="10515600" cy="1417320"/>
          </a:xfrm>
          <a:prstGeom prst="roundRect">
            <a:avLst>
              <a:gd name="adj" fmla="val 6452"/>
            </a:avLst>
          </a:prstGeom>
          <a:solidFill>
            <a:srgbClr val="FFFFFF"/>
          </a:solidFill>
          <a:ln/>
          <a:effectLst>
            <a:outerShdw blurRad="101600" dist="25400" dir="5400000" algn="bl" rotWithShape="0">
              <a:srgbClr val="0F172A">
                <a:alpha val="10000"/>
              </a:srgbClr>
            </a:outerShdw>
          </a:effectLst>
        </p:spPr>
      </p:sp>
      <p:sp>
        <p:nvSpPr>
          <p:cNvPr id="6" name="Text 4"/>
          <p:cNvSpPr/>
          <p:nvPr/>
        </p:nvSpPr>
        <p:spPr>
          <a:xfrm>
            <a:off x="1097280" y="2057400"/>
            <a:ext cx="10058400" cy="274320"/>
          </a:xfrm>
          <a:prstGeom prst="rect">
            <a:avLst/>
          </a:prstGeom>
          <a:noFill/>
          <a:ln/>
        </p:spPr>
        <p:txBody>
          <a:bodyPr wrap="square" lIns="0" tIns="0" rIns="0" bIns="0" rtlCol="0" anchor="ctr"/>
          <a:lstStyle/>
          <a:p>
            <a:pPr marL="0" indent="0">
              <a:buNone/>
            </a:pPr>
            <a:r>
              <a:rPr lang="en-US" sz="1200" b="1" dirty="0">
                <a:solidFill>
                  <a:srgbClr val="1E1B4B"/>
                </a:solidFill>
                <a:latin typeface="Calibri" pitchFamily="34" charset="0"/>
                <a:ea typeface="Calibri" pitchFamily="34" charset="-122"/>
                <a:cs typeface="Calibri" pitchFamily="34" charset="-120"/>
              </a:rPr>
              <a:t>Jarak data x = [0,30 ; 2 ; 0,25 ; 2] terhadap empat prototipe</a:t>
            </a:r>
            <a:endParaRPr lang="en-US" sz="1200" dirty="0"/>
          </a:p>
        </p:txBody>
      </p:sp>
      <p:sp>
        <p:nvSpPr>
          <p:cNvPr id="7" name="Shape 5"/>
          <p:cNvSpPr/>
          <p:nvPr/>
        </p:nvSpPr>
        <p:spPr>
          <a:xfrm>
            <a:off x="1097280" y="2468880"/>
            <a:ext cx="2377440" cy="685800"/>
          </a:xfrm>
          <a:prstGeom prst="roundRect">
            <a:avLst>
              <a:gd name="adj" fmla="val 9333"/>
            </a:avLst>
          </a:prstGeom>
          <a:solidFill>
            <a:srgbClr val="F1F5F9"/>
          </a:solidFill>
          <a:ln/>
        </p:spPr>
      </p:sp>
      <p:sp>
        <p:nvSpPr>
          <p:cNvPr id="8" name="Text 6"/>
          <p:cNvSpPr/>
          <p:nvPr/>
        </p:nvSpPr>
        <p:spPr>
          <a:xfrm>
            <a:off x="1097280" y="2542032"/>
            <a:ext cx="2377440" cy="27432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W_Entry</a:t>
            </a:r>
            <a:endParaRPr lang="en-US" sz="1100" dirty="0"/>
          </a:p>
        </p:txBody>
      </p:sp>
      <p:sp>
        <p:nvSpPr>
          <p:cNvPr id="9" name="Text 7"/>
          <p:cNvSpPr/>
          <p:nvPr/>
        </p:nvSpPr>
        <p:spPr>
          <a:xfrm>
            <a:off x="1097280" y="2788920"/>
            <a:ext cx="2377440" cy="320040"/>
          </a:xfrm>
          <a:prstGeom prst="rect">
            <a:avLst/>
          </a:prstGeom>
          <a:noFill/>
          <a:ln/>
        </p:spPr>
        <p:txBody>
          <a:bodyPr wrap="square" lIns="0" tIns="0" rIns="0" bIns="0" rtlCol="0" anchor="ctr"/>
          <a:lstStyle/>
          <a:p>
            <a:pPr marL="0" indent="0" algn="ctr">
              <a:buNone/>
            </a:pPr>
            <a:r>
              <a:rPr lang="en-US" sz="1400" b="1" dirty="0">
                <a:solidFill>
                  <a:srgbClr val="0F172A"/>
                </a:solidFill>
                <a:latin typeface="Cambria" pitchFamily="34" charset="0"/>
                <a:ea typeface="Cambria" pitchFamily="34" charset="-122"/>
                <a:cs typeface="Cambria" pitchFamily="34" charset="-120"/>
              </a:rPr>
              <a:t>≈ 1,436</a:t>
            </a:r>
            <a:endParaRPr lang="en-US" sz="1400" dirty="0"/>
          </a:p>
        </p:txBody>
      </p:sp>
      <p:sp>
        <p:nvSpPr>
          <p:cNvPr id="10" name="Shape 8"/>
          <p:cNvSpPr/>
          <p:nvPr/>
        </p:nvSpPr>
        <p:spPr>
          <a:xfrm>
            <a:off x="3611880" y="2468880"/>
            <a:ext cx="2377440" cy="685800"/>
          </a:xfrm>
          <a:prstGeom prst="roundRect">
            <a:avLst>
              <a:gd name="adj" fmla="val 9333"/>
            </a:avLst>
          </a:prstGeom>
          <a:solidFill>
            <a:srgbClr val="E0FBFF"/>
          </a:solidFill>
          <a:ln w="15240">
            <a:solidFill>
              <a:srgbClr val="22D3EE"/>
            </a:solidFill>
            <a:prstDash val="solid"/>
          </a:ln>
        </p:spPr>
      </p:sp>
      <p:sp>
        <p:nvSpPr>
          <p:cNvPr id="11" name="Text 9"/>
          <p:cNvSpPr/>
          <p:nvPr/>
        </p:nvSpPr>
        <p:spPr>
          <a:xfrm>
            <a:off x="3611880" y="2542032"/>
            <a:ext cx="2377440" cy="27432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W_Mid</a:t>
            </a:r>
            <a:endParaRPr lang="en-US" sz="1100" dirty="0"/>
          </a:p>
        </p:txBody>
      </p:sp>
      <p:sp>
        <p:nvSpPr>
          <p:cNvPr id="12" name="Text 10"/>
          <p:cNvSpPr/>
          <p:nvPr/>
        </p:nvSpPr>
        <p:spPr>
          <a:xfrm>
            <a:off x="3611880" y="2788920"/>
            <a:ext cx="2377440" cy="320040"/>
          </a:xfrm>
          <a:prstGeom prst="rect">
            <a:avLst/>
          </a:prstGeom>
          <a:noFill/>
          <a:ln/>
        </p:spPr>
        <p:txBody>
          <a:bodyPr wrap="square" lIns="0" tIns="0" rIns="0" bIns="0" rtlCol="0" anchor="ctr"/>
          <a:lstStyle/>
          <a:p>
            <a:pPr marL="0" indent="0" algn="ctr">
              <a:buNone/>
            </a:pPr>
            <a:r>
              <a:rPr lang="en-US" sz="1400" b="1" dirty="0">
                <a:solidFill>
                  <a:srgbClr val="1E1B4B"/>
                </a:solidFill>
                <a:latin typeface="Cambria" pitchFamily="34" charset="0"/>
                <a:ea typeface="Cambria" pitchFamily="34" charset="-122"/>
                <a:cs typeface="Cambria" pitchFamily="34" charset="-120"/>
              </a:rPr>
              <a:t>≈ 0,071</a:t>
            </a:r>
            <a:endParaRPr lang="en-US" sz="1400" dirty="0"/>
          </a:p>
        </p:txBody>
      </p:sp>
      <p:sp>
        <p:nvSpPr>
          <p:cNvPr id="13" name="Shape 11"/>
          <p:cNvSpPr/>
          <p:nvPr/>
        </p:nvSpPr>
        <p:spPr>
          <a:xfrm>
            <a:off x="6126480" y="2468880"/>
            <a:ext cx="2377440" cy="685800"/>
          </a:xfrm>
          <a:prstGeom prst="roundRect">
            <a:avLst>
              <a:gd name="adj" fmla="val 9333"/>
            </a:avLst>
          </a:prstGeom>
          <a:solidFill>
            <a:srgbClr val="F1F5F9"/>
          </a:solidFill>
          <a:ln/>
        </p:spPr>
      </p:sp>
      <p:sp>
        <p:nvSpPr>
          <p:cNvPr id="14" name="Text 12"/>
          <p:cNvSpPr/>
          <p:nvPr/>
        </p:nvSpPr>
        <p:spPr>
          <a:xfrm>
            <a:off x="6126480" y="2542032"/>
            <a:ext cx="2377440" cy="27432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W_High</a:t>
            </a:r>
            <a:endParaRPr lang="en-US" sz="1100" dirty="0"/>
          </a:p>
        </p:txBody>
      </p:sp>
      <p:sp>
        <p:nvSpPr>
          <p:cNvPr id="15" name="Text 13"/>
          <p:cNvSpPr/>
          <p:nvPr/>
        </p:nvSpPr>
        <p:spPr>
          <a:xfrm>
            <a:off x="6126480" y="2788920"/>
            <a:ext cx="2377440" cy="320040"/>
          </a:xfrm>
          <a:prstGeom prst="rect">
            <a:avLst/>
          </a:prstGeom>
          <a:noFill/>
          <a:ln/>
        </p:spPr>
        <p:txBody>
          <a:bodyPr wrap="square" lIns="0" tIns="0" rIns="0" bIns="0" rtlCol="0" anchor="ctr"/>
          <a:lstStyle/>
          <a:p>
            <a:pPr marL="0" indent="0" algn="ctr">
              <a:buNone/>
            </a:pPr>
            <a:r>
              <a:rPr lang="en-US" sz="1400" b="1" dirty="0">
                <a:solidFill>
                  <a:srgbClr val="0F172A"/>
                </a:solidFill>
                <a:latin typeface="Cambria" pitchFamily="34" charset="0"/>
                <a:ea typeface="Cambria" pitchFamily="34" charset="-122"/>
                <a:cs typeface="Cambria" pitchFamily="34" charset="-120"/>
              </a:rPr>
              <a:t>≈ 1,074</a:t>
            </a:r>
            <a:endParaRPr lang="en-US" sz="1400" dirty="0"/>
          </a:p>
        </p:txBody>
      </p:sp>
      <p:sp>
        <p:nvSpPr>
          <p:cNvPr id="16" name="Shape 14"/>
          <p:cNvSpPr/>
          <p:nvPr/>
        </p:nvSpPr>
        <p:spPr>
          <a:xfrm>
            <a:off x="8641080" y="2468880"/>
            <a:ext cx="2377440" cy="685800"/>
          </a:xfrm>
          <a:prstGeom prst="roundRect">
            <a:avLst>
              <a:gd name="adj" fmla="val 9333"/>
            </a:avLst>
          </a:prstGeom>
          <a:solidFill>
            <a:srgbClr val="F1F5F9"/>
          </a:solidFill>
          <a:ln/>
        </p:spPr>
      </p:sp>
      <p:sp>
        <p:nvSpPr>
          <p:cNvPr id="17" name="Text 15"/>
          <p:cNvSpPr/>
          <p:nvPr/>
        </p:nvSpPr>
        <p:spPr>
          <a:xfrm>
            <a:off x="8641080" y="2542032"/>
            <a:ext cx="2377440" cy="27432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W_Pro</a:t>
            </a:r>
            <a:endParaRPr lang="en-US" sz="1100" dirty="0"/>
          </a:p>
        </p:txBody>
      </p:sp>
      <p:sp>
        <p:nvSpPr>
          <p:cNvPr id="18" name="Text 16"/>
          <p:cNvSpPr/>
          <p:nvPr/>
        </p:nvSpPr>
        <p:spPr>
          <a:xfrm>
            <a:off x="8641080" y="2788920"/>
            <a:ext cx="2377440" cy="320040"/>
          </a:xfrm>
          <a:prstGeom prst="rect">
            <a:avLst/>
          </a:prstGeom>
          <a:noFill/>
          <a:ln/>
        </p:spPr>
        <p:txBody>
          <a:bodyPr wrap="square" lIns="0" tIns="0" rIns="0" bIns="0" rtlCol="0" anchor="ctr"/>
          <a:lstStyle/>
          <a:p>
            <a:pPr marL="0" indent="0" algn="ctr">
              <a:buNone/>
            </a:pPr>
            <a:r>
              <a:rPr lang="en-US" sz="1400" b="1" dirty="0">
                <a:solidFill>
                  <a:srgbClr val="0F172A"/>
                </a:solidFill>
                <a:latin typeface="Cambria" pitchFamily="34" charset="0"/>
                <a:ea typeface="Cambria" pitchFamily="34" charset="-122"/>
                <a:cs typeface="Cambria" pitchFamily="34" charset="-120"/>
              </a:rPr>
              <a:t>≈ 2,380</a:t>
            </a:r>
            <a:endParaRPr lang="en-US" sz="1400" dirty="0"/>
          </a:p>
        </p:txBody>
      </p:sp>
      <p:sp>
        <p:nvSpPr>
          <p:cNvPr id="19" name="Text 17"/>
          <p:cNvSpPr/>
          <p:nvPr/>
        </p:nvSpPr>
        <p:spPr>
          <a:xfrm>
            <a:off x="1097280" y="3154680"/>
            <a:ext cx="9875520" cy="27432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W_Mid memiliki jarak terkecil → ditetapkan sebagai prototipe pemenang (winner)</a:t>
            </a:r>
            <a:endParaRPr lang="en-US" sz="1050" dirty="0"/>
          </a:p>
        </p:txBody>
      </p:sp>
      <p:sp>
        <p:nvSpPr>
          <p:cNvPr id="20" name="Shape 18"/>
          <p:cNvSpPr/>
          <p:nvPr/>
        </p:nvSpPr>
        <p:spPr>
          <a:xfrm>
            <a:off x="822960" y="3520440"/>
            <a:ext cx="10515600" cy="2423160"/>
          </a:xfrm>
          <a:prstGeom prst="roundRect">
            <a:avLst>
              <a:gd name="adj" fmla="val 3774"/>
            </a:avLst>
          </a:prstGeom>
          <a:solidFill>
            <a:srgbClr val="1E1B4B"/>
          </a:solidFill>
          <a:ln/>
          <a:effectLst>
            <a:outerShdw blurRad="101600" dist="25400" dir="5400000" algn="bl" rotWithShape="0">
              <a:srgbClr val="0F172A">
                <a:alpha val="10000"/>
              </a:srgbClr>
            </a:outerShdw>
          </a:effectLst>
        </p:spPr>
      </p:sp>
      <p:sp>
        <p:nvSpPr>
          <p:cNvPr id="21" name="Text 19"/>
          <p:cNvSpPr/>
          <p:nvPr/>
        </p:nvSpPr>
        <p:spPr>
          <a:xfrm>
            <a:off x="1097280" y="3703320"/>
            <a:ext cx="10058400" cy="320040"/>
          </a:xfrm>
          <a:prstGeom prst="rect">
            <a:avLst/>
          </a:prstGeom>
          <a:noFill/>
          <a:ln/>
        </p:spPr>
        <p:txBody>
          <a:bodyPr wrap="square" lIns="0" tIns="0" rIns="0" bIns="0" rtlCol="0" anchor="ctr"/>
          <a:lstStyle/>
          <a:p>
            <a:pPr marL="0" indent="0">
              <a:buNone/>
            </a:pPr>
            <a:r>
              <a:rPr lang="en-US" sz="1400" b="1" dirty="0">
                <a:solidFill>
                  <a:srgbClr val="F1F5F9"/>
                </a:solidFill>
                <a:latin typeface="Cambria" pitchFamily="34" charset="0"/>
                <a:ea typeface="Cambria" pitchFamily="34" charset="-122"/>
                <a:cs typeface="Cambria" pitchFamily="34" charset="-120"/>
              </a:rPr>
              <a:t>Update Prototipe Pemenang (karena prediksi sesuai label sebenarnya)</a:t>
            </a:r>
            <a:endParaRPr lang="en-US" sz="1400" dirty="0"/>
          </a:p>
        </p:txBody>
      </p:sp>
      <p:sp>
        <p:nvSpPr>
          <p:cNvPr id="22" name="Text 20"/>
          <p:cNvSpPr/>
          <p:nvPr/>
        </p:nvSpPr>
        <p:spPr>
          <a:xfrm>
            <a:off x="1097280" y="4160520"/>
            <a:ext cx="10058400" cy="411480"/>
          </a:xfrm>
          <a:prstGeom prst="rect">
            <a:avLst/>
          </a:prstGeom>
          <a:noFill/>
          <a:ln/>
        </p:spPr>
        <p:txBody>
          <a:bodyPr wrap="square" lIns="0" tIns="0" rIns="0" bIns="0" rtlCol="0" anchor="ctr"/>
          <a:lstStyle/>
          <a:p>
            <a:pPr marL="0" indent="0">
              <a:buNone/>
            </a:pPr>
            <a:r>
              <a:rPr lang="en-US" sz="1600" dirty="0">
                <a:solidFill>
                  <a:srgbClr val="22D3EE"/>
                </a:solidFill>
                <a:latin typeface="Cambria" pitchFamily="34" charset="0"/>
                <a:ea typeface="Cambria" pitchFamily="34" charset="-122"/>
                <a:cs typeface="Cambria" pitchFamily="34" charset="-120"/>
              </a:rPr>
              <a:t>W_Mid_baru = W_Mid + 0,2 × (x − W_Mid)</a:t>
            </a:r>
            <a:endParaRPr lang="en-US" sz="1600" dirty="0"/>
          </a:p>
        </p:txBody>
      </p:sp>
      <p:sp>
        <p:nvSpPr>
          <p:cNvPr id="23" name="Text 21"/>
          <p:cNvSpPr/>
          <p:nvPr/>
        </p:nvSpPr>
        <p:spPr>
          <a:xfrm>
            <a:off x="1097280" y="4663440"/>
            <a:ext cx="10058400" cy="411480"/>
          </a:xfrm>
          <a:prstGeom prst="rect">
            <a:avLst/>
          </a:prstGeom>
          <a:noFill/>
          <a:ln/>
        </p:spPr>
        <p:txBody>
          <a:bodyPr wrap="square" lIns="0" tIns="0" rIns="0" bIns="0" rtlCol="0" anchor="ctr"/>
          <a:lstStyle/>
          <a:p>
            <a:pPr marL="0" indent="0">
              <a:buNone/>
            </a:pPr>
            <a:r>
              <a:rPr lang="en-US" sz="1600" b="1" dirty="0">
                <a:solidFill>
                  <a:srgbClr val="F1F5F9"/>
                </a:solidFill>
                <a:latin typeface="Cambria" pitchFamily="34" charset="0"/>
                <a:ea typeface="Cambria" pitchFamily="34" charset="-122"/>
                <a:cs typeface="Cambria" pitchFamily="34" charset="-120"/>
              </a:rPr>
              <a:t>= [0,35−0,01 ; 2+0 ; 0,30−0,01 ; 2+0]  =  [ 0,34 ; 2 ; 0,29 ; 2 ]</a:t>
            </a:r>
            <a:endParaRPr lang="en-US" sz="1600" dirty="0"/>
          </a:p>
        </p:txBody>
      </p:sp>
      <p:sp>
        <p:nvSpPr>
          <p:cNvPr id="24" name="Text 22"/>
          <p:cNvSpPr/>
          <p:nvPr/>
        </p:nvSpPr>
        <p:spPr>
          <a:xfrm>
            <a:off x="1097280" y="5212080"/>
            <a:ext cx="9966960" cy="594360"/>
          </a:xfrm>
          <a:prstGeom prst="rect">
            <a:avLst/>
          </a:prstGeom>
          <a:noFill/>
          <a:ln/>
        </p:spPr>
        <p:txBody>
          <a:bodyPr wrap="square" lIns="0" tIns="0" rIns="0" bIns="0" rtlCol="0" anchor="ctr"/>
          <a:lstStyle/>
          <a:p>
            <a:pPr marL="0" indent="0">
              <a:lnSpc>
                <a:spcPct val="120000"/>
              </a:lnSpc>
              <a:buNone/>
            </a:pPr>
            <a:r>
              <a:rPr lang="en-US" sz="1150" i="1" dirty="0">
                <a:solidFill>
                  <a:srgbClr val="CBD5E1"/>
                </a:solidFill>
                <a:latin typeface="Calibri" pitchFamily="34" charset="0"/>
                <a:ea typeface="Calibri" pitchFamily="34" charset="-122"/>
                <a:cs typeface="Calibri" pitchFamily="34" charset="-120"/>
              </a:rPr>
              <a:t>Prototipe Mid Range bergeser mendekati data pengguna, membuat representasi kategori semakin akurat pada iterasi berikutnya.</a:t>
            </a:r>
            <a:endParaRPr lang="en-US" sz="1150" dirty="0"/>
          </a:p>
        </p:txBody>
      </p:sp>
      <p:sp>
        <p:nvSpPr>
          <p:cNvPr id="25" name="Text 23"/>
          <p:cNvSpPr/>
          <p:nvPr/>
        </p:nvSpPr>
        <p:spPr>
          <a:xfrm>
            <a:off x="11338560" y="640080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822960" y="566928"/>
            <a:ext cx="5486400" cy="320040"/>
          </a:xfrm>
          <a:prstGeom prst="rect">
            <a:avLst/>
          </a:prstGeom>
          <a:noFill/>
          <a:ln/>
        </p:spPr>
        <p:txBody>
          <a:bodyPr wrap="square" lIns="0" tIns="0" rIns="0" bIns="0" rtlCol="0" anchor="ctr"/>
          <a:lstStyle/>
          <a:p>
            <a:pPr marL="0" indent="0">
              <a:buNone/>
            </a:pPr>
            <a:r>
              <a:rPr lang="en-US" sz="1250" b="1" kern="0" spc="200" dirty="0">
                <a:solidFill>
                  <a:srgbClr val="312E81"/>
                </a:solidFill>
                <a:latin typeface="Calibri" pitchFamily="34" charset="0"/>
                <a:ea typeface="Calibri" pitchFamily="34" charset="-122"/>
                <a:cs typeface="Calibri" pitchFamily="34" charset="-120"/>
              </a:rPr>
              <a:t>IMPLEMENTASI</a:t>
            </a:r>
            <a:endParaRPr lang="en-US" sz="1250" dirty="0"/>
          </a:p>
        </p:txBody>
      </p:sp>
      <p:sp>
        <p:nvSpPr>
          <p:cNvPr id="3" name="Text 1"/>
          <p:cNvSpPr/>
          <p:nvPr/>
        </p:nvSpPr>
        <p:spPr>
          <a:xfrm>
            <a:off x="822960" y="914400"/>
            <a:ext cx="10058400" cy="822960"/>
          </a:xfrm>
          <a:prstGeom prst="rect">
            <a:avLst/>
          </a:prstGeom>
          <a:noFill/>
          <a:ln/>
        </p:spPr>
        <p:txBody>
          <a:bodyPr wrap="square" lIns="0" tIns="0" rIns="0" bIns="0" rtlCol="0" anchor="t"/>
          <a:lstStyle/>
          <a:p>
            <a:pPr marL="0" indent="0">
              <a:buNone/>
            </a:pPr>
            <a:r>
              <a:rPr lang="en-US" sz="3000" b="1" dirty="0">
                <a:solidFill>
                  <a:srgbClr val="1E1B4B"/>
                </a:solidFill>
                <a:latin typeface="Cambria" pitchFamily="34" charset="0"/>
                <a:ea typeface="Cambria" pitchFamily="34" charset="-122"/>
                <a:cs typeface="Cambria" pitchFamily="34" charset="-120"/>
              </a:rPr>
              <a:t>Arsitektur dan Fitur Aplikasi Streamlit</a:t>
            </a:r>
            <a:endParaRPr lang="en-US" sz="3000" dirty="0"/>
          </a:p>
        </p:txBody>
      </p:sp>
      <p:sp>
        <p:nvSpPr>
          <p:cNvPr id="4" name="Shape 2"/>
          <p:cNvSpPr/>
          <p:nvPr/>
        </p:nvSpPr>
        <p:spPr>
          <a:xfrm>
            <a:off x="822960" y="1554480"/>
            <a:ext cx="2487168" cy="2834640"/>
          </a:xfrm>
          <a:prstGeom prst="roundRect">
            <a:avLst>
              <a:gd name="adj" fmla="val 3676"/>
            </a:avLst>
          </a:prstGeom>
          <a:solidFill>
            <a:srgbClr val="FFFFFF"/>
          </a:solidFill>
          <a:ln/>
          <a:effectLst>
            <a:outerShdw blurRad="101600" dist="25400" dir="5400000" algn="bl" rotWithShape="0">
              <a:srgbClr val="0F172A">
                <a:alpha val="10000"/>
              </a:srgbClr>
            </a:outerShdw>
          </a:effectLst>
        </p:spPr>
      </p:sp>
      <p:sp>
        <p:nvSpPr>
          <p:cNvPr id="5" name="Shape 3"/>
          <p:cNvSpPr/>
          <p:nvPr/>
        </p:nvSpPr>
        <p:spPr>
          <a:xfrm>
            <a:off x="1709928" y="1828800"/>
            <a:ext cx="713232" cy="713232"/>
          </a:xfrm>
          <a:prstGeom prst="ellipse">
            <a:avLst/>
          </a:prstGeom>
          <a:solidFill>
            <a:srgbClr val="E0FBFF"/>
          </a:solidFill>
          <a:ln/>
        </p:spPr>
      </p:sp>
      <p:pic>
        <p:nvPicPr>
          <p:cNvPr id="6" name="Image 0" descr="/home/claude/pptx/assets/chart_navy.png"/>
          <p:cNvPicPr>
            <a:picLocks noChangeAspect="1"/>
          </p:cNvPicPr>
          <p:nvPr/>
        </p:nvPicPr>
        <p:blipFill>
          <a:blip r:embed="rId3"/>
          <a:stretch>
            <a:fillRect/>
          </a:stretch>
        </p:blipFill>
        <p:spPr>
          <a:xfrm>
            <a:off x="1881104" y="1999976"/>
            <a:ext cx="370881" cy="370881"/>
          </a:xfrm>
          <a:prstGeom prst="rect">
            <a:avLst/>
          </a:prstGeom>
        </p:spPr>
      </p:pic>
      <p:sp>
        <p:nvSpPr>
          <p:cNvPr id="7" name="Text 4"/>
          <p:cNvSpPr/>
          <p:nvPr/>
        </p:nvSpPr>
        <p:spPr>
          <a:xfrm>
            <a:off x="987552" y="2743200"/>
            <a:ext cx="2157984" cy="365760"/>
          </a:xfrm>
          <a:prstGeom prst="rect">
            <a:avLst/>
          </a:prstGeom>
          <a:noFill/>
          <a:ln/>
        </p:spPr>
        <p:txBody>
          <a:bodyPr wrap="square" lIns="0" tIns="0" rIns="0" bIns="0" rtlCol="0" anchor="ctr"/>
          <a:lstStyle/>
          <a:p>
            <a:pPr marL="0" indent="0" algn="ctr">
              <a:buNone/>
            </a:pPr>
            <a:r>
              <a:rPr lang="en-US" sz="1450" b="1" dirty="0">
                <a:solidFill>
                  <a:srgbClr val="1E1B4B"/>
                </a:solidFill>
                <a:latin typeface="Cambria" pitchFamily="34" charset="0"/>
                <a:ea typeface="Cambria" pitchFamily="34" charset="-122"/>
                <a:cs typeface="Cambria" pitchFamily="34" charset="-120"/>
              </a:rPr>
              <a:t>Dashboard</a:t>
            </a:r>
            <a:endParaRPr lang="en-US" sz="1450" dirty="0"/>
          </a:p>
        </p:txBody>
      </p:sp>
      <p:sp>
        <p:nvSpPr>
          <p:cNvPr id="8" name="Text 5"/>
          <p:cNvSpPr/>
          <p:nvPr/>
        </p:nvSpPr>
        <p:spPr>
          <a:xfrm>
            <a:off x="1024128" y="3154680"/>
            <a:ext cx="2084832" cy="1143000"/>
          </a:xfrm>
          <a:prstGeom prst="rect">
            <a:avLst/>
          </a:prstGeom>
          <a:noFill/>
          <a:ln/>
        </p:spPr>
        <p:txBody>
          <a:bodyPr wrap="square" lIns="0" tIns="0" rIns="0" bIns="0" rtlCol="0" anchor="t"/>
          <a:lstStyle/>
          <a:p>
            <a:pPr marL="0" indent="0" algn="ctr">
              <a:lnSpc>
                <a:spcPct val="120000"/>
              </a:lnSpc>
              <a:buNone/>
            </a:pPr>
            <a:r>
              <a:rPr lang="en-US" sz="1050" dirty="0">
                <a:solidFill>
                  <a:srgbClr val="64748B"/>
                </a:solidFill>
                <a:latin typeface="Calibri" pitchFamily="34" charset="0"/>
                <a:ea typeface="Calibri" pitchFamily="34" charset="-122"/>
                <a:cs typeface="Calibri" pitchFamily="34" charset="-120"/>
              </a:rPr>
              <a:t>Statistik total SSD, riwayat, dan distribusi kategori secara visual.</a:t>
            </a:r>
            <a:endParaRPr lang="en-US" sz="1050" dirty="0"/>
          </a:p>
        </p:txBody>
      </p:sp>
      <p:sp>
        <p:nvSpPr>
          <p:cNvPr id="9" name="Shape 6"/>
          <p:cNvSpPr/>
          <p:nvPr/>
        </p:nvSpPr>
        <p:spPr>
          <a:xfrm>
            <a:off x="3474720" y="1554480"/>
            <a:ext cx="2487168" cy="2834640"/>
          </a:xfrm>
          <a:prstGeom prst="roundRect">
            <a:avLst>
              <a:gd name="adj" fmla="val 3676"/>
            </a:avLst>
          </a:prstGeom>
          <a:solidFill>
            <a:srgbClr val="FFFFFF"/>
          </a:solidFill>
          <a:ln/>
          <a:effectLst>
            <a:outerShdw blurRad="101600" dist="25400" dir="5400000" algn="bl" rotWithShape="0">
              <a:srgbClr val="0F172A">
                <a:alpha val="10000"/>
              </a:srgbClr>
            </a:outerShdw>
          </a:effectLst>
        </p:spPr>
      </p:sp>
      <p:sp>
        <p:nvSpPr>
          <p:cNvPr id="10" name="Shape 7"/>
          <p:cNvSpPr/>
          <p:nvPr/>
        </p:nvSpPr>
        <p:spPr>
          <a:xfrm>
            <a:off x="4361688" y="1828800"/>
            <a:ext cx="713232" cy="713232"/>
          </a:xfrm>
          <a:prstGeom prst="ellipse">
            <a:avLst/>
          </a:prstGeom>
          <a:solidFill>
            <a:srgbClr val="E0FBFF"/>
          </a:solidFill>
          <a:ln/>
        </p:spPr>
      </p:sp>
      <p:pic>
        <p:nvPicPr>
          <p:cNvPr id="11" name="Image 1" descr="/home/claude/pptx/assets/network_navy.png"/>
          <p:cNvPicPr>
            <a:picLocks noChangeAspect="1"/>
          </p:cNvPicPr>
          <p:nvPr/>
        </p:nvPicPr>
        <p:blipFill>
          <a:blip r:embed="rId4"/>
          <a:stretch>
            <a:fillRect/>
          </a:stretch>
        </p:blipFill>
        <p:spPr>
          <a:xfrm>
            <a:off x="4532864" y="1999976"/>
            <a:ext cx="370881" cy="370881"/>
          </a:xfrm>
          <a:prstGeom prst="rect">
            <a:avLst/>
          </a:prstGeom>
        </p:spPr>
      </p:pic>
      <p:sp>
        <p:nvSpPr>
          <p:cNvPr id="12" name="Text 8"/>
          <p:cNvSpPr/>
          <p:nvPr/>
        </p:nvSpPr>
        <p:spPr>
          <a:xfrm>
            <a:off x="3639312" y="2743200"/>
            <a:ext cx="2157984" cy="365760"/>
          </a:xfrm>
          <a:prstGeom prst="rect">
            <a:avLst/>
          </a:prstGeom>
          <a:noFill/>
          <a:ln/>
        </p:spPr>
        <p:txBody>
          <a:bodyPr wrap="square" lIns="0" tIns="0" rIns="0" bIns="0" rtlCol="0" anchor="ctr"/>
          <a:lstStyle/>
          <a:p>
            <a:pPr marL="0" indent="0" algn="ctr">
              <a:buNone/>
            </a:pPr>
            <a:r>
              <a:rPr lang="en-US" sz="1450" b="1" dirty="0">
                <a:solidFill>
                  <a:srgbClr val="1E1B4B"/>
                </a:solidFill>
                <a:latin typeface="Cambria" pitchFamily="34" charset="0"/>
                <a:ea typeface="Cambria" pitchFamily="34" charset="-122"/>
                <a:cs typeface="Cambria" pitchFamily="34" charset="-120"/>
              </a:rPr>
              <a:t>Rekomendasi SSD</a:t>
            </a:r>
            <a:endParaRPr lang="en-US" sz="1450" dirty="0"/>
          </a:p>
        </p:txBody>
      </p:sp>
      <p:sp>
        <p:nvSpPr>
          <p:cNvPr id="13" name="Text 9"/>
          <p:cNvSpPr/>
          <p:nvPr/>
        </p:nvSpPr>
        <p:spPr>
          <a:xfrm>
            <a:off x="3675888" y="3154680"/>
            <a:ext cx="2084832" cy="1143000"/>
          </a:xfrm>
          <a:prstGeom prst="rect">
            <a:avLst/>
          </a:prstGeom>
          <a:noFill/>
          <a:ln/>
        </p:spPr>
        <p:txBody>
          <a:bodyPr wrap="square" lIns="0" tIns="0" rIns="0" bIns="0" rtlCol="0" anchor="t"/>
          <a:lstStyle/>
          <a:p>
            <a:pPr marL="0" indent="0" algn="ctr">
              <a:lnSpc>
                <a:spcPct val="120000"/>
              </a:lnSpc>
              <a:buNone/>
            </a:pPr>
            <a:r>
              <a:rPr lang="en-US" sz="1050" dirty="0">
                <a:solidFill>
                  <a:srgbClr val="64748B"/>
                </a:solidFill>
                <a:latin typeface="Calibri" pitchFamily="34" charset="0"/>
                <a:ea typeface="Calibri" pitchFamily="34" charset="-122"/>
                <a:cs typeface="Calibri" pitchFamily="34" charset="-120"/>
              </a:rPr>
              <a:t>Input kebutuhan pengguna diproses Perceptron &amp; LVQ secara berurutan.</a:t>
            </a:r>
            <a:endParaRPr lang="en-US" sz="1050" dirty="0"/>
          </a:p>
        </p:txBody>
      </p:sp>
      <p:sp>
        <p:nvSpPr>
          <p:cNvPr id="14" name="Shape 10"/>
          <p:cNvSpPr/>
          <p:nvPr/>
        </p:nvSpPr>
        <p:spPr>
          <a:xfrm>
            <a:off x="6126480" y="1554480"/>
            <a:ext cx="2487168" cy="2834640"/>
          </a:xfrm>
          <a:prstGeom prst="roundRect">
            <a:avLst>
              <a:gd name="adj" fmla="val 3676"/>
            </a:avLst>
          </a:prstGeom>
          <a:solidFill>
            <a:srgbClr val="FFFFFF"/>
          </a:solidFill>
          <a:ln/>
          <a:effectLst>
            <a:outerShdw blurRad="101600" dist="25400" dir="5400000" algn="bl" rotWithShape="0">
              <a:srgbClr val="0F172A">
                <a:alpha val="10000"/>
              </a:srgbClr>
            </a:outerShdw>
          </a:effectLst>
        </p:spPr>
      </p:sp>
      <p:sp>
        <p:nvSpPr>
          <p:cNvPr id="15" name="Shape 11"/>
          <p:cNvSpPr/>
          <p:nvPr/>
        </p:nvSpPr>
        <p:spPr>
          <a:xfrm>
            <a:off x="7013448" y="1828800"/>
            <a:ext cx="713232" cy="713232"/>
          </a:xfrm>
          <a:prstGeom prst="ellipse">
            <a:avLst/>
          </a:prstGeom>
          <a:solidFill>
            <a:srgbClr val="E0FBFF"/>
          </a:solidFill>
          <a:ln/>
        </p:spPr>
      </p:sp>
      <p:pic>
        <p:nvPicPr>
          <p:cNvPr id="16" name="Image 2" descr="/home/claude/pptx/assets/clipboard_navy.png"/>
          <p:cNvPicPr>
            <a:picLocks noChangeAspect="1"/>
          </p:cNvPicPr>
          <p:nvPr/>
        </p:nvPicPr>
        <p:blipFill>
          <a:blip r:embed="rId5"/>
          <a:stretch>
            <a:fillRect/>
          </a:stretch>
        </p:blipFill>
        <p:spPr>
          <a:xfrm>
            <a:off x="7184624" y="1999976"/>
            <a:ext cx="370881" cy="370881"/>
          </a:xfrm>
          <a:prstGeom prst="rect">
            <a:avLst/>
          </a:prstGeom>
        </p:spPr>
      </p:pic>
      <p:sp>
        <p:nvSpPr>
          <p:cNvPr id="17" name="Text 12"/>
          <p:cNvSpPr/>
          <p:nvPr/>
        </p:nvSpPr>
        <p:spPr>
          <a:xfrm>
            <a:off x="6291072" y="2743200"/>
            <a:ext cx="2157984" cy="365760"/>
          </a:xfrm>
          <a:prstGeom prst="rect">
            <a:avLst/>
          </a:prstGeom>
          <a:noFill/>
          <a:ln/>
        </p:spPr>
        <p:txBody>
          <a:bodyPr wrap="square" lIns="0" tIns="0" rIns="0" bIns="0" rtlCol="0" anchor="ctr"/>
          <a:lstStyle/>
          <a:p>
            <a:pPr marL="0" indent="0" algn="ctr">
              <a:buNone/>
            </a:pPr>
            <a:r>
              <a:rPr lang="en-US" sz="1450" b="1" dirty="0">
                <a:solidFill>
                  <a:srgbClr val="1E1B4B"/>
                </a:solidFill>
                <a:latin typeface="Cambria" pitchFamily="34" charset="0"/>
                <a:ea typeface="Cambria" pitchFamily="34" charset="-122"/>
                <a:cs typeface="Cambria" pitchFamily="34" charset="-120"/>
              </a:rPr>
              <a:t>Riwayat</a:t>
            </a:r>
            <a:endParaRPr lang="en-US" sz="1450" dirty="0"/>
          </a:p>
        </p:txBody>
      </p:sp>
      <p:sp>
        <p:nvSpPr>
          <p:cNvPr id="18" name="Text 13"/>
          <p:cNvSpPr/>
          <p:nvPr/>
        </p:nvSpPr>
        <p:spPr>
          <a:xfrm>
            <a:off x="6327648" y="3154680"/>
            <a:ext cx="2084832" cy="1143000"/>
          </a:xfrm>
          <a:prstGeom prst="rect">
            <a:avLst/>
          </a:prstGeom>
          <a:noFill/>
          <a:ln/>
        </p:spPr>
        <p:txBody>
          <a:bodyPr wrap="square" lIns="0" tIns="0" rIns="0" bIns="0" rtlCol="0" anchor="t"/>
          <a:lstStyle/>
          <a:p>
            <a:pPr marL="0" indent="0" algn="ctr">
              <a:lnSpc>
                <a:spcPct val="120000"/>
              </a:lnSpc>
              <a:buNone/>
            </a:pPr>
            <a:r>
              <a:rPr lang="en-US" sz="1050" dirty="0">
                <a:solidFill>
                  <a:srgbClr val="64748B"/>
                </a:solidFill>
                <a:latin typeface="Calibri" pitchFamily="34" charset="0"/>
                <a:ea typeface="Calibri" pitchFamily="34" charset="-122"/>
                <a:cs typeface="Calibri" pitchFamily="34" charset="-120"/>
              </a:rPr>
              <a:t>Seluruh hasil rekomendasi tersimpan di session_state selama sesi berjalan.</a:t>
            </a:r>
            <a:endParaRPr lang="en-US" sz="1050" dirty="0"/>
          </a:p>
        </p:txBody>
      </p:sp>
      <p:sp>
        <p:nvSpPr>
          <p:cNvPr id="19" name="Shape 14"/>
          <p:cNvSpPr/>
          <p:nvPr/>
        </p:nvSpPr>
        <p:spPr>
          <a:xfrm>
            <a:off x="8778240" y="1554480"/>
            <a:ext cx="2487168" cy="2834640"/>
          </a:xfrm>
          <a:prstGeom prst="roundRect">
            <a:avLst>
              <a:gd name="adj" fmla="val 3676"/>
            </a:avLst>
          </a:prstGeom>
          <a:solidFill>
            <a:srgbClr val="FFFFFF"/>
          </a:solidFill>
          <a:ln/>
          <a:effectLst>
            <a:outerShdw blurRad="101600" dist="25400" dir="5400000" algn="bl" rotWithShape="0">
              <a:srgbClr val="0F172A">
                <a:alpha val="10000"/>
              </a:srgbClr>
            </a:outerShdw>
          </a:effectLst>
        </p:spPr>
      </p:sp>
      <p:sp>
        <p:nvSpPr>
          <p:cNvPr id="20" name="Shape 15"/>
          <p:cNvSpPr/>
          <p:nvPr/>
        </p:nvSpPr>
        <p:spPr>
          <a:xfrm>
            <a:off x="9665208" y="1828800"/>
            <a:ext cx="713232" cy="713232"/>
          </a:xfrm>
          <a:prstGeom prst="ellipse">
            <a:avLst/>
          </a:prstGeom>
          <a:solidFill>
            <a:srgbClr val="E0FBFF"/>
          </a:solidFill>
          <a:ln/>
        </p:spPr>
      </p:sp>
      <p:pic>
        <p:nvPicPr>
          <p:cNvPr id="21" name="Image 3" descr="/home/claude/pptx/assets/database_navy.png"/>
          <p:cNvPicPr>
            <a:picLocks noChangeAspect="1"/>
          </p:cNvPicPr>
          <p:nvPr/>
        </p:nvPicPr>
        <p:blipFill>
          <a:blip r:embed="rId6"/>
          <a:stretch>
            <a:fillRect/>
          </a:stretch>
        </p:blipFill>
        <p:spPr>
          <a:xfrm>
            <a:off x="9836384" y="1999976"/>
            <a:ext cx="370881" cy="370881"/>
          </a:xfrm>
          <a:prstGeom prst="rect">
            <a:avLst/>
          </a:prstGeom>
        </p:spPr>
      </p:pic>
      <p:sp>
        <p:nvSpPr>
          <p:cNvPr id="22" name="Text 16"/>
          <p:cNvSpPr/>
          <p:nvPr/>
        </p:nvSpPr>
        <p:spPr>
          <a:xfrm>
            <a:off x="8942832" y="2743200"/>
            <a:ext cx="2157984" cy="365760"/>
          </a:xfrm>
          <a:prstGeom prst="rect">
            <a:avLst/>
          </a:prstGeom>
          <a:noFill/>
          <a:ln/>
        </p:spPr>
        <p:txBody>
          <a:bodyPr wrap="square" lIns="0" tIns="0" rIns="0" bIns="0" rtlCol="0" anchor="ctr"/>
          <a:lstStyle/>
          <a:p>
            <a:pPr marL="0" indent="0" algn="ctr">
              <a:buNone/>
            </a:pPr>
            <a:r>
              <a:rPr lang="en-US" sz="1450" b="1" dirty="0">
                <a:solidFill>
                  <a:srgbClr val="1E1B4B"/>
                </a:solidFill>
                <a:latin typeface="Cambria" pitchFamily="34" charset="0"/>
                <a:ea typeface="Cambria" pitchFamily="34" charset="-122"/>
                <a:cs typeface="Cambria" pitchFamily="34" charset="-120"/>
              </a:rPr>
              <a:t>Export</a:t>
            </a:r>
            <a:endParaRPr lang="en-US" sz="1450" dirty="0"/>
          </a:p>
        </p:txBody>
      </p:sp>
      <p:sp>
        <p:nvSpPr>
          <p:cNvPr id="23" name="Text 17"/>
          <p:cNvSpPr/>
          <p:nvPr/>
        </p:nvSpPr>
        <p:spPr>
          <a:xfrm>
            <a:off x="8979408" y="3154680"/>
            <a:ext cx="2084832" cy="1143000"/>
          </a:xfrm>
          <a:prstGeom prst="rect">
            <a:avLst/>
          </a:prstGeom>
          <a:noFill/>
          <a:ln/>
        </p:spPr>
        <p:txBody>
          <a:bodyPr wrap="square" lIns="0" tIns="0" rIns="0" bIns="0" rtlCol="0" anchor="t"/>
          <a:lstStyle/>
          <a:p>
            <a:pPr marL="0" indent="0" algn="ctr">
              <a:lnSpc>
                <a:spcPct val="120000"/>
              </a:lnSpc>
              <a:buNone/>
            </a:pPr>
            <a:r>
              <a:rPr lang="en-US" sz="1050" dirty="0">
                <a:solidFill>
                  <a:srgbClr val="64748B"/>
                </a:solidFill>
                <a:latin typeface="Calibri" pitchFamily="34" charset="0"/>
                <a:ea typeface="Calibri" pitchFamily="34" charset="-122"/>
                <a:cs typeface="Calibri" pitchFamily="34" charset="-120"/>
              </a:rPr>
              <a:t>Dataset dan riwayat dapat diunduh sebagai file Excel (.xlsx) via openpyxl.</a:t>
            </a:r>
            <a:endParaRPr lang="en-US" sz="1050" dirty="0"/>
          </a:p>
        </p:txBody>
      </p:sp>
      <p:sp>
        <p:nvSpPr>
          <p:cNvPr id="24" name="Text 18"/>
          <p:cNvSpPr/>
          <p:nvPr/>
        </p:nvSpPr>
        <p:spPr>
          <a:xfrm>
            <a:off x="822960" y="4663440"/>
            <a:ext cx="9144000" cy="320040"/>
          </a:xfrm>
          <a:prstGeom prst="rect">
            <a:avLst/>
          </a:prstGeom>
          <a:noFill/>
          <a:ln/>
        </p:spPr>
        <p:txBody>
          <a:bodyPr wrap="square" lIns="0" tIns="0" rIns="0" bIns="0" rtlCol="0" anchor="ctr"/>
          <a:lstStyle/>
          <a:p>
            <a:pPr marL="0" indent="0">
              <a:buNone/>
            </a:pPr>
            <a:r>
              <a:rPr lang="en-US" sz="1500" b="1" dirty="0">
                <a:solidFill>
                  <a:srgbClr val="1E1B4B"/>
                </a:solidFill>
                <a:latin typeface="Cambria" pitchFamily="34" charset="0"/>
                <a:ea typeface="Cambria" pitchFamily="34" charset="-122"/>
                <a:cs typeface="Cambria" pitchFamily="34" charset="-120"/>
              </a:rPr>
              <a:t>Tiga Tema Tampilan Glassmorphism (Theme Switcher)</a:t>
            </a:r>
            <a:endParaRPr lang="en-US" sz="1500" dirty="0"/>
          </a:p>
        </p:txBody>
      </p:sp>
      <p:sp>
        <p:nvSpPr>
          <p:cNvPr id="25" name="Shape 19"/>
          <p:cNvSpPr/>
          <p:nvPr/>
        </p:nvSpPr>
        <p:spPr>
          <a:xfrm>
            <a:off x="822960" y="5074920"/>
            <a:ext cx="3337560" cy="960120"/>
          </a:xfrm>
          <a:prstGeom prst="roundRect">
            <a:avLst>
              <a:gd name="adj" fmla="val 8571"/>
            </a:avLst>
          </a:prstGeom>
          <a:solidFill>
            <a:srgbClr val="1E1B4B"/>
          </a:solidFill>
          <a:ln/>
          <a:effectLst>
            <a:outerShdw blurRad="101600" dist="25400" dir="5400000" algn="bl" rotWithShape="0">
              <a:srgbClr val="0F172A">
                <a:alpha val="10000"/>
              </a:srgbClr>
            </a:outerShdw>
          </a:effectLst>
        </p:spPr>
      </p:sp>
      <p:sp>
        <p:nvSpPr>
          <p:cNvPr id="26" name="Shape 20"/>
          <p:cNvSpPr/>
          <p:nvPr/>
        </p:nvSpPr>
        <p:spPr>
          <a:xfrm>
            <a:off x="1051560" y="5285232"/>
            <a:ext cx="384048" cy="384048"/>
          </a:xfrm>
          <a:prstGeom prst="ellipse">
            <a:avLst/>
          </a:prstGeom>
          <a:solidFill>
            <a:srgbClr val="22D3EE"/>
          </a:solidFill>
          <a:ln/>
        </p:spPr>
      </p:sp>
      <p:sp>
        <p:nvSpPr>
          <p:cNvPr id="27" name="Text 21"/>
          <p:cNvSpPr/>
          <p:nvPr/>
        </p:nvSpPr>
        <p:spPr>
          <a:xfrm>
            <a:off x="1600200" y="5285232"/>
            <a:ext cx="2377440" cy="384048"/>
          </a:xfrm>
          <a:prstGeom prst="rect">
            <a:avLst/>
          </a:prstGeom>
          <a:noFill/>
          <a:ln/>
        </p:spPr>
        <p:txBody>
          <a:bodyPr wrap="square" lIns="0" tIns="0" rIns="0" bIns="0" rtlCol="0" anchor="ctr"/>
          <a:lstStyle/>
          <a:p>
            <a:pPr marL="0" indent="0">
              <a:buNone/>
            </a:pPr>
            <a:r>
              <a:rPr lang="en-US" sz="1300" b="1" dirty="0">
                <a:solidFill>
                  <a:srgbClr val="F1F5F9"/>
                </a:solidFill>
                <a:latin typeface="Calibri" pitchFamily="34" charset="0"/>
                <a:ea typeface="Calibri" pitchFamily="34" charset="-122"/>
                <a:cs typeface="Calibri" pitchFamily="34" charset="-120"/>
              </a:rPr>
              <a:t>Aurora Glass</a:t>
            </a:r>
            <a:endParaRPr lang="en-US" sz="1300" dirty="0"/>
          </a:p>
        </p:txBody>
      </p:sp>
      <p:sp>
        <p:nvSpPr>
          <p:cNvPr id="28" name="Text 22"/>
          <p:cNvSpPr/>
          <p:nvPr/>
        </p:nvSpPr>
        <p:spPr>
          <a:xfrm>
            <a:off x="1051560" y="5760720"/>
            <a:ext cx="2926080" cy="228600"/>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Blur, border transparan, rounded corner, hover animation</a:t>
            </a:r>
            <a:endParaRPr lang="en-US" sz="850" dirty="0"/>
          </a:p>
        </p:txBody>
      </p:sp>
      <p:sp>
        <p:nvSpPr>
          <p:cNvPr id="29" name="Shape 23"/>
          <p:cNvSpPr/>
          <p:nvPr/>
        </p:nvSpPr>
        <p:spPr>
          <a:xfrm>
            <a:off x="4343400" y="5074920"/>
            <a:ext cx="3337560" cy="960120"/>
          </a:xfrm>
          <a:prstGeom prst="roundRect">
            <a:avLst>
              <a:gd name="adj" fmla="val 8571"/>
            </a:avLst>
          </a:prstGeom>
          <a:solidFill>
            <a:srgbClr val="022C22"/>
          </a:solidFill>
          <a:ln/>
          <a:effectLst>
            <a:outerShdw blurRad="101600" dist="25400" dir="5400000" algn="bl" rotWithShape="0">
              <a:srgbClr val="0F172A">
                <a:alpha val="10000"/>
              </a:srgbClr>
            </a:outerShdw>
          </a:effectLst>
        </p:spPr>
      </p:sp>
      <p:sp>
        <p:nvSpPr>
          <p:cNvPr id="30" name="Shape 24"/>
          <p:cNvSpPr/>
          <p:nvPr/>
        </p:nvSpPr>
        <p:spPr>
          <a:xfrm>
            <a:off x="4572000" y="5285232"/>
            <a:ext cx="384048" cy="384048"/>
          </a:xfrm>
          <a:prstGeom prst="ellipse">
            <a:avLst/>
          </a:prstGeom>
          <a:solidFill>
            <a:srgbClr val="34D399"/>
          </a:solidFill>
          <a:ln/>
        </p:spPr>
      </p:sp>
      <p:sp>
        <p:nvSpPr>
          <p:cNvPr id="31" name="Text 25"/>
          <p:cNvSpPr/>
          <p:nvPr/>
        </p:nvSpPr>
        <p:spPr>
          <a:xfrm>
            <a:off x="5120640" y="5285232"/>
            <a:ext cx="2377440" cy="384048"/>
          </a:xfrm>
          <a:prstGeom prst="rect">
            <a:avLst/>
          </a:prstGeom>
          <a:noFill/>
          <a:ln/>
        </p:spPr>
        <p:txBody>
          <a:bodyPr wrap="square" lIns="0" tIns="0" rIns="0" bIns="0" rtlCol="0" anchor="ctr"/>
          <a:lstStyle/>
          <a:p>
            <a:pPr marL="0" indent="0">
              <a:buNone/>
            </a:pPr>
            <a:r>
              <a:rPr lang="en-US" sz="1300" b="1" dirty="0">
                <a:solidFill>
                  <a:srgbClr val="F1F5F9"/>
                </a:solidFill>
                <a:latin typeface="Calibri" pitchFamily="34" charset="0"/>
                <a:ea typeface="Calibri" pitchFamily="34" charset="-122"/>
                <a:cs typeface="Calibri" pitchFamily="34" charset="-120"/>
              </a:rPr>
              <a:t>Emerald Glass</a:t>
            </a:r>
            <a:endParaRPr lang="en-US" sz="1300" dirty="0"/>
          </a:p>
        </p:txBody>
      </p:sp>
      <p:sp>
        <p:nvSpPr>
          <p:cNvPr id="32" name="Text 26"/>
          <p:cNvSpPr/>
          <p:nvPr/>
        </p:nvSpPr>
        <p:spPr>
          <a:xfrm>
            <a:off x="4572000" y="5760720"/>
            <a:ext cx="2926080" cy="228600"/>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Blur, border transparan, rounded corner, hover animation</a:t>
            </a:r>
            <a:endParaRPr lang="en-US" sz="850" dirty="0"/>
          </a:p>
        </p:txBody>
      </p:sp>
      <p:sp>
        <p:nvSpPr>
          <p:cNvPr id="33" name="Shape 27"/>
          <p:cNvSpPr/>
          <p:nvPr/>
        </p:nvSpPr>
        <p:spPr>
          <a:xfrm>
            <a:off x="7863840" y="5074920"/>
            <a:ext cx="3337560" cy="960120"/>
          </a:xfrm>
          <a:prstGeom prst="roundRect">
            <a:avLst>
              <a:gd name="adj" fmla="val 8571"/>
            </a:avLst>
          </a:prstGeom>
          <a:solidFill>
            <a:srgbClr val="020617"/>
          </a:solidFill>
          <a:ln/>
          <a:effectLst>
            <a:outerShdw blurRad="101600" dist="25400" dir="5400000" algn="bl" rotWithShape="0">
              <a:srgbClr val="0F172A">
                <a:alpha val="10000"/>
              </a:srgbClr>
            </a:outerShdw>
          </a:effectLst>
        </p:spPr>
      </p:sp>
      <p:sp>
        <p:nvSpPr>
          <p:cNvPr id="34" name="Shape 28"/>
          <p:cNvSpPr/>
          <p:nvPr/>
        </p:nvSpPr>
        <p:spPr>
          <a:xfrm>
            <a:off x="8092440" y="5285232"/>
            <a:ext cx="384048" cy="384048"/>
          </a:xfrm>
          <a:prstGeom prst="ellipse">
            <a:avLst/>
          </a:prstGeom>
          <a:solidFill>
            <a:srgbClr val="3B82F6"/>
          </a:solidFill>
          <a:ln/>
        </p:spPr>
      </p:sp>
      <p:sp>
        <p:nvSpPr>
          <p:cNvPr id="35" name="Text 29"/>
          <p:cNvSpPr/>
          <p:nvPr/>
        </p:nvSpPr>
        <p:spPr>
          <a:xfrm>
            <a:off x="8641080" y="5285232"/>
            <a:ext cx="2377440" cy="384048"/>
          </a:xfrm>
          <a:prstGeom prst="rect">
            <a:avLst/>
          </a:prstGeom>
          <a:noFill/>
          <a:ln/>
        </p:spPr>
        <p:txBody>
          <a:bodyPr wrap="square" lIns="0" tIns="0" rIns="0" bIns="0" rtlCol="0" anchor="ctr"/>
          <a:lstStyle/>
          <a:p>
            <a:pPr marL="0" indent="0">
              <a:buNone/>
            </a:pPr>
            <a:r>
              <a:rPr lang="en-US" sz="1300" b="1" dirty="0">
                <a:solidFill>
                  <a:srgbClr val="F1F5F9"/>
                </a:solidFill>
                <a:latin typeface="Calibri" pitchFamily="34" charset="0"/>
                <a:ea typeface="Calibri" pitchFamily="34" charset="-122"/>
                <a:cs typeface="Calibri" pitchFamily="34" charset="-120"/>
              </a:rPr>
              <a:t>Midnight Glass</a:t>
            </a:r>
            <a:endParaRPr lang="en-US" sz="1300" dirty="0"/>
          </a:p>
        </p:txBody>
      </p:sp>
      <p:sp>
        <p:nvSpPr>
          <p:cNvPr id="36" name="Text 30"/>
          <p:cNvSpPr/>
          <p:nvPr/>
        </p:nvSpPr>
        <p:spPr>
          <a:xfrm>
            <a:off x="8092440" y="5760720"/>
            <a:ext cx="2926080" cy="228600"/>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ea typeface="Calibri" pitchFamily="34" charset="-122"/>
                <a:cs typeface="Calibri" pitchFamily="34" charset="-120"/>
              </a:rPr>
              <a:t>Blur, border transparan, rounded corner, hover animation</a:t>
            </a:r>
            <a:endParaRPr lang="en-US" sz="850" dirty="0"/>
          </a:p>
        </p:txBody>
      </p:sp>
      <p:sp>
        <p:nvSpPr>
          <p:cNvPr id="37" name="Text 31"/>
          <p:cNvSpPr/>
          <p:nvPr/>
        </p:nvSpPr>
        <p:spPr>
          <a:xfrm>
            <a:off x="11338560" y="640080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822960" y="566928"/>
            <a:ext cx="5486400" cy="320040"/>
          </a:xfrm>
          <a:prstGeom prst="rect">
            <a:avLst/>
          </a:prstGeom>
          <a:noFill/>
          <a:ln/>
        </p:spPr>
        <p:txBody>
          <a:bodyPr wrap="square" lIns="0" tIns="0" rIns="0" bIns="0" rtlCol="0" anchor="ctr"/>
          <a:lstStyle/>
          <a:p>
            <a:pPr marL="0" indent="0">
              <a:buNone/>
            </a:pPr>
            <a:r>
              <a:rPr lang="en-US" sz="1250" b="1" kern="0" spc="200" dirty="0">
                <a:solidFill>
                  <a:srgbClr val="312E81"/>
                </a:solidFill>
                <a:latin typeface="Calibri" pitchFamily="34" charset="0"/>
                <a:ea typeface="Calibri" pitchFamily="34" charset="-122"/>
                <a:cs typeface="Calibri" pitchFamily="34" charset="-120"/>
              </a:rPr>
              <a:t>BAB V . IMPLEMENTASI &amp; ANALISIS</a:t>
            </a:r>
            <a:endParaRPr lang="en-US" sz="1250" dirty="0"/>
          </a:p>
        </p:txBody>
      </p:sp>
      <p:sp>
        <p:nvSpPr>
          <p:cNvPr id="3" name="Text 1"/>
          <p:cNvSpPr/>
          <p:nvPr/>
        </p:nvSpPr>
        <p:spPr>
          <a:xfrm>
            <a:off x="822960" y="914400"/>
            <a:ext cx="10515600" cy="822960"/>
          </a:xfrm>
          <a:prstGeom prst="rect">
            <a:avLst/>
          </a:prstGeom>
          <a:noFill/>
          <a:ln/>
        </p:spPr>
        <p:txBody>
          <a:bodyPr wrap="square" lIns="0" tIns="0" rIns="0" bIns="0" rtlCol="0" anchor="t"/>
          <a:lstStyle/>
          <a:p>
            <a:pPr marL="0" indent="0">
              <a:buNone/>
            </a:pPr>
            <a:r>
              <a:rPr lang="en-US" sz="2300" b="1" dirty="0">
                <a:solidFill>
                  <a:srgbClr val="1E1B4B"/>
                </a:solidFill>
                <a:latin typeface="Cambria" pitchFamily="34" charset="0"/>
                <a:ea typeface="Cambria" pitchFamily="34" charset="-122"/>
                <a:cs typeface="Cambria" pitchFamily="34" charset="-120"/>
              </a:rPr>
              <a:t>Hasil Training Berdasarkan Konfigurasi Default Aplikasi</a:t>
            </a:r>
            <a:endParaRPr lang="en-US" sz="2300" dirty="0"/>
          </a:p>
        </p:txBody>
      </p:sp>
      <p:sp>
        <p:nvSpPr>
          <p:cNvPr id="4" name="Shape 2"/>
          <p:cNvSpPr/>
          <p:nvPr/>
        </p:nvSpPr>
        <p:spPr>
          <a:xfrm>
            <a:off x="822960" y="1417320"/>
            <a:ext cx="2468880" cy="1143000"/>
          </a:xfrm>
          <a:prstGeom prst="roundRect">
            <a:avLst>
              <a:gd name="adj" fmla="val 7200"/>
            </a:avLst>
          </a:prstGeom>
          <a:solidFill>
            <a:srgbClr val="1E1B4B"/>
          </a:solidFill>
          <a:ln/>
          <a:effectLst>
            <a:outerShdw blurRad="101600" dist="25400" dir="5400000" algn="bl" rotWithShape="0">
              <a:srgbClr val="0F172A">
                <a:alpha val="10000"/>
              </a:srgbClr>
            </a:outerShdw>
          </a:effectLst>
        </p:spPr>
      </p:sp>
      <p:sp>
        <p:nvSpPr>
          <p:cNvPr id="5" name="Text 3"/>
          <p:cNvSpPr/>
          <p:nvPr/>
        </p:nvSpPr>
        <p:spPr>
          <a:xfrm>
            <a:off x="822960" y="1508760"/>
            <a:ext cx="2468880" cy="548640"/>
          </a:xfrm>
          <a:prstGeom prst="rect">
            <a:avLst/>
          </a:prstGeom>
          <a:noFill/>
          <a:ln/>
        </p:spPr>
        <p:txBody>
          <a:bodyPr wrap="square" lIns="0" tIns="0" rIns="0" bIns="0" rtlCol="0" anchor="ctr"/>
          <a:lstStyle/>
          <a:p>
            <a:pPr marL="0" indent="0" algn="ctr">
              <a:buNone/>
            </a:pPr>
            <a:r>
              <a:rPr lang="en-US" sz="3000" b="1" dirty="0">
                <a:solidFill>
                  <a:srgbClr val="22D3EE"/>
                </a:solidFill>
                <a:latin typeface="Cambria" pitchFamily="34" charset="0"/>
                <a:ea typeface="Cambria" pitchFamily="34" charset="-122"/>
                <a:cs typeface="Cambria" pitchFamily="34" charset="-120"/>
              </a:rPr>
              <a:t>100%</a:t>
            </a:r>
            <a:endParaRPr lang="en-US" sz="3000" dirty="0"/>
          </a:p>
        </p:txBody>
      </p:sp>
      <p:sp>
        <p:nvSpPr>
          <p:cNvPr id="6" name="Text 4"/>
          <p:cNvSpPr/>
          <p:nvPr/>
        </p:nvSpPr>
        <p:spPr>
          <a:xfrm>
            <a:off x="960120" y="2057400"/>
            <a:ext cx="2194560" cy="457200"/>
          </a:xfrm>
          <a:prstGeom prst="rect">
            <a:avLst/>
          </a:prstGeom>
          <a:noFill/>
          <a:ln/>
        </p:spPr>
        <p:txBody>
          <a:bodyPr wrap="square" lIns="0" tIns="0" rIns="0" bIns="0" rtlCol="0" anchor="ctr"/>
          <a:lstStyle/>
          <a:p>
            <a:pPr marL="0" indent="0" algn="ctr">
              <a:buNone/>
            </a:pPr>
            <a:r>
              <a:rPr lang="en-US" sz="950" dirty="0">
                <a:solidFill>
                  <a:srgbClr val="F1F5F9"/>
                </a:solidFill>
                <a:latin typeface="Calibri" pitchFamily="34" charset="0"/>
                <a:ea typeface="Calibri" pitchFamily="34" charset="-122"/>
                <a:cs typeface="Calibri" pitchFamily="34" charset="-120"/>
              </a:rPr>
              <a:t>Akurasi Perceptron, konvergen 2 epoch</a:t>
            </a:r>
            <a:endParaRPr lang="en-US" sz="950" dirty="0"/>
          </a:p>
        </p:txBody>
      </p:sp>
      <p:sp>
        <p:nvSpPr>
          <p:cNvPr id="7" name="Shape 5"/>
          <p:cNvSpPr/>
          <p:nvPr/>
        </p:nvSpPr>
        <p:spPr>
          <a:xfrm>
            <a:off x="3429000" y="1417320"/>
            <a:ext cx="2468880" cy="1143000"/>
          </a:xfrm>
          <a:prstGeom prst="roundRect">
            <a:avLst>
              <a:gd name="adj" fmla="val 7200"/>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8" name="Text 6"/>
          <p:cNvSpPr/>
          <p:nvPr/>
        </p:nvSpPr>
        <p:spPr>
          <a:xfrm>
            <a:off x="3429000" y="1508760"/>
            <a:ext cx="2468880" cy="548640"/>
          </a:xfrm>
          <a:prstGeom prst="rect">
            <a:avLst/>
          </a:prstGeom>
          <a:noFill/>
          <a:ln/>
        </p:spPr>
        <p:txBody>
          <a:bodyPr wrap="square" lIns="0" tIns="0" rIns="0" bIns="0" rtlCol="0" anchor="ctr"/>
          <a:lstStyle/>
          <a:p>
            <a:pPr marL="0" indent="0" algn="ctr">
              <a:buNone/>
            </a:pPr>
            <a:r>
              <a:rPr lang="en-US" sz="3000" b="1" dirty="0">
                <a:solidFill>
                  <a:srgbClr val="1E1B4B"/>
                </a:solidFill>
                <a:latin typeface="Cambria" pitchFamily="34" charset="0"/>
                <a:ea typeface="Cambria" pitchFamily="34" charset="-122"/>
                <a:cs typeface="Cambria" pitchFamily="34" charset="-120"/>
              </a:rPr>
              <a:t>±80%</a:t>
            </a:r>
            <a:endParaRPr lang="en-US" sz="3000" dirty="0"/>
          </a:p>
        </p:txBody>
      </p:sp>
      <p:sp>
        <p:nvSpPr>
          <p:cNvPr id="9" name="Text 7"/>
          <p:cNvSpPr/>
          <p:nvPr/>
        </p:nvSpPr>
        <p:spPr>
          <a:xfrm>
            <a:off x="3566160" y="2057400"/>
            <a:ext cx="2194560" cy="457200"/>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Akurasi LVQ, 1 prototipe/kelas, 50 epoch</a:t>
            </a:r>
            <a:endParaRPr lang="en-US" sz="950" dirty="0"/>
          </a:p>
        </p:txBody>
      </p:sp>
      <p:graphicFrame>
        <p:nvGraphicFramePr>
          <p:cNvPr id="10" name="Chart 0"/>
          <p:cNvGraphicFramePr/>
          <p:nvPr/>
        </p:nvGraphicFramePr>
        <p:xfrm>
          <a:off x="822960" y="2743200"/>
          <a:ext cx="5074920" cy="23317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
          <p:cNvGraphicFramePr/>
          <p:nvPr/>
        </p:nvGraphicFramePr>
        <p:xfrm>
          <a:off x="6263640" y="2743200"/>
          <a:ext cx="5074920" cy="2331720"/>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 8"/>
          <p:cNvSpPr/>
          <p:nvPr/>
        </p:nvSpPr>
        <p:spPr>
          <a:xfrm>
            <a:off x="822960" y="5257800"/>
            <a:ext cx="10515600" cy="822960"/>
          </a:xfrm>
          <a:prstGeom prst="rect">
            <a:avLst/>
          </a:prstGeom>
          <a:noFill/>
          <a:ln/>
        </p:spPr>
        <p:txBody>
          <a:bodyPr wrap="square" lIns="0" tIns="0" rIns="0" bIns="0" rtlCol="0" anchor="ctr"/>
          <a:lstStyle/>
          <a:p>
            <a:pPr marL="0" indent="0">
              <a:lnSpc>
                <a:spcPct val="125000"/>
              </a:lnSpc>
              <a:buNone/>
            </a:pPr>
            <a:r>
              <a:rPr lang="en-US" sz="1150" i="1" dirty="0">
                <a:solidFill>
                  <a:srgbClr val="64748B"/>
                </a:solidFill>
                <a:latin typeface="Calibri" pitchFamily="34" charset="0"/>
                <a:ea typeface="Calibri" pitchFamily="34" charset="-122"/>
                <a:cs typeface="Calibri" pitchFamily="34" charset="-120"/>
              </a:rPr>
              <a:t>Perceptron konvergen sangat cepat karena aturan kompatibilitas terbukti linearly separable (Bab IV). LVQ dengan satu prototipe per kelas stabil di kisaran 80%, sebab sebagian profil High Performance dan Professional saling tumpang tindih pada fitur kapasitas — peluang pengembangan dibahas pada Bab VI.</a:t>
            </a:r>
            <a:endParaRPr lang="en-US" sz="1150" dirty="0"/>
          </a:p>
        </p:txBody>
      </p:sp>
      <p:sp>
        <p:nvSpPr>
          <p:cNvPr id="13" name="Text 9"/>
          <p:cNvSpPr/>
          <p:nvPr/>
        </p:nvSpPr>
        <p:spPr>
          <a:xfrm>
            <a:off x="11338560" y="640080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822960" y="566928"/>
            <a:ext cx="5486400" cy="320040"/>
          </a:xfrm>
          <a:prstGeom prst="rect">
            <a:avLst/>
          </a:prstGeom>
          <a:noFill/>
          <a:ln/>
        </p:spPr>
        <p:txBody>
          <a:bodyPr wrap="square" lIns="0" tIns="0" rIns="0" bIns="0" rtlCol="0" anchor="ctr"/>
          <a:lstStyle/>
          <a:p>
            <a:pPr marL="0" indent="0">
              <a:buNone/>
            </a:pPr>
            <a:r>
              <a:rPr lang="en-US" sz="1250" b="1" kern="0" spc="200" dirty="0">
                <a:solidFill>
                  <a:srgbClr val="312E81"/>
                </a:solidFill>
                <a:latin typeface="Calibri" pitchFamily="34" charset="0"/>
                <a:ea typeface="Calibri" pitchFamily="34" charset="-122"/>
                <a:cs typeface="Calibri" pitchFamily="34" charset="-120"/>
              </a:rPr>
              <a:t>BAB V . IMPLEMENTASI &amp; ANALISIS</a:t>
            </a:r>
            <a:endParaRPr lang="en-US" sz="1250" dirty="0"/>
          </a:p>
        </p:txBody>
      </p:sp>
      <p:sp>
        <p:nvSpPr>
          <p:cNvPr id="3" name="Text 1"/>
          <p:cNvSpPr/>
          <p:nvPr/>
        </p:nvSpPr>
        <p:spPr>
          <a:xfrm>
            <a:off x="822960" y="914400"/>
            <a:ext cx="10515600" cy="822960"/>
          </a:xfrm>
          <a:prstGeom prst="rect">
            <a:avLst/>
          </a:prstGeom>
          <a:noFill/>
          <a:ln/>
        </p:spPr>
        <p:txBody>
          <a:bodyPr wrap="square" lIns="0" tIns="0" rIns="0" bIns="0" rtlCol="0" anchor="t"/>
          <a:lstStyle/>
          <a:p>
            <a:pPr marL="0" indent="0">
              <a:buNone/>
            </a:pPr>
            <a:r>
              <a:rPr lang="en-US" sz="2400" b="1" dirty="0">
                <a:solidFill>
                  <a:srgbClr val="1E1B4B"/>
                </a:solidFill>
                <a:latin typeface="Cambria" pitchFamily="34" charset="0"/>
                <a:ea typeface="Cambria" pitchFamily="34" charset="-122"/>
                <a:cs typeface="Cambria" pitchFamily="34" charset="-120"/>
              </a:rPr>
              <a:t>Kelebihan dan Kekurangan Masing-Masing Metode</a:t>
            </a:r>
            <a:endParaRPr lang="en-US" sz="2400" dirty="0"/>
          </a:p>
        </p:txBody>
      </p:sp>
      <p:sp>
        <p:nvSpPr>
          <p:cNvPr id="4" name="Shape 2"/>
          <p:cNvSpPr/>
          <p:nvPr/>
        </p:nvSpPr>
        <p:spPr>
          <a:xfrm>
            <a:off x="822960" y="1554480"/>
            <a:ext cx="5212080" cy="4526280"/>
          </a:xfrm>
          <a:prstGeom prst="roundRect">
            <a:avLst>
              <a:gd name="adj" fmla="val 2020"/>
            </a:avLst>
          </a:prstGeom>
          <a:solidFill>
            <a:srgbClr val="FFFFFF"/>
          </a:solidFill>
          <a:ln/>
          <a:effectLst>
            <a:outerShdw blurRad="101600" dist="25400" dir="5400000" algn="bl" rotWithShape="0">
              <a:srgbClr val="0F172A">
                <a:alpha val="10000"/>
              </a:srgbClr>
            </a:outerShdw>
          </a:effectLst>
        </p:spPr>
      </p:sp>
      <p:sp>
        <p:nvSpPr>
          <p:cNvPr id="5" name="Text 3"/>
          <p:cNvSpPr/>
          <p:nvPr/>
        </p:nvSpPr>
        <p:spPr>
          <a:xfrm>
            <a:off x="1097280" y="1737360"/>
            <a:ext cx="4663440" cy="411480"/>
          </a:xfrm>
          <a:prstGeom prst="rect">
            <a:avLst/>
          </a:prstGeom>
          <a:noFill/>
          <a:ln/>
        </p:spPr>
        <p:txBody>
          <a:bodyPr wrap="square" lIns="0" tIns="0" rIns="0" bIns="0" rtlCol="0" anchor="ctr"/>
          <a:lstStyle/>
          <a:p>
            <a:pPr marL="0" indent="0">
              <a:buNone/>
            </a:pPr>
            <a:r>
              <a:rPr lang="en-US" sz="1800" b="1" dirty="0">
                <a:solidFill>
                  <a:srgbClr val="1E1B4B"/>
                </a:solidFill>
                <a:latin typeface="Cambria" pitchFamily="34" charset="0"/>
                <a:ea typeface="Cambria" pitchFamily="34" charset="-122"/>
                <a:cs typeface="Cambria" pitchFamily="34" charset="-120"/>
              </a:rPr>
              <a:t>Perceptron</a:t>
            </a:r>
            <a:endParaRPr lang="en-US" sz="1800" dirty="0"/>
          </a:p>
        </p:txBody>
      </p:sp>
      <p:sp>
        <p:nvSpPr>
          <p:cNvPr id="6" name="Text 4"/>
          <p:cNvSpPr/>
          <p:nvPr/>
        </p:nvSpPr>
        <p:spPr>
          <a:xfrm>
            <a:off x="1097280" y="2286000"/>
            <a:ext cx="4663440" cy="274320"/>
          </a:xfrm>
          <a:prstGeom prst="rect">
            <a:avLst/>
          </a:prstGeom>
          <a:noFill/>
          <a:ln/>
        </p:spPr>
        <p:txBody>
          <a:bodyPr wrap="square" lIns="0" tIns="0" rIns="0" bIns="0" rtlCol="0" anchor="ctr"/>
          <a:lstStyle/>
          <a:p>
            <a:pPr marL="0" indent="0">
              <a:buNone/>
            </a:pPr>
            <a:r>
              <a:rPr lang="en-US" sz="1100" b="1" kern="0" spc="150" dirty="0">
                <a:solidFill>
                  <a:srgbClr val="16A34A"/>
                </a:solidFill>
                <a:latin typeface="Calibri" pitchFamily="34" charset="0"/>
                <a:ea typeface="Calibri" pitchFamily="34" charset="-122"/>
                <a:cs typeface="Calibri" pitchFamily="34" charset="-120"/>
              </a:rPr>
              <a:t>KELEBIHAN</a:t>
            </a:r>
            <a:endParaRPr lang="en-US" sz="1100" dirty="0"/>
          </a:p>
        </p:txBody>
      </p:sp>
      <p:sp>
        <p:nvSpPr>
          <p:cNvPr id="7" name="Text 5"/>
          <p:cNvSpPr/>
          <p:nvPr/>
        </p:nvSpPr>
        <p:spPr>
          <a:xfrm>
            <a:off x="1097280" y="2606040"/>
            <a:ext cx="4663440" cy="1371600"/>
          </a:xfrm>
          <a:prstGeom prst="rect">
            <a:avLst/>
          </a:prstGeom>
          <a:noFill/>
          <a:ln/>
        </p:spPr>
        <p:txBody>
          <a:bodyPr wrap="square" lIns="0" tIns="0" rIns="0" bIns="0" rtlCol="0" anchor="t"/>
          <a:lstStyle/>
          <a:p>
            <a:pPr marL="342900" indent="-342900">
              <a:lnSpc>
                <a:spcPct val="120000"/>
              </a:lnSpc>
              <a:spcAft>
                <a:spcPts val="600"/>
              </a:spcAft>
              <a:buSzPct val="100000"/>
              <a:buChar char="•"/>
            </a:pPr>
            <a:r>
              <a:rPr lang="en-US" sz="1150" dirty="0">
                <a:solidFill>
                  <a:srgbClr val="0F172A"/>
                </a:solidFill>
                <a:latin typeface="Calibri" pitchFamily="34" charset="0"/>
                <a:ea typeface="Calibri" pitchFamily="34" charset="-122"/>
                <a:cs typeface="Calibri" pitchFamily="34" charset="-120"/>
              </a:rPr>
              <a:t>Struktur sederhana, komputasi sangat cepat.</a:t>
            </a:r>
            <a:endParaRPr lang="en-US" sz="1150" dirty="0"/>
          </a:p>
          <a:p>
            <a:pPr marL="342900" indent="-342900">
              <a:lnSpc>
                <a:spcPct val="120000"/>
              </a:lnSpc>
              <a:spcAft>
                <a:spcPts val="600"/>
              </a:spcAft>
              <a:buSzPct val="100000"/>
              <a:buChar char="•"/>
            </a:pPr>
            <a:r>
              <a:rPr lang="en-US" sz="1150" dirty="0">
                <a:solidFill>
                  <a:srgbClr val="0F172A"/>
                </a:solidFill>
                <a:latin typeface="Calibri" pitchFamily="34" charset="0"/>
                <a:ea typeface="Calibri" pitchFamily="34" charset="-122"/>
                <a:cs typeface="Calibri" pitchFamily="34" charset="-120"/>
              </a:rPr>
              <a:t>Sangat sesuai untuk klasifikasi dua kelas dengan fitur terbatas.</a:t>
            </a:r>
            <a:endParaRPr lang="en-US" sz="1150" dirty="0"/>
          </a:p>
        </p:txBody>
      </p:sp>
      <p:sp>
        <p:nvSpPr>
          <p:cNvPr id="8" name="Text 6"/>
          <p:cNvSpPr/>
          <p:nvPr/>
        </p:nvSpPr>
        <p:spPr>
          <a:xfrm>
            <a:off x="1097280" y="4069080"/>
            <a:ext cx="4663440" cy="274320"/>
          </a:xfrm>
          <a:prstGeom prst="rect">
            <a:avLst/>
          </a:prstGeom>
          <a:noFill/>
          <a:ln/>
        </p:spPr>
        <p:txBody>
          <a:bodyPr wrap="square" lIns="0" tIns="0" rIns="0" bIns="0" rtlCol="0" anchor="ctr"/>
          <a:lstStyle/>
          <a:p>
            <a:pPr marL="0" indent="0">
              <a:buNone/>
            </a:pPr>
            <a:r>
              <a:rPr lang="en-US" sz="1100" b="1" kern="0" spc="150" dirty="0">
                <a:solidFill>
                  <a:srgbClr val="DC2626"/>
                </a:solidFill>
                <a:latin typeface="Calibri" pitchFamily="34" charset="0"/>
                <a:ea typeface="Calibri" pitchFamily="34" charset="-122"/>
                <a:cs typeface="Calibri" pitchFamily="34" charset="-120"/>
              </a:rPr>
              <a:t>KEKURANGAN</a:t>
            </a:r>
            <a:endParaRPr lang="en-US" sz="1100" dirty="0"/>
          </a:p>
        </p:txBody>
      </p:sp>
      <p:sp>
        <p:nvSpPr>
          <p:cNvPr id="9" name="Text 7"/>
          <p:cNvSpPr/>
          <p:nvPr/>
        </p:nvSpPr>
        <p:spPr>
          <a:xfrm>
            <a:off x="1097280" y="4389120"/>
            <a:ext cx="4663440" cy="1554480"/>
          </a:xfrm>
          <a:prstGeom prst="rect">
            <a:avLst/>
          </a:prstGeom>
          <a:noFill/>
          <a:ln/>
        </p:spPr>
        <p:txBody>
          <a:bodyPr wrap="square" lIns="0" tIns="0" rIns="0" bIns="0" rtlCol="0" anchor="t"/>
          <a:lstStyle/>
          <a:p>
            <a:pPr marL="342900" indent="-342900">
              <a:lnSpc>
                <a:spcPct val="120000"/>
              </a:lnSpc>
              <a:spcAft>
                <a:spcPts val="600"/>
              </a:spcAft>
              <a:buSzPct val="100000"/>
              <a:buChar char="•"/>
            </a:pPr>
            <a:r>
              <a:rPr lang="en-US" sz="1150" dirty="0">
                <a:solidFill>
                  <a:srgbClr val="0F172A"/>
                </a:solidFill>
                <a:latin typeface="Calibri" pitchFamily="34" charset="0"/>
                <a:ea typeface="Calibri" pitchFamily="34" charset="-122"/>
                <a:cs typeface="Calibri" pitchFamily="34" charset="-120"/>
              </a:rPr>
              <a:t>Tidak dapat menyelesaikan masalah non linear seperti XOR (Minsky &amp; Papert, 1969).</a:t>
            </a:r>
            <a:endParaRPr lang="en-US" sz="1150" dirty="0"/>
          </a:p>
          <a:p>
            <a:pPr marL="342900" indent="-342900">
              <a:lnSpc>
                <a:spcPct val="120000"/>
              </a:lnSpc>
              <a:spcAft>
                <a:spcPts val="600"/>
              </a:spcAft>
              <a:buSzPct val="100000"/>
              <a:buChar char="•"/>
            </a:pPr>
            <a:r>
              <a:rPr lang="en-US" sz="1150" dirty="0">
                <a:solidFill>
                  <a:srgbClr val="0F172A"/>
                </a:solidFill>
                <a:latin typeface="Calibri" pitchFamily="34" charset="0"/>
                <a:ea typeface="Calibri" pitchFamily="34" charset="-122"/>
                <a:cs typeface="Calibri" pitchFamily="34" charset="-120"/>
              </a:rPr>
              <a:t>Hanya menghasilkan keputusan biner tanpa nilai probabilitas.</a:t>
            </a:r>
            <a:endParaRPr lang="en-US" sz="1150" dirty="0"/>
          </a:p>
        </p:txBody>
      </p:sp>
      <p:sp>
        <p:nvSpPr>
          <p:cNvPr id="10" name="Shape 8"/>
          <p:cNvSpPr/>
          <p:nvPr/>
        </p:nvSpPr>
        <p:spPr>
          <a:xfrm>
            <a:off x="6126480" y="1554480"/>
            <a:ext cx="5212080" cy="4526280"/>
          </a:xfrm>
          <a:prstGeom prst="roundRect">
            <a:avLst>
              <a:gd name="adj" fmla="val 2020"/>
            </a:avLst>
          </a:prstGeom>
          <a:solidFill>
            <a:srgbClr val="FFFFFF"/>
          </a:solidFill>
          <a:ln/>
          <a:effectLst>
            <a:outerShdw blurRad="101600" dist="25400" dir="5400000" algn="bl" rotWithShape="0">
              <a:srgbClr val="0F172A">
                <a:alpha val="10000"/>
              </a:srgbClr>
            </a:outerShdw>
          </a:effectLst>
        </p:spPr>
      </p:sp>
      <p:sp>
        <p:nvSpPr>
          <p:cNvPr id="11" name="Text 9"/>
          <p:cNvSpPr/>
          <p:nvPr/>
        </p:nvSpPr>
        <p:spPr>
          <a:xfrm>
            <a:off x="6400800" y="1737360"/>
            <a:ext cx="4663440" cy="411480"/>
          </a:xfrm>
          <a:prstGeom prst="rect">
            <a:avLst/>
          </a:prstGeom>
          <a:noFill/>
          <a:ln/>
        </p:spPr>
        <p:txBody>
          <a:bodyPr wrap="square" lIns="0" tIns="0" rIns="0" bIns="0" rtlCol="0" anchor="ctr"/>
          <a:lstStyle/>
          <a:p>
            <a:pPr marL="0" indent="0">
              <a:buNone/>
            </a:pPr>
            <a:r>
              <a:rPr lang="en-US" sz="1800" b="1" dirty="0">
                <a:solidFill>
                  <a:srgbClr val="312E81"/>
                </a:solidFill>
                <a:latin typeface="Cambria" pitchFamily="34" charset="0"/>
                <a:ea typeface="Cambria" pitchFamily="34" charset="-122"/>
                <a:cs typeface="Cambria" pitchFamily="34" charset="-120"/>
              </a:rPr>
              <a:t>LVQ</a:t>
            </a:r>
            <a:endParaRPr lang="en-US" sz="1800" dirty="0"/>
          </a:p>
        </p:txBody>
      </p:sp>
      <p:sp>
        <p:nvSpPr>
          <p:cNvPr id="12" name="Text 10"/>
          <p:cNvSpPr/>
          <p:nvPr/>
        </p:nvSpPr>
        <p:spPr>
          <a:xfrm>
            <a:off x="6400800" y="2286000"/>
            <a:ext cx="4663440" cy="274320"/>
          </a:xfrm>
          <a:prstGeom prst="rect">
            <a:avLst/>
          </a:prstGeom>
          <a:noFill/>
          <a:ln/>
        </p:spPr>
        <p:txBody>
          <a:bodyPr wrap="square" lIns="0" tIns="0" rIns="0" bIns="0" rtlCol="0" anchor="ctr"/>
          <a:lstStyle/>
          <a:p>
            <a:pPr marL="0" indent="0">
              <a:buNone/>
            </a:pPr>
            <a:r>
              <a:rPr lang="en-US" sz="1100" b="1" kern="0" spc="150" dirty="0">
                <a:solidFill>
                  <a:srgbClr val="16A34A"/>
                </a:solidFill>
                <a:latin typeface="Calibri" pitchFamily="34" charset="0"/>
                <a:ea typeface="Calibri" pitchFamily="34" charset="-122"/>
                <a:cs typeface="Calibri" pitchFamily="34" charset="-120"/>
              </a:rPr>
              <a:t>KELEBIHAN</a:t>
            </a:r>
            <a:endParaRPr lang="en-US" sz="1100" dirty="0"/>
          </a:p>
        </p:txBody>
      </p:sp>
      <p:sp>
        <p:nvSpPr>
          <p:cNvPr id="13" name="Text 11"/>
          <p:cNvSpPr/>
          <p:nvPr/>
        </p:nvSpPr>
        <p:spPr>
          <a:xfrm>
            <a:off x="6400800" y="2606040"/>
            <a:ext cx="4663440" cy="1371600"/>
          </a:xfrm>
          <a:prstGeom prst="rect">
            <a:avLst/>
          </a:prstGeom>
          <a:noFill/>
          <a:ln/>
        </p:spPr>
        <p:txBody>
          <a:bodyPr wrap="square" lIns="0" tIns="0" rIns="0" bIns="0" rtlCol="0" anchor="t"/>
          <a:lstStyle/>
          <a:p>
            <a:pPr marL="342900" indent="-342900">
              <a:lnSpc>
                <a:spcPct val="120000"/>
              </a:lnSpc>
              <a:spcAft>
                <a:spcPts val="600"/>
              </a:spcAft>
              <a:buSzPct val="100000"/>
              <a:buChar char="•"/>
            </a:pPr>
            <a:r>
              <a:rPr lang="en-US" sz="1150" dirty="0">
                <a:solidFill>
                  <a:srgbClr val="0F172A"/>
                </a:solidFill>
                <a:latin typeface="Calibri" pitchFamily="34" charset="0"/>
                <a:ea typeface="Calibri" pitchFamily="34" charset="-122"/>
                <a:cs typeface="Calibri" pitchFamily="34" charset="-120"/>
              </a:rPr>
              <a:t>Intuitif untuk klasifikasi multi kelas melalui representasi prototipe.</a:t>
            </a:r>
            <a:endParaRPr lang="en-US" sz="1150" dirty="0"/>
          </a:p>
          <a:p>
            <a:pPr marL="342900" indent="-342900">
              <a:lnSpc>
                <a:spcPct val="120000"/>
              </a:lnSpc>
              <a:spcAft>
                <a:spcPts val="600"/>
              </a:spcAft>
              <a:buSzPct val="100000"/>
              <a:buChar char="•"/>
            </a:pPr>
            <a:r>
              <a:rPr lang="en-US" sz="1150" dirty="0">
                <a:solidFill>
                  <a:srgbClr val="0F172A"/>
                </a:solidFill>
                <a:latin typeface="Calibri" pitchFamily="34" charset="0"/>
                <a:ea typeface="Calibri" pitchFamily="34" charset="-122"/>
                <a:cs typeface="Calibri" pitchFamily="34" charset="-120"/>
              </a:rPr>
              <a:t>Fleksibel, jumlah prototipe per kelas dapat ditambah.</a:t>
            </a:r>
            <a:endParaRPr lang="en-US" sz="1150" dirty="0"/>
          </a:p>
        </p:txBody>
      </p:sp>
      <p:sp>
        <p:nvSpPr>
          <p:cNvPr id="14" name="Text 12"/>
          <p:cNvSpPr/>
          <p:nvPr/>
        </p:nvSpPr>
        <p:spPr>
          <a:xfrm>
            <a:off x="6400800" y="4069080"/>
            <a:ext cx="4663440" cy="274320"/>
          </a:xfrm>
          <a:prstGeom prst="rect">
            <a:avLst/>
          </a:prstGeom>
          <a:noFill/>
          <a:ln/>
        </p:spPr>
        <p:txBody>
          <a:bodyPr wrap="square" lIns="0" tIns="0" rIns="0" bIns="0" rtlCol="0" anchor="ctr"/>
          <a:lstStyle/>
          <a:p>
            <a:pPr marL="0" indent="0">
              <a:buNone/>
            </a:pPr>
            <a:r>
              <a:rPr lang="en-US" sz="1100" b="1" kern="0" spc="150" dirty="0">
                <a:solidFill>
                  <a:srgbClr val="DC2626"/>
                </a:solidFill>
                <a:latin typeface="Calibri" pitchFamily="34" charset="0"/>
                <a:ea typeface="Calibri" pitchFamily="34" charset="-122"/>
                <a:cs typeface="Calibri" pitchFamily="34" charset="-120"/>
              </a:rPr>
              <a:t>KEKURANGAN</a:t>
            </a:r>
            <a:endParaRPr lang="en-US" sz="1100" dirty="0"/>
          </a:p>
        </p:txBody>
      </p:sp>
      <p:sp>
        <p:nvSpPr>
          <p:cNvPr id="15" name="Text 13"/>
          <p:cNvSpPr/>
          <p:nvPr/>
        </p:nvSpPr>
        <p:spPr>
          <a:xfrm>
            <a:off x="6400800" y="4389120"/>
            <a:ext cx="4663440" cy="1554480"/>
          </a:xfrm>
          <a:prstGeom prst="rect">
            <a:avLst/>
          </a:prstGeom>
          <a:noFill/>
          <a:ln/>
        </p:spPr>
        <p:txBody>
          <a:bodyPr wrap="square" lIns="0" tIns="0" rIns="0" bIns="0" rtlCol="0" anchor="t"/>
          <a:lstStyle/>
          <a:p>
            <a:pPr marL="342900" indent="-342900">
              <a:lnSpc>
                <a:spcPct val="120000"/>
              </a:lnSpc>
              <a:spcAft>
                <a:spcPts val="600"/>
              </a:spcAft>
              <a:buSzPct val="100000"/>
              <a:buChar char="•"/>
            </a:pPr>
            <a:r>
              <a:rPr lang="en-US" sz="1150" dirty="0">
                <a:solidFill>
                  <a:srgbClr val="0F172A"/>
                </a:solidFill>
                <a:latin typeface="Calibri" pitchFamily="34" charset="0"/>
                <a:ea typeface="Calibri" pitchFamily="34" charset="-122"/>
                <a:cs typeface="Calibri" pitchFamily="34" charset="-120"/>
              </a:rPr>
              <a:t>Sensitif terhadap inisialisasi posisi awal prototipe.</a:t>
            </a:r>
            <a:endParaRPr lang="en-US" sz="1150" dirty="0"/>
          </a:p>
          <a:p>
            <a:pPr marL="342900" indent="-342900">
              <a:lnSpc>
                <a:spcPct val="120000"/>
              </a:lnSpc>
              <a:spcAft>
                <a:spcPts val="600"/>
              </a:spcAft>
              <a:buSzPct val="100000"/>
              <a:buChar char="•"/>
            </a:pPr>
            <a:r>
              <a:rPr lang="en-US" sz="1150" dirty="0">
                <a:solidFill>
                  <a:srgbClr val="0F172A"/>
                </a:solidFill>
                <a:latin typeface="Calibri" pitchFamily="34" charset="0"/>
                <a:ea typeface="Calibri" pitchFamily="34" charset="-122"/>
                <a:cs typeface="Calibri" pitchFamily="34" charset="-120"/>
              </a:rPr>
              <a:t>Akurasi menurun saat antar kategori saling tumpang tindih (Budianita dkk., 2013).</a:t>
            </a:r>
            <a:endParaRPr lang="en-US" sz="1150" dirty="0"/>
          </a:p>
        </p:txBody>
      </p:sp>
      <p:sp>
        <p:nvSpPr>
          <p:cNvPr id="16" name="Text 14"/>
          <p:cNvSpPr/>
          <p:nvPr/>
        </p:nvSpPr>
        <p:spPr>
          <a:xfrm>
            <a:off x="11338560" y="640080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1B4B"/>
        </a:solidFill>
        <a:effectLst/>
      </p:bgPr>
    </p:bg>
    <p:spTree>
      <p:nvGrpSpPr>
        <p:cNvPr id="1" name=""/>
        <p:cNvGrpSpPr/>
        <p:nvPr/>
      </p:nvGrpSpPr>
      <p:grpSpPr>
        <a:xfrm>
          <a:off x="0" y="0"/>
          <a:ext cx="0" cy="0"/>
          <a:chOff x="0" y="0"/>
          <a:chExt cx="0" cy="0"/>
        </a:xfrm>
      </p:grpSpPr>
      <p:sp>
        <p:nvSpPr>
          <p:cNvPr id="2" name="Text 0"/>
          <p:cNvSpPr/>
          <p:nvPr/>
        </p:nvSpPr>
        <p:spPr>
          <a:xfrm>
            <a:off x="822960" y="566928"/>
            <a:ext cx="5486400" cy="320040"/>
          </a:xfrm>
          <a:prstGeom prst="rect">
            <a:avLst/>
          </a:prstGeom>
          <a:noFill/>
          <a:ln/>
        </p:spPr>
        <p:txBody>
          <a:bodyPr wrap="square" lIns="0" tIns="0" rIns="0" bIns="0" rtlCol="0" anchor="ctr"/>
          <a:lstStyle/>
          <a:p>
            <a:pPr marL="0" indent="0">
              <a:buNone/>
            </a:pPr>
            <a:r>
              <a:rPr lang="en-US" sz="1250" b="1" kern="0" spc="200" dirty="0">
                <a:solidFill>
                  <a:srgbClr val="22D3EE"/>
                </a:solidFill>
                <a:latin typeface="Calibri" pitchFamily="34" charset="0"/>
                <a:ea typeface="Calibri" pitchFamily="34" charset="-122"/>
                <a:cs typeface="Calibri" pitchFamily="34" charset="-120"/>
              </a:rPr>
              <a:t>BAB VI . PENUTUP</a:t>
            </a:r>
            <a:endParaRPr lang="en-US" sz="1250" dirty="0"/>
          </a:p>
        </p:txBody>
      </p:sp>
      <p:sp>
        <p:nvSpPr>
          <p:cNvPr id="3" name="Text 1"/>
          <p:cNvSpPr/>
          <p:nvPr/>
        </p:nvSpPr>
        <p:spPr>
          <a:xfrm>
            <a:off x="822960" y="914400"/>
            <a:ext cx="7315200" cy="822960"/>
          </a:xfrm>
          <a:prstGeom prst="rect">
            <a:avLst/>
          </a:prstGeom>
          <a:noFill/>
          <a:ln/>
        </p:spPr>
        <p:txBody>
          <a:bodyPr wrap="square" lIns="0" tIns="0" rIns="0" bIns="0" rtlCol="0" anchor="t"/>
          <a:lstStyle/>
          <a:p>
            <a:pPr marL="0" indent="0">
              <a:buNone/>
            </a:pPr>
            <a:r>
              <a:rPr lang="en-US" sz="3200" b="1" dirty="0">
                <a:solidFill>
                  <a:srgbClr val="F1F5F9"/>
                </a:solidFill>
                <a:latin typeface="Cambria" pitchFamily="34" charset="0"/>
                <a:ea typeface="Cambria" pitchFamily="34" charset="-122"/>
                <a:cs typeface="Cambria" pitchFamily="34" charset="-120"/>
              </a:rPr>
              <a:t>Kesimpulan</a:t>
            </a:r>
            <a:endParaRPr lang="en-US" sz="3200" dirty="0"/>
          </a:p>
        </p:txBody>
      </p:sp>
      <p:sp>
        <p:nvSpPr>
          <p:cNvPr id="4" name="Shape 2"/>
          <p:cNvSpPr/>
          <p:nvPr/>
        </p:nvSpPr>
        <p:spPr>
          <a:xfrm>
            <a:off x="822960" y="1920240"/>
            <a:ext cx="457200" cy="457200"/>
          </a:xfrm>
          <a:prstGeom prst="ellipse">
            <a:avLst/>
          </a:prstGeom>
          <a:solidFill>
            <a:srgbClr val="22D3EE"/>
          </a:solidFill>
          <a:ln/>
        </p:spPr>
      </p:sp>
      <p:pic>
        <p:nvPicPr>
          <p:cNvPr id="5" name="Image 0" descr="/home/claude/pptx/assets/check_navy.png"/>
          <p:cNvPicPr>
            <a:picLocks noChangeAspect="1"/>
          </p:cNvPicPr>
          <p:nvPr/>
        </p:nvPicPr>
        <p:blipFill>
          <a:blip r:embed="rId3"/>
          <a:stretch>
            <a:fillRect/>
          </a:stretch>
        </p:blipFill>
        <p:spPr>
          <a:xfrm>
            <a:off x="932688" y="2029968"/>
            <a:ext cx="237744" cy="237744"/>
          </a:xfrm>
          <a:prstGeom prst="rect">
            <a:avLst/>
          </a:prstGeom>
        </p:spPr>
      </p:pic>
      <p:sp>
        <p:nvSpPr>
          <p:cNvPr id="6" name="Text 3"/>
          <p:cNvSpPr/>
          <p:nvPr/>
        </p:nvSpPr>
        <p:spPr>
          <a:xfrm>
            <a:off x="1508760" y="1874520"/>
            <a:ext cx="9692640" cy="594360"/>
          </a:xfrm>
          <a:prstGeom prst="rect">
            <a:avLst/>
          </a:prstGeom>
          <a:noFill/>
          <a:ln/>
        </p:spPr>
        <p:txBody>
          <a:bodyPr wrap="square" lIns="0" tIns="0" rIns="0" bIns="0" rtlCol="0" anchor="ctr"/>
          <a:lstStyle/>
          <a:p>
            <a:pPr marL="0" indent="0">
              <a:lnSpc>
                <a:spcPct val="120000"/>
              </a:lnSpc>
              <a:buNone/>
            </a:pPr>
            <a:r>
              <a:rPr lang="en-US" sz="1350" dirty="0">
                <a:solidFill>
                  <a:srgbClr val="F1F5F9"/>
                </a:solidFill>
                <a:latin typeface="Calibri" pitchFamily="34" charset="0"/>
                <a:ea typeface="Calibri" pitchFamily="34" charset="-122"/>
                <a:cs typeface="Calibri" pitchFamily="34" charset="-120"/>
              </a:rPr>
              <a:t>Dua model JST berhasil dibangun dari prinsip dasar (NumPy murni) tanpa pustaka machine learning eksternal.</a:t>
            </a:r>
            <a:endParaRPr lang="en-US" sz="1350" dirty="0"/>
          </a:p>
        </p:txBody>
      </p:sp>
      <p:sp>
        <p:nvSpPr>
          <p:cNvPr id="7" name="Shape 4"/>
          <p:cNvSpPr/>
          <p:nvPr/>
        </p:nvSpPr>
        <p:spPr>
          <a:xfrm>
            <a:off x="822960" y="2788920"/>
            <a:ext cx="457200" cy="457200"/>
          </a:xfrm>
          <a:prstGeom prst="ellipse">
            <a:avLst/>
          </a:prstGeom>
          <a:solidFill>
            <a:srgbClr val="22D3EE"/>
          </a:solidFill>
          <a:ln/>
        </p:spPr>
      </p:sp>
      <p:pic>
        <p:nvPicPr>
          <p:cNvPr id="8" name="Image 1" descr="/home/claude/pptx/assets/check_navy.png"/>
          <p:cNvPicPr>
            <a:picLocks noChangeAspect="1"/>
          </p:cNvPicPr>
          <p:nvPr/>
        </p:nvPicPr>
        <p:blipFill>
          <a:blip r:embed="rId3"/>
          <a:stretch>
            <a:fillRect/>
          </a:stretch>
        </p:blipFill>
        <p:spPr>
          <a:xfrm>
            <a:off x="932688" y="2898648"/>
            <a:ext cx="237744" cy="237744"/>
          </a:xfrm>
          <a:prstGeom prst="rect">
            <a:avLst/>
          </a:prstGeom>
        </p:spPr>
      </p:pic>
      <p:sp>
        <p:nvSpPr>
          <p:cNvPr id="9" name="Text 5"/>
          <p:cNvSpPr/>
          <p:nvPr/>
        </p:nvSpPr>
        <p:spPr>
          <a:xfrm>
            <a:off x="1508760" y="2743200"/>
            <a:ext cx="9692640" cy="594360"/>
          </a:xfrm>
          <a:prstGeom prst="rect">
            <a:avLst/>
          </a:prstGeom>
          <a:noFill/>
          <a:ln/>
        </p:spPr>
        <p:txBody>
          <a:bodyPr wrap="square" lIns="0" tIns="0" rIns="0" bIns="0" rtlCol="0" anchor="ctr"/>
          <a:lstStyle/>
          <a:p>
            <a:pPr marL="0" indent="0">
              <a:lnSpc>
                <a:spcPct val="120000"/>
              </a:lnSpc>
              <a:buNone/>
            </a:pPr>
            <a:r>
              <a:rPr lang="en-US" sz="1350" dirty="0">
                <a:solidFill>
                  <a:srgbClr val="F1F5F9"/>
                </a:solidFill>
                <a:latin typeface="Calibri" pitchFamily="34" charset="0"/>
                <a:ea typeface="Calibri" pitchFamily="34" charset="-122"/>
                <a:cs typeface="Calibri" pitchFamily="34" charset="-120"/>
              </a:rPr>
              <a:t>Perceptron mengklasifikasikan kompatibilitas SSD dengan akurasi 100% dan konvergensi sangat cepat.</a:t>
            </a:r>
            <a:endParaRPr lang="en-US" sz="1350" dirty="0"/>
          </a:p>
        </p:txBody>
      </p:sp>
      <p:sp>
        <p:nvSpPr>
          <p:cNvPr id="10" name="Shape 6"/>
          <p:cNvSpPr/>
          <p:nvPr/>
        </p:nvSpPr>
        <p:spPr>
          <a:xfrm>
            <a:off x="822960" y="3657600"/>
            <a:ext cx="457200" cy="457200"/>
          </a:xfrm>
          <a:prstGeom prst="ellipse">
            <a:avLst/>
          </a:prstGeom>
          <a:solidFill>
            <a:srgbClr val="22D3EE"/>
          </a:solidFill>
          <a:ln/>
        </p:spPr>
      </p:sp>
      <p:pic>
        <p:nvPicPr>
          <p:cNvPr id="11" name="Image 2" descr="/home/claude/pptx/assets/check_navy.png"/>
          <p:cNvPicPr>
            <a:picLocks noChangeAspect="1"/>
          </p:cNvPicPr>
          <p:nvPr/>
        </p:nvPicPr>
        <p:blipFill>
          <a:blip r:embed="rId3"/>
          <a:stretch>
            <a:fillRect/>
          </a:stretch>
        </p:blipFill>
        <p:spPr>
          <a:xfrm>
            <a:off x="932688" y="3767328"/>
            <a:ext cx="237744" cy="237744"/>
          </a:xfrm>
          <a:prstGeom prst="rect">
            <a:avLst/>
          </a:prstGeom>
        </p:spPr>
      </p:pic>
      <p:sp>
        <p:nvSpPr>
          <p:cNvPr id="12" name="Text 7"/>
          <p:cNvSpPr/>
          <p:nvPr/>
        </p:nvSpPr>
        <p:spPr>
          <a:xfrm>
            <a:off x="1508760" y="3611880"/>
            <a:ext cx="9692640" cy="594360"/>
          </a:xfrm>
          <a:prstGeom prst="rect">
            <a:avLst/>
          </a:prstGeom>
          <a:noFill/>
          <a:ln/>
        </p:spPr>
        <p:txBody>
          <a:bodyPr wrap="square" lIns="0" tIns="0" rIns="0" bIns="0" rtlCol="0" anchor="ctr"/>
          <a:lstStyle/>
          <a:p>
            <a:pPr marL="0" indent="0">
              <a:lnSpc>
                <a:spcPct val="120000"/>
              </a:lnSpc>
              <a:buNone/>
            </a:pPr>
            <a:r>
              <a:rPr lang="en-US" sz="1350" dirty="0">
                <a:solidFill>
                  <a:srgbClr val="F1F5F9"/>
                </a:solidFill>
                <a:latin typeface="Calibri" pitchFamily="34" charset="0"/>
                <a:ea typeface="Calibri" pitchFamily="34" charset="-122"/>
                <a:cs typeface="Calibri" pitchFamily="34" charset="-120"/>
              </a:rPr>
              <a:t>LVQ mengelompokkan kebutuhan pengguna ke 4 kategori SSD berdasarkan budget dan intensitas pemakaian.</a:t>
            </a:r>
            <a:endParaRPr lang="en-US" sz="1350" dirty="0"/>
          </a:p>
        </p:txBody>
      </p:sp>
      <p:sp>
        <p:nvSpPr>
          <p:cNvPr id="13" name="Shape 8"/>
          <p:cNvSpPr/>
          <p:nvPr/>
        </p:nvSpPr>
        <p:spPr>
          <a:xfrm>
            <a:off x="822960" y="4526280"/>
            <a:ext cx="457200" cy="457200"/>
          </a:xfrm>
          <a:prstGeom prst="ellipse">
            <a:avLst/>
          </a:prstGeom>
          <a:solidFill>
            <a:srgbClr val="22D3EE"/>
          </a:solidFill>
          <a:ln/>
        </p:spPr>
      </p:sp>
      <p:pic>
        <p:nvPicPr>
          <p:cNvPr id="14" name="Image 3" descr="/home/claude/pptx/assets/check_navy.png"/>
          <p:cNvPicPr>
            <a:picLocks noChangeAspect="1"/>
          </p:cNvPicPr>
          <p:nvPr/>
        </p:nvPicPr>
        <p:blipFill>
          <a:blip r:embed="rId3"/>
          <a:stretch>
            <a:fillRect/>
          </a:stretch>
        </p:blipFill>
        <p:spPr>
          <a:xfrm>
            <a:off x="932688" y="4636008"/>
            <a:ext cx="237744" cy="237744"/>
          </a:xfrm>
          <a:prstGeom prst="rect">
            <a:avLst/>
          </a:prstGeom>
        </p:spPr>
      </p:pic>
      <p:sp>
        <p:nvSpPr>
          <p:cNvPr id="15" name="Text 9"/>
          <p:cNvSpPr/>
          <p:nvPr/>
        </p:nvSpPr>
        <p:spPr>
          <a:xfrm>
            <a:off x="1508760" y="4480560"/>
            <a:ext cx="9692640" cy="594360"/>
          </a:xfrm>
          <a:prstGeom prst="rect">
            <a:avLst/>
          </a:prstGeom>
          <a:noFill/>
          <a:ln/>
        </p:spPr>
        <p:txBody>
          <a:bodyPr wrap="square" lIns="0" tIns="0" rIns="0" bIns="0" rtlCol="0" anchor="ctr"/>
          <a:lstStyle/>
          <a:p>
            <a:pPr marL="0" indent="0">
              <a:lnSpc>
                <a:spcPct val="120000"/>
              </a:lnSpc>
              <a:buNone/>
            </a:pPr>
            <a:r>
              <a:rPr lang="en-US" sz="1350" dirty="0">
                <a:solidFill>
                  <a:srgbClr val="F1F5F9"/>
                </a:solidFill>
                <a:latin typeface="Calibri" pitchFamily="34" charset="0"/>
                <a:ea typeface="Calibri" pitchFamily="34" charset="-122"/>
                <a:cs typeface="Calibri" pitchFamily="34" charset="-120"/>
              </a:rPr>
              <a:t>Kedua model terintegrasi dalam satu aplikasi Streamlit dengan dashboard, riwayat, dan export Excel.</a:t>
            </a:r>
            <a:endParaRPr lang="en-US" sz="1350" dirty="0"/>
          </a:p>
        </p:txBody>
      </p:sp>
      <p:sp>
        <p:nvSpPr>
          <p:cNvPr id="16" name="Text 10"/>
          <p:cNvSpPr/>
          <p:nvPr/>
        </p:nvSpPr>
        <p:spPr>
          <a:xfrm>
            <a:off x="11338560" y="6400800"/>
            <a:ext cx="548640" cy="274320"/>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822960" y="566928"/>
            <a:ext cx="5486400" cy="320040"/>
          </a:xfrm>
          <a:prstGeom prst="rect">
            <a:avLst/>
          </a:prstGeom>
          <a:noFill/>
          <a:ln/>
        </p:spPr>
        <p:txBody>
          <a:bodyPr wrap="square" lIns="0" tIns="0" rIns="0" bIns="0" rtlCol="0" anchor="ctr"/>
          <a:lstStyle/>
          <a:p>
            <a:pPr marL="0" indent="0">
              <a:buNone/>
            </a:pPr>
            <a:r>
              <a:rPr lang="en-US" sz="1250" b="1" kern="0" spc="200" dirty="0">
                <a:solidFill>
                  <a:srgbClr val="312E81"/>
                </a:solidFill>
                <a:latin typeface="Calibri" pitchFamily="34" charset="0"/>
                <a:ea typeface="Calibri" pitchFamily="34" charset="-122"/>
                <a:cs typeface="Calibri" pitchFamily="34" charset="-120"/>
              </a:rPr>
              <a:t>BAB VI . PENUTUP</a:t>
            </a:r>
            <a:endParaRPr lang="en-US" sz="1250" dirty="0"/>
          </a:p>
        </p:txBody>
      </p:sp>
      <p:sp>
        <p:nvSpPr>
          <p:cNvPr id="3" name="Text 1"/>
          <p:cNvSpPr/>
          <p:nvPr/>
        </p:nvSpPr>
        <p:spPr>
          <a:xfrm>
            <a:off x="822960" y="914400"/>
            <a:ext cx="9144000" cy="822960"/>
          </a:xfrm>
          <a:prstGeom prst="rect">
            <a:avLst/>
          </a:prstGeom>
          <a:noFill/>
          <a:ln/>
        </p:spPr>
        <p:txBody>
          <a:bodyPr wrap="square" lIns="0" tIns="0" rIns="0" bIns="0" rtlCol="0" anchor="t"/>
          <a:lstStyle/>
          <a:p>
            <a:pPr marL="0" indent="0">
              <a:buNone/>
            </a:pPr>
            <a:r>
              <a:rPr lang="en-US" sz="3000" b="1" dirty="0">
                <a:solidFill>
                  <a:srgbClr val="1E1B4B"/>
                </a:solidFill>
                <a:latin typeface="Cambria" pitchFamily="34" charset="0"/>
                <a:ea typeface="Cambria" pitchFamily="34" charset="-122"/>
                <a:cs typeface="Cambria" pitchFamily="34" charset="-120"/>
              </a:rPr>
              <a:t>Saran Pengembangan Selanjutnya</a:t>
            </a:r>
            <a:endParaRPr lang="en-US" sz="3000" dirty="0"/>
          </a:p>
        </p:txBody>
      </p:sp>
      <p:sp>
        <p:nvSpPr>
          <p:cNvPr id="4" name="Shape 2"/>
          <p:cNvSpPr/>
          <p:nvPr/>
        </p:nvSpPr>
        <p:spPr>
          <a:xfrm>
            <a:off x="822960" y="1691640"/>
            <a:ext cx="5212080" cy="2057400"/>
          </a:xfrm>
          <a:prstGeom prst="roundRect">
            <a:avLst>
              <a:gd name="adj" fmla="val 4444"/>
            </a:avLst>
          </a:prstGeom>
          <a:solidFill>
            <a:srgbClr val="FFFFFF"/>
          </a:solidFill>
          <a:ln/>
          <a:effectLst>
            <a:outerShdw blurRad="101600" dist="25400" dir="5400000" algn="bl" rotWithShape="0">
              <a:srgbClr val="0F172A">
                <a:alpha val="10000"/>
              </a:srgbClr>
            </a:outerShdw>
          </a:effectLst>
        </p:spPr>
      </p:sp>
      <p:sp>
        <p:nvSpPr>
          <p:cNvPr id="5" name="Shape 3"/>
          <p:cNvSpPr/>
          <p:nvPr/>
        </p:nvSpPr>
        <p:spPr>
          <a:xfrm>
            <a:off x="1097280" y="1965960"/>
            <a:ext cx="594360" cy="594360"/>
          </a:xfrm>
          <a:prstGeom prst="ellipse">
            <a:avLst/>
          </a:prstGeom>
          <a:solidFill>
            <a:srgbClr val="E0FBFF"/>
          </a:solidFill>
          <a:ln/>
        </p:spPr>
      </p:sp>
      <p:pic>
        <p:nvPicPr>
          <p:cNvPr id="6" name="Image 0" descr="/home/claude/pptx/assets/database_navy.png"/>
          <p:cNvPicPr>
            <a:picLocks noChangeAspect="1"/>
          </p:cNvPicPr>
          <p:nvPr/>
        </p:nvPicPr>
        <p:blipFill>
          <a:blip r:embed="rId3"/>
          <a:stretch>
            <a:fillRect/>
          </a:stretch>
        </p:blipFill>
        <p:spPr>
          <a:xfrm>
            <a:off x="1239926" y="2108606"/>
            <a:ext cx="309067" cy="309067"/>
          </a:xfrm>
          <a:prstGeom prst="rect">
            <a:avLst/>
          </a:prstGeom>
        </p:spPr>
      </p:pic>
      <p:sp>
        <p:nvSpPr>
          <p:cNvPr id="7" name="Text 4"/>
          <p:cNvSpPr/>
          <p:nvPr/>
        </p:nvSpPr>
        <p:spPr>
          <a:xfrm>
            <a:off x="1874520" y="1984248"/>
            <a:ext cx="3931920" cy="548640"/>
          </a:xfrm>
          <a:prstGeom prst="rect">
            <a:avLst/>
          </a:prstGeom>
          <a:noFill/>
          <a:ln/>
        </p:spPr>
        <p:txBody>
          <a:bodyPr wrap="square" lIns="0" tIns="0" rIns="0" bIns="0" rtlCol="0" anchor="t"/>
          <a:lstStyle/>
          <a:p>
            <a:pPr marL="0" indent="0">
              <a:buNone/>
            </a:pPr>
            <a:r>
              <a:rPr lang="en-US" sz="1450" b="1" dirty="0">
                <a:solidFill>
                  <a:srgbClr val="1E1B4B"/>
                </a:solidFill>
                <a:latin typeface="Cambria" pitchFamily="34" charset="0"/>
                <a:ea typeface="Cambria" pitchFamily="34" charset="-122"/>
                <a:cs typeface="Cambria" pitchFamily="34" charset="-120"/>
              </a:rPr>
              <a:t>Dataset &amp; Harga Real-Time</a:t>
            </a:r>
            <a:endParaRPr lang="en-US" sz="1450" dirty="0"/>
          </a:p>
        </p:txBody>
      </p:sp>
      <p:sp>
        <p:nvSpPr>
          <p:cNvPr id="8" name="Text 5"/>
          <p:cNvSpPr/>
          <p:nvPr/>
        </p:nvSpPr>
        <p:spPr>
          <a:xfrm>
            <a:off x="1143000" y="2697480"/>
            <a:ext cx="4572000" cy="914400"/>
          </a:xfrm>
          <a:prstGeom prst="rect">
            <a:avLst/>
          </a:prstGeom>
          <a:noFill/>
          <a:ln/>
        </p:spPr>
        <p:txBody>
          <a:bodyPr wrap="square" lIns="0" tIns="0" rIns="0" bIns="0" rtlCol="0" anchor="t"/>
          <a:lstStyle/>
          <a:p>
            <a:pPr marL="0" indent="0">
              <a:lnSpc>
                <a:spcPct val="120000"/>
              </a:lnSpc>
              <a:buNone/>
            </a:pPr>
            <a:r>
              <a:rPr lang="en-US" sz="1100" dirty="0">
                <a:solidFill>
                  <a:srgbClr val="64748B"/>
                </a:solidFill>
                <a:latin typeface="Calibri" pitchFamily="34" charset="0"/>
                <a:ea typeface="Calibri" pitchFamily="34" charset="-122"/>
                <a:cs typeface="Calibri" pitchFamily="34" charset="-120"/>
              </a:rPr>
              <a:t>Mengganti dataset manual dengan data SSD nyata dan API harga real-time agar rekomendasi selalu relevan dengan pasar.</a:t>
            </a:r>
            <a:endParaRPr lang="en-US" sz="1100" dirty="0"/>
          </a:p>
        </p:txBody>
      </p:sp>
      <p:sp>
        <p:nvSpPr>
          <p:cNvPr id="9" name="Shape 6"/>
          <p:cNvSpPr/>
          <p:nvPr/>
        </p:nvSpPr>
        <p:spPr>
          <a:xfrm>
            <a:off x="6309360" y="1691640"/>
            <a:ext cx="5212080" cy="2057400"/>
          </a:xfrm>
          <a:prstGeom prst="roundRect">
            <a:avLst>
              <a:gd name="adj" fmla="val 4444"/>
            </a:avLst>
          </a:prstGeom>
          <a:solidFill>
            <a:srgbClr val="FFFFFF"/>
          </a:solidFill>
          <a:ln/>
          <a:effectLst>
            <a:outerShdw blurRad="101600" dist="25400" dir="5400000" algn="bl" rotWithShape="0">
              <a:srgbClr val="0F172A">
                <a:alpha val="10000"/>
              </a:srgbClr>
            </a:outerShdw>
          </a:effectLst>
        </p:spPr>
      </p:sp>
      <p:sp>
        <p:nvSpPr>
          <p:cNvPr id="10" name="Shape 7"/>
          <p:cNvSpPr/>
          <p:nvPr/>
        </p:nvSpPr>
        <p:spPr>
          <a:xfrm>
            <a:off x="6583680" y="1965960"/>
            <a:ext cx="594360" cy="594360"/>
          </a:xfrm>
          <a:prstGeom prst="ellipse">
            <a:avLst/>
          </a:prstGeom>
          <a:solidFill>
            <a:srgbClr val="E0FBFF"/>
          </a:solidFill>
          <a:ln/>
        </p:spPr>
      </p:sp>
      <p:pic>
        <p:nvPicPr>
          <p:cNvPr id="11" name="Image 1" descr="/home/claude/pptx/assets/layers_navy.png"/>
          <p:cNvPicPr>
            <a:picLocks noChangeAspect="1"/>
          </p:cNvPicPr>
          <p:nvPr/>
        </p:nvPicPr>
        <p:blipFill>
          <a:blip r:embed="rId4"/>
          <a:stretch>
            <a:fillRect/>
          </a:stretch>
        </p:blipFill>
        <p:spPr>
          <a:xfrm>
            <a:off x="6726326" y="2108606"/>
            <a:ext cx="309067" cy="309067"/>
          </a:xfrm>
          <a:prstGeom prst="rect">
            <a:avLst/>
          </a:prstGeom>
        </p:spPr>
      </p:pic>
      <p:sp>
        <p:nvSpPr>
          <p:cNvPr id="12" name="Text 8"/>
          <p:cNvSpPr/>
          <p:nvPr/>
        </p:nvSpPr>
        <p:spPr>
          <a:xfrm>
            <a:off x="7360920" y="1984248"/>
            <a:ext cx="3931920" cy="548640"/>
          </a:xfrm>
          <a:prstGeom prst="rect">
            <a:avLst/>
          </a:prstGeom>
          <a:noFill/>
          <a:ln/>
        </p:spPr>
        <p:txBody>
          <a:bodyPr wrap="square" lIns="0" tIns="0" rIns="0" bIns="0" rtlCol="0" anchor="t"/>
          <a:lstStyle/>
          <a:p>
            <a:pPr marL="0" indent="0">
              <a:buNone/>
            </a:pPr>
            <a:r>
              <a:rPr lang="en-US" sz="1450" b="1" dirty="0">
                <a:solidFill>
                  <a:srgbClr val="1E1B4B"/>
                </a:solidFill>
                <a:latin typeface="Cambria" pitchFamily="34" charset="0"/>
                <a:ea typeface="Cambria" pitchFamily="34" charset="-122"/>
                <a:cs typeface="Cambria" pitchFamily="34" charset="-120"/>
              </a:rPr>
              <a:t>Arsitektur Multilayer</a:t>
            </a:r>
            <a:endParaRPr lang="en-US" sz="1450" dirty="0"/>
          </a:p>
        </p:txBody>
      </p:sp>
      <p:sp>
        <p:nvSpPr>
          <p:cNvPr id="13" name="Text 9"/>
          <p:cNvSpPr/>
          <p:nvPr/>
        </p:nvSpPr>
        <p:spPr>
          <a:xfrm>
            <a:off x="6629400" y="2697480"/>
            <a:ext cx="4572000" cy="914400"/>
          </a:xfrm>
          <a:prstGeom prst="rect">
            <a:avLst/>
          </a:prstGeom>
          <a:noFill/>
          <a:ln/>
        </p:spPr>
        <p:txBody>
          <a:bodyPr wrap="square" lIns="0" tIns="0" rIns="0" bIns="0" rtlCol="0" anchor="t"/>
          <a:lstStyle/>
          <a:p>
            <a:pPr marL="0" indent="0">
              <a:lnSpc>
                <a:spcPct val="120000"/>
              </a:lnSpc>
              <a:buNone/>
            </a:pPr>
            <a:r>
              <a:rPr lang="en-US" sz="1100" dirty="0">
                <a:solidFill>
                  <a:srgbClr val="64748B"/>
                </a:solidFill>
                <a:latin typeface="Calibri" pitchFamily="34" charset="0"/>
                <a:ea typeface="Calibri" pitchFamily="34" charset="-122"/>
                <a:cs typeface="Calibri" pitchFamily="34" charset="-120"/>
              </a:rPr>
              <a:t>Menambahkan Multilayer Perceptron dengan backpropagation untuk mengantisipasi aturan kompatibilitas yang menjadi non linear.</a:t>
            </a:r>
            <a:endParaRPr lang="en-US" sz="1100" dirty="0"/>
          </a:p>
        </p:txBody>
      </p:sp>
      <p:sp>
        <p:nvSpPr>
          <p:cNvPr id="14" name="Shape 10"/>
          <p:cNvSpPr/>
          <p:nvPr/>
        </p:nvSpPr>
        <p:spPr>
          <a:xfrm>
            <a:off x="822960" y="3977640"/>
            <a:ext cx="5212080" cy="2057400"/>
          </a:xfrm>
          <a:prstGeom prst="roundRect">
            <a:avLst>
              <a:gd name="adj" fmla="val 4444"/>
            </a:avLst>
          </a:prstGeom>
          <a:solidFill>
            <a:srgbClr val="FFFFFF"/>
          </a:solidFill>
          <a:ln/>
          <a:effectLst>
            <a:outerShdw blurRad="101600" dist="25400" dir="5400000" algn="bl" rotWithShape="0">
              <a:srgbClr val="0F172A">
                <a:alpha val="10000"/>
              </a:srgbClr>
            </a:outerShdw>
          </a:effectLst>
        </p:spPr>
      </p:sp>
      <p:sp>
        <p:nvSpPr>
          <p:cNvPr id="15" name="Shape 11"/>
          <p:cNvSpPr/>
          <p:nvPr/>
        </p:nvSpPr>
        <p:spPr>
          <a:xfrm>
            <a:off x="1097280" y="4251960"/>
            <a:ext cx="594360" cy="594360"/>
          </a:xfrm>
          <a:prstGeom prst="ellipse">
            <a:avLst/>
          </a:prstGeom>
          <a:solidFill>
            <a:srgbClr val="E0FBFF"/>
          </a:solidFill>
          <a:ln/>
        </p:spPr>
      </p:sp>
      <p:pic>
        <p:nvPicPr>
          <p:cNvPr id="16" name="Image 2" descr="/home/claude/pptx/assets/chart_navy.png"/>
          <p:cNvPicPr>
            <a:picLocks noChangeAspect="1"/>
          </p:cNvPicPr>
          <p:nvPr/>
        </p:nvPicPr>
        <p:blipFill>
          <a:blip r:embed="rId5"/>
          <a:stretch>
            <a:fillRect/>
          </a:stretch>
        </p:blipFill>
        <p:spPr>
          <a:xfrm>
            <a:off x="1239926" y="4394606"/>
            <a:ext cx="309067" cy="309067"/>
          </a:xfrm>
          <a:prstGeom prst="rect">
            <a:avLst/>
          </a:prstGeom>
        </p:spPr>
      </p:pic>
      <p:sp>
        <p:nvSpPr>
          <p:cNvPr id="17" name="Text 12"/>
          <p:cNvSpPr/>
          <p:nvPr/>
        </p:nvSpPr>
        <p:spPr>
          <a:xfrm>
            <a:off x="1874520" y="4270248"/>
            <a:ext cx="3931920" cy="548640"/>
          </a:xfrm>
          <a:prstGeom prst="rect">
            <a:avLst/>
          </a:prstGeom>
          <a:noFill/>
          <a:ln/>
        </p:spPr>
        <p:txBody>
          <a:bodyPr wrap="square" lIns="0" tIns="0" rIns="0" bIns="0" rtlCol="0" anchor="t"/>
          <a:lstStyle/>
          <a:p>
            <a:pPr marL="0" indent="0">
              <a:buNone/>
            </a:pPr>
            <a:r>
              <a:rPr lang="en-US" sz="1450" b="1" dirty="0">
                <a:solidFill>
                  <a:srgbClr val="1E1B4B"/>
                </a:solidFill>
                <a:latin typeface="Cambria" pitchFamily="34" charset="0"/>
                <a:ea typeface="Cambria" pitchFamily="34" charset="-122"/>
                <a:cs typeface="Cambria" pitchFamily="34" charset="-120"/>
              </a:rPr>
              <a:t>Validasi Lebih Representatif</a:t>
            </a:r>
            <a:endParaRPr lang="en-US" sz="1450" dirty="0"/>
          </a:p>
        </p:txBody>
      </p:sp>
      <p:sp>
        <p:nvSpPr>
          <p:cNvPr id="18" name="Text 13"/>
          <p:cNvSpPr/>
          <p:nvPr/>
        </p:nvSpPr>
        <p:spPr>
          <a:xfrm>
            <a:off x="1143000" y="4983480"/>
            <a:ext cx="4572000" cy="914400"/>
          </a:xfrm>
          <a:prstGeom prst="rect">
            <a:avLst/>
          </a:prstGeom>
          <a:noFill/>
          <a:ln/>
        </p:spPr>
        <p:txBody>
          <a:bodyPr wrap="square" lIns="0" tIns="0" rIns="0" bIns="0" rtlCol="0" anchor="t"/>
          <a:lstStyle/>
          <a:p>
            <a:pPr marL="0" indent="0">
              <a:lnSpc>
                <a:spcPct val="120000"/>
              </a:lnSpc>
              <a:buNone/>
            </a:pPr>
            <a:r>
              <a:rPr lang="en-US" sz="1100" dirty="0">
                <a:solidFill>
                  <a:srgbClr val="64748B"/>
                </a:solidFill>
                <a:latin typeface="Calibri" pitchFamily="34" charset="0"/>
                <a:ea typeface="Calibri" pitchFamily="34" charset="-122"/>
                <a:cs typeface="Calibri" pitchFamily="34" charset="-120"/>
              </a:rPr>
              <a:t>Menggunakan dataset lebih besar dengan k-fold cross validation untuk mengukur akurasi secara lebih akurat.</a:t>
            </a:r>
            <a:endParaRPr lang="en-US" sz="1100" dirty="0"/>
          </a:p>
        </p:txBody>
      </p:sp>
      <p:sp>
        <p:nvSpPr>
          <p:cNvPr id="19" name="Shape 14"/>
          <p:cNvSpPr/>
          <p:nvPr/>
        </p:nvSpPr>
        <p:spPr>
          <a:xfrm>
            <a:off x="6309360" y="3977640"/>
            <a:ext cx="5212080" cy="2057400"/>
          </a:xfrm>
          <a:prstGeom prst="roundRect">
            <a:avLst>
              <a:gd name="adj" fmla="val 4444"/>
            </a:avLst>
          </a:prstGeom>
          <a:solidFill>
            <a:srgbClr val="FFFFFF"/>
          </a:solidFill>
          <a:ln/>
          <a:effectLst>
            <a:outerShdw blurRad="101600" dist="25400" dir="5400000" algn="bl" rotWithShape="0">
              <a:srgbClr val="0F172A">
                <a:alpha val="10000"/>
              </a:srgbClr>
            </a:outerShdw>
          </a:effectLst>
        </p:spPr>
      </p:sp>
      <p:sp>
        <p:nvSpPr>
          <p:cNvPr id="20" name="Shape 15"/>
          <p:cNvSpPr/>
          <p:nvPr/>
        </p:nvSpPr>
        <p:spPr>
          <a:xfrm>
            <a:off x="6583680" y="4251960"/>
            <a:ext cx="594360" cy="594360"/>
          </a:xfrm>
          <a:prstGeom prst="ellipse">
            <a:avLst/>
          </a:prstGeom>
          <a:solidFill>
            <a:srgbClr val="E0FBFF"/>
          </a:solidFill>
          <a:ln/>
        </p:spPr>
      </p:sp>
      <p:pic>
        <p:nvPicPr>
          <p:cNvPr id="21" name="Image 3" descr="/home/claude/pptx/assets/cogs_navy.png"/>
          <p:cNvPicPr>
            <a:picLocks noChangeAspect="1"/>
          </p:cNvPicPr>
          <p:nvPr/>
        </p:nvPicPr>
        <p:blipFill>
          <a:blip r:embed="rId6"/>
          <a:stretch>
            <a:fillRect/>
          </a:stretch>
        </p:blipFill>
        <p:spPr>
          <a:xfrm>
            <a:off x="6726326" y="4394606"/>
            <a:ext cx="309067" cy="309067"/>
          </a:xfrm>
          <a:prstGeom prst="rect">
            <a:avLst/>
          </a:prstGeom>
        </p:spPr>
      </p:pic>
      <p:sp>
        <p:nvSpPr>
          <p:cNvPr id="22" name="Text 16"/>
          <p:cNvSpPr/>
          <p:nvPr/>
        </p:nvSpPr>
        <p:spPr>
          <a:xfrm>
            <a:off x="7360920" y="4270248"/>
            <a:ext cx="3931920" cy="548640"/>
          </a:xfrm>
          <a:prstGeom prst="rect">
            <a:avLst/>
          </a:prstGeom>
          <a:noFill/>
          <a:ln/>
        </p:spPr>
        <p:txBody>
          <a:bodyPr wrap="square" lIns="0" tIns="0" rIns="0" bIns="0" rtlCol="0" anchor="t"/>
          <a:lstStyle/>
          <a:p>
            <a:pPr marL="0" indent="0">
              <a:buNone/>
            </a:pPr>
            <a:r>
              <a:rPr lang="en-US" sz="1450" b="1" dirty="0">
                <a:solidFill>
                  <a:srgbClr val="1E1B4B"/>
                </a:solidFill>
                <a:latin typeface="Cambria" pitchFamily="34" charset="0"/>
                <a:ea typeface="Cambria" pitchFamily="34" charset="-122"/>
                <a:cs typeface="Cambria" pitchFamily="34" charset="-120"/>
              </a:rPr>
              <a:t>Multi-Prototipe LVQ</a:t>
            </a:r>
            <a:endParaRPr lang="en-US" sz="1450" dirty="0"/>
          </a:p>
        </p:txBody>
      </p:sp>
      <p:sp>
        <p:nvSpPr>
          <p:cNvPr id="23" name="Text 17"/>
          <p:cNvSpPr/>
          <p:nvPr/>
        </p:nvSpPr>
        <p:spPr>
          <a:xfrm>
            <a:off x="6629400" y="4983480"/>
            <a:ext cx="4572000" cy="914400"/>
          </a:xfrm>
          <a:prstGeom prst="rect">
            <a:avLst/>
          </a:prstGeom>
          <a:noFill/>
          <a:ln/>
        </p:spPr>
        <p:txBody>
          <a:bodyPr wrap="square" lIns="0" tIns="0" rIns="0" bIns="0" rtlCol="0" anchor="t"/>
          <a:lstStyle/>
          <a:p>
            <a:pPr marL="0" indent="0">
              <a:lnSpc>
                <a:spcPct val="120000"/>
              </a:lnSpc>
              <a:buNone/>
            </a:pPr>
            <a:r>
              <a:rPr lang="en-US" sz="1100" dirty="0">
                <a:solidFill>
                  <a:srgbClr val="64748B"/>
                </a:solidFill>
                <a:latin typeface="Calibri" pitchFamily="34" charset="0"/>
                <a:ea typeface="Calibri" pitchFamily="34" charset="-122"/>
                <a:cs typeface="Calibri" pitchFamily="34" charset="-120"/>
              </a:rPr>
              <a:t>Menambah jumlah prototipe per kelas pada LVQ untuk menangani kategori SSD yang saling tumpang tindih.</a:t>
            </a:r>
            <a:endParaRPr lang="en-US" sz="1100" dirty="0"/>
          </a:p>
        </p:txBody>
      </p:sp>
      <p:sp>
        <p:nvSpPr>
          <p:cNvPr id="24" name="Text 18"/>
          <p:cNvSpPr/>
          <p:nvPr/>
        </p:nvSpPr>
        <p:spPr>
          <a:xfrm>
            <a:off x="11338560" y="640080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822960" y="566928"/>
            <a:ext cx="5486400" cy="320040"/>
          </a:xfrm>
          <a:prstGeom prst="rect">
            <a:avLst/>
          </a:prstGeom>
          <a:noFill/>
          <a:ln/>
        </p:spPr>
        <p:txBody>
          <a:bodyPr wrap="square" lIns="0" tIns="0" rIns="0" bIns="0" rtlCol="0" anchor="ctr"/>
          <a:lstStyle/>
          <a:p>
            <a:pPr marL="0" indent="0">
              <a:buNone/>
            </a:pPr>
            <a:r>
              <a:rPr lang="en-US" sz="1250" b="1" kern="0" spc="200" dirty="0">
                <a:solidFill>
                  <a:srgbClr val="312E81"/>
                </a:solidFill>
                <a:latin typeface="Calibri" pitchFamily="34" charset="0"/>
                <a:ea typeface="Calibri" pitchFamily="34" charset="-122"/>
                <a:cs typeface="Calibri" pitchFamily="34" charset="-120"/>
              </a:rPr>
              <a:t>REFERENSI</a:t>
            </a:r>
            <a:endParaRPr lang="en-US" sz="1250" dirty="0"/>
          </a:p>
        </p:txBody>
      </p:sp>
      <p:sp>
        <p:nvSpPr>
          <p:cNvPr id="3" name="Text 1"/>
          <p:cNvSpPr/>
          <p:nvPr/>
        </p:nvSpPr>
        <p:spPr>
          <a:xfrm>
            <a:off x="822960" y="914400"/>
            <a:ext cx="9144000" cy="822960"/>
          </a:xfrm>
          <a:prstGeom prst="rect">
            <a:avLst/>
          </a:prstGeom>
          <a:noFill/>
          <a:ln/>
        </p:spPr>
        <p:txBody>
          <a:bodyPr wrap="square" lIns="0" tIns="0" rIns="0" bIns="0" rtlCol="0" anchor="t"/>
          <a:lstStyle/>
          <a:p>
            <a:pPr marL="0" indent="0">
              <a:buNone/>
            </a:pPr>
            <a:r>
              <a:rPr lang="en-US" sz="3000" b="1" dirty="0">
                <a:solidFill>
                  <a:srgbClr val="1E1B4B"/>
                </a:solidFill>
                <a:latin typeface="Cambria" pitchFamily="34" charset="0"/>
                <a:ea typeface="Cambria" pitchFamily="34" charset="-122"/>
                <a:cs typeface="Cambria" pitchFamily="34" charset="-120"/>
              </a:rPr>
              <a:t>Referensi Utama</a:t>
            </a:r>
            <a:endParaRPr lang="en-US" sz="3000" dirty="0"/>
          </a:p>
        </p:txBody>
      </p:sp>
      <p:sp>
        <p:nvSpPr>
          <p:cNvPr id="4" name="Shape 2"/>
          <p:cNvSpPr/>
          <p:nvPr/>
        </p:nvSpPr>
        <p:spPr>
          <a:xfrm>
            <a:off x="822960" y="1719072"/>
            <a:ext cx="73152" cy="73152"/>
          </a:xfrm>
          <a:prstGeom prst="ellipse">
            <a:avLst/>
          </a:prstGeom>
          <a:solidFill>
            <a:srgbClr val="22D3EE"/>
          </a:solidFill>
          <a:ln/>
        </p:spPr>
      </p:sp>
      <p:sp>
        <p:nvSpPr>
          <p:cNvPr id="5" name="Text 3"/>
          <p:cNvSpPr/>
          <p:nvPr/>
        </p:nvSpPr>
        <p:spPr>
          <a:xfrm>
            <a:off x="1051560" y="1581912"/>
            <a:ext cx="10241280" cy="502920"/>
          </a:xfrm>
          <a:prstGeom prst="rect">
            <a:avLst/>
          </a:prstGeom>
          <a:noFill/>
          <a:ln/>
        </p:spPr>
        <p:txBody>
          <a:bodyPr wrap="square" lIns="0" tIns="0" rIns="0" bIns="0" rtlCol="0" anchor="t"/>
          <a:lstStyle/>
          <a:p>
            <a:pPr marL="0" indent="0">
              <a:lnSpc>
                <a:spcPct val="115000"/>
              </a:lnSpc>
              <a:buNone/>
            </a:pPr>
            <a:r>
              <a:rPr lang="en-US" sz="1150" dirty="0">
                <a:solidFill>
                  <a:srgbClr val="0F172A"/>
                </a:solidFill>
                <a:latin typeface="Calibri" pitchFamily="34" charset="0"/>
                <a:ea typeface="Calibri" pitchFamily="34" charset="-122"/>
                <a:cs typeface="Calibri" pitchFamily="34" charset="-120"/>
              </a:rPr>
              <a:t>Rosenblatt, F. (1958). The Perceptron: A Probabilistic Model for Information Storage and Organization in the Brain. Psychological Review, 65(6), 386-408.</a:t>
            </a:r>
            <a:endParaRPr lang="en-US" sz="1150" dirty="0"/>
          </a:p>
        </p:txBody>
      </p:sp>
      <p:sp>
        <p:nvSpPr>
          <p:cNvPr id="6" name="Shape 4"/>
          <p:cNvSpPr/>
          <p:nvPr/>
        </p:nvSpPr>
        <p:spPr>
          <a:xfrm>
            <a:off x="822960" y="2340864"/>
            <a:ext cx="73152" cy="73152"/>
          </a:xfrm>
          <a:prstGeom prst="ellipse">
            <a:avLst/>
          </a:prstGeom>
          <a:solidFill>
            <a:srgbClr val="22D3EE"/>
          </a:solidFill>
          <a:ln/>
        </p:spPr>
      </p:sp>
      <p:sp>
        <p:nvSpPr>
          <p:cNvPr id="7" name="Text 5"/>
          <p:cNvSpPr/>
          <p:nvPr/>
        </p:nvSpPr>
        <p:spPr>
          <a:xfrm>
            <a:off x="1051560" y="2203704"/>
            <a:ext cx="10241280" cy="502920"/>
          </a:xfrm>
          <a:prstGeom prst="rect">
            <a:avLst/>
          </a:prstGeom>
          <a:noFill/>
          <a:ln/>
        </p:spPr>
        <p:txBody>
          <a:bodyPr wrap="square" lIns="0" tIns="0" rIns="0" bIns="0" rtlCol="0" anchor="t"/>
          <a:lstStyle/>
          <a:p>
            <a:pPr marL="0" indent="0">
              <a:lnSpc>
                <a:spcPct val="115000"/>
              </a:lnSpc>
              <a:buNone/>
            </a:pPr>
            <a:r>
              <a:rPr lang="en-US" sz="1150" dirty="0">
                <a:solidFill>
                  <a:srgbClr val="0F172A"/>
                </a:solidFill>
                <a:latin typeface="Calibri" pitchFamily="34" charset="0"/>
                <a:ea typeface="Calibri" pitchFamily="34" charset="-122"/>
                <a:cs typeface="Calibri" pitchFamily="34" charset="-120"/>
              </a:rPr>
              <a:t>Kohonen, T. (1990). The Self-Organizing Map. Proceedings of the IEEE, 78(9), 1464-1480.</a:t>
            </a:r>
            <a:endParaRPr lang="en-US" sz="1150" dirty="0"/>
          </a:p>
        </p:txBody>
      </p:sp>
      <p:sp>
        <p:nvSpPr>
          <p:cNvPr id="8" name="Shape 6"/>
          <p:cNvSpPr/>
          <p:nvPr/>
        </p:nvSpPr>
        <p:spPr>
          <a:xfrm>
            <a:off x="822960" y="2962656"/>
            <a:ext cx="73152" cy="73152"/>
          </a:xfrm>
          <a:prstGeom prst="ellipse">
            <a:avLst/>
          </a:prstGeom>
          <a:solidFill>
            <a:srgbClr val="22D3EE"/>
          </a:solidFill>
          <a:ln/>
        </p:spPr>
      </p:sp>
      <p:sp>
        <p:nvSpPr>
          <p:cNvPr id="9" name="Text 7"/>
          <p:cNvSpPr/>
          <p:nvPr/>
        </p:nvSpPr>
        <p:spPr>
          <a:xfrm>
            <a:off x="1051560" y="2825496"/>
            <a:ext cx="10241280" cy="502920"/>
          </a:xfrm>
          <a:prstGeom prst="rect">
            <a:avLst/>
          </a:prstGeom>
          <a:noFill/>
          <a:ln/>
        </p:spPr>
        <p:txBody>
          <a:bodyPr wrap="square" lIns="0" tIns="0" rIns="0" bIns="0" rtlCol="0" anchor="t"/>
          <a:lstStyle/>
          <a:p>
            <a:pPr marL="0" indent="0">
              <a:lnSpc>
                <a:spcPct val="115000"/>
              </a:lnSpc>
              <a:buNone/>
            </a:pPr>
            <a:r>
              <a:rPr lang="en-US" sz="1150" dirty="0">
                <a:solidFill>
                  <a:srgbClr val="0F172A"/>
                </a:solidFill>
                <a:latin typeface="Calibri" pitchFamily="34" charset="0"/>
                <a:ea typeface="Calibri" pitchFamily="34" charset="-122"/>
                <a:cs typeface="Calibri" pitchFamily="34" charset="-120"/>
              </a:rPr>
              <a:t>Budianita, E., Santoso, E., &amp; Rahayudi, B. (2013). Penerapan Learning Vector Quantization (LVQ) untuk Klasifikasi Status Gizi Anak. IJCCS.</a:t>
            </a:r>
            <a:endParaRPr lang="en-US" sz="1150" dirty="0"/>
          </a:p>
        </p:txBody>
      </p:sp>
      <p:sp>
        <p:nvSpPr>
          <p:cNvPr id="10" name="Shape 8"/>
          <p:cNvSpPr/>
          <p:nvPr/>
        </p:nvSpPr>
        <p:spPr>
          <a:xfrm>
            <a:off x="822960" y="3584448"/>
            <a:ext cx="73152" cy="73152"/>
          </a:xfrm>
          <a:prstGeom prst="ellipse">
            <a:avLst/>
          </a:prstGeom>
          <a:solidFill>
            <a:srgbClr val="22D3EE"/>
          </a:solidFill>
          <a:ln/>
        </p:spPr>
      </p:sp>
      <p:sp>
        <p:nvSpPr>
          <p:cNvPr id="11" name="Text 9"/>
          <p:cNvSpPr/>
          <p:nvPr/>
        </p:nvSpPr>
        <p:spPr>
          <a:xfrm>
            <a:off x="1051560" y="3447288"/>
            <a:ext cx="10241280" cy="502920"/>
          </a:xfrm>
          <a:prstGeom prst="rect">
            <a:avLst/>
          </a:prstGeom>
          <a:noFill/>
          <a:ln/>
        </p:spPr>
        <p:txBody>
          <a:bodyPr wrap="square" lIns="0" tIns="0" rIns="0" bIns="0" rtlCol="0" anchor="t"/>
          <a:lstStyle/>
          <a:p>
            <a:pPr marL="0" indent="0">
              <a:lnSpc>
                <a:spcPct val="115000"/>
              </a:lnSpc>
              <a:buNone/>
            </a:pPr>
            <a:r>
              <a:rPr lang="en-US" sz="1150" dirty="0">
                <a:solidFill>
                  <a:srgbClr val="0F172A"/>
                </a:solidFill>
                <a:latin typeface="Calibri" pitchFamily="34" charset="0"/>
                <a:ea typeface="Calibri" pitchFamily="34" charset="-122"/>
                <a:cs typeface="Calibri" pitchFamily="34" charset="-120"/>
              </a:rPr>
              <a:t>Yanto, M., Sovia, R., &amp; Mandala, E. P. W. (2018). Jaringan Syaraf Tiruan Perceptron untuk Penentuan Pola Sistem Irigasi. Sebatik, 22(2), 111-115.</a:t>
            </a:r>
            <a:endParaRPr lang="en-US" sz="1150" dirty="0"/>
          </a:p>
        </p:txBody>
      </p:sp>
      <p:sp>
        <p:nvSpPr>
          <p:cNvPr id="12" name="Shape 10"/>
          <p:cNvSpPr/>
          <p:nvPr/>
        </p:nvSpPr>
        <p:spPr>
          <a:xfrm>
            <a:off x="822960" y="4206240"/>
            <a:ext cx="73152" cy="73152"/>
          </a:xfrm>
          <a:prstGeom prst="ellipse">
            <a:avLst/>
          </a:prstGeom>
          <a:solidFill>
            <a:srgbClr val="22D3EE"/>
          </a:solidFill>
          <a:ln/>
        </p:spPr>
      </p:sp>
      <p:sp>
        <p:nvSpPr>
          <p:cNvPr id="13" name="Text 11"/>
          <p:cNvSpPr/>
          <p:nvPr/>
        </p:nvSpPr>
        <p:spPr>
          <a:xfrm>
            <a:off x="1051560" y="4069080"/>
            <a:ext cx="10241280" cy="502920"/>
          </a:xfrm>
          <a:prstGeom prst="rect">
            <a:avLst/>
          </a:prstGeom>
          <a:noFill/>
          <a:ln/>
        </p:spPr>
        <p:txBody>
          <a:bodyPr wrap="square" lIns="0" tIns="0" rIns="0" bIns="0" rtlCol="0" anchor="t"/>
          <a:lstStyle/>
          <a:p>
            <a:pPr marL="0" indent="0">
              <a:lnSpc>
                <a:spcPct val="115000"/>
              </a:lnSpc>
              <a:buNone/>
            </a:pPr>
            <a:r>
              <a:rPr lang="en-US" sz="1150" dirty="0">
                <a:solidFill>
                  <a:srgbClr val="0F172A"/>
                </a:solidFill>
                <a:latin typeface="Calibri" pitchFamily="34" charset="0"/>
                <a:ea typeface="Calibri" pitchFamily="34" charset="-122"/>
                <a:cs typeface="Calibri" pitchFamily="34" charset="-120"/>
              </a:rPr>
              <a:t>Minsky, M., &amp; Papert, S. (1969). Perceptrons: An Introduction to Computational Geometry. MIT Press.</a:t>
            </a:r>
            <a:endParaRPr lang="en-US" sz="1150" dirty="0"/>
          </a:p>
        </p:txBody>
      </p:sp>
      <p:sp>
        <p:nvSpPr>
          <p:cNvPr id="14" name="Shape 12"/>
          <p:cNvSpPr/>
          <p:nvPr/>
        </p:nvSpPr>
        <p:spPr>
          <a:xfrm>
            <a:off x="822960" y="4828032"/>
            <a:ext cx="73152" cy="73152"/>
          </a:xfrm>
          <a:prstGeom prst="ellipse">
            <a:avLst/>
          </a:prstGeom>
          <a:solidFill>
            <a:srgbClr val="22D3EE"/>
          </a:solidFill>
          <a:ln/>
        </p:spPr>
      </p:sp>
      <p:sp>
        <p:nvSpPr>
          <p:cNvPr id="15" name="Text 13"/>
          <p:cNvSpPr/>
          <p:nvPr/>
        </p:nvSpPr>
        <p:spPr>
          <a:xfrm>
            <a:off x="1051560" y="4690872"/>
            <a:ext cx="10241280" cy="502920"/>
          </a:xfrm>
          <a:prstGeom prst="rect">
            <a:avLst/>
          </a:prstGeom>
          <a:noFill/>
          <a:ln/>
        </p:spPr>
        <p:txBody>
          <a:bodyPr wrap="square" lIns="0" tIns="0" rIns="0" bIns="0" rtlCol="0" anchor="t"/>
          <a:lstStyle/>
          <a:p>
            <a:pPr marL="0" indent="0">
              <a:lnSpc>
                <a:spcPct val="115000"/>
              </a:lnSpc>
              <a:buNone/>
            </a:pPr>
            <a:r>
              <a:rPr lang="en-US" sz="1150" dirty="0">
                <a:solidFill>
                  <a:srgbClr val="0F172A"/>
                </a:solidFill>
                <a:latin typeface="Calibri" pitchFamily="34" charset="0"/>
                <a:ea typeface="Calibri" pitchFamily="34" charset="-122"/>
                <a:cs typeface="Calibri" pitchFamily="34" charset="-120"/>
              </a:rPr>
              <a:t>Precedence Research. (2026). Solid State Drive (SSD) Market Size to Hit USD 304,73 Bn by 2035.</a:t>
            </a:r>
            <a:endParaRPr lang="en-US" sz="1150" dirty="0"/>
          </a:p>
        </p:txBody>
      </p:sp>
      <p:sp>
        <p:nvSpPr>
          <p:cNvPr id="16" name="Shape 14"/>
          <p:cNvSpPr/>
          <p:nvPr/>
        </p:nvSpPr>
        <p:spPr>
          <a:xfrm>
            <a:off x="822960" y="5449824"/>
            <a:ext cx="73152" cy="73152"/>
          </a:xfrm>
          <a:prstGeom prst="ellipse">
            <a:avLst/>
          </a:prstGeom>
          <a:solidFill>
            <a:srgbClr val="22D3EE"/>
          </a:solidFill>
          <a:ln/>
        </p:spPr>
      </p:sp>
      <p:sp>
        <p:nvSpPr>
          <p:cNvPr id="17" name="Text 15"/>
          <p:cNvSpPr/>
          <p:nvPr/>
        </p:nvSpPr>
        <p:spPr>
          <a:xfrm>
            <a:off x="1051560" y="5312664"/>
            <a:ext cx="10241280" cy="502920"/>
          </a:xfrm>
          <a:prstGeom prst="rect">
            <a:avLst/>
          </a:prstGeom>
          <a:noFill/>
          <a:ln/>
        </p:spPr>
        <p:txBody>
          <a:bodyPr wrap="square" lIns="0" tIns="0" rIns="0" bIns="0" rtlCol="0" anchor="t"/>
          <a:lstStyle/>
          <a:p>
            <a:pPr marL="0" indent="0">
              <a:lnSpc>
                <a:spcPct val="115000"/>
              </a:lnSpc>
              <a:buNone/>
            </a:pPr>
            <a:r>
              <a:rPr lang="en-US" sz="1150" dirty="0">
                <a:solidFill>
                  <a:srgbClr val="0F172A"/>
                </a:solidFill>
                <a:latin typeface="Calibri" pitchFamily="34" charset="0"/>
                <a:ea typeface="Calibri" pitchFamily="34" charset="-122"/>
                <a:cs typeface="Calibri" pitchFamily="34" charset="-120"/>
              </a:rPr>
              <a:t>Russell, S., &amp; Norvig, P. (2021). Artificial Intelligence: A Modern Approach (4th ed.). Pearson.</a:t>
            </a:r>
            <a:endParaRPr lang="en-US" sz="1150" dirty="0"/>
          </a:p>
        </p:txBody>
      </p:sp>
      <p:sp>
        <p:nvSpPr>
          <p:cNvPr id="18" name="Text 16"/>
          <p:cNvSpPr/>
          <p:nvPr/>
        </p:nvSpPr>
        <p:spPr>
          <a:xfrm>
            <a:off x="822960" y="6135624"/>
            <a:ext cx="10424160" cy="27432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Daftar Pustaka lengkap (20 sumber) tersedia pada Laporan Akademis.</a:t>
            </a:r>
            <a:endParaRPr lang="en-US" sz="1050" dirty="0"/>
          </a:p>
        </p:txBody>
      </p:sp>
      <p:sp>
        <p:nvSpPr>
          <p:cNvPr id="19" name="Text 17"/>
          <p:cNvSpPr/>
          <p:nvPr/>
        </p:nvSpPr>
        <p:spPr>
          <a:xfrm>
            <a:off x="11338560" y="640080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1B4B"/>
        </a:solidFill>
        <a:effectLst/>
      </p:bgPr>
    </p:bg>
    <p:spTree>
      <p:nvGrpSpPr>
        <p:cNvPr id="1" name=""/>
        <p:cNvGrpSpPr/>
        <p:nvPr/>
      </p:nvGrpSpPr>
      <p:grpSpPr>
        <a:xfrm>
          <a:off x="0" y="0"/>
          <a:ext cx="0" cy="0"/>
          <a:chOff x="0" y="0"/>
          <a:chExt cx="0" cy="0"/>
        </a:xfrm>
      </p:grpSpPr>
      <p:sp>
        <p:nvSpPr>
          <p:cNvPr id="2" name="Shape 0"/>
          <p:cNvSpPr/>
          <p:nvPr/>
        </p:nvSpPr>
        <p:spPr>
          <a:xfrm>
            <a:off x="10424160" y="1097280"/>
            <a:ext cx="548640" cy="777240"/>
          </a:xfrm>
          <a:prstGeom prst="line">
            <a:avLst/>
          </a:prstGeom>
          <a:noFill/>
          <a:ln w="15240">
            <a:solidFill>
              <a:srgbClr val="4C1D95">
                <a:alpha val="75000"/>
              </a:srgbClr>
            </a:solidFill>
            <a:prstDash val="solid"/>
          </a:ln>
        </p:spPr>
      </p:sp>
      <p:sp>
        <p:nvSpPr>
          <p:cNvPr id="3" name="Shape 1"/>
          <p:cNvSpPr/>
          <p:nvPr/>
        </p:nvSpPr>
        <p:spPr>
          <a:xfrm>
            <a:off x="9875520" y="1097280"/>
            <a:ext cx="548640" cy="777240"/>
          </a:xfrm>
          <a:prstGeom prst="line">
            <a:avLst/>
          </a:prstGeom>
          <a:noFill/>
          <a:ln w="15240">
            <a:solidFill>
              <a:srgbClr val="4C1D95">
                <a:alpha val="75000"/>
              </a:srgbClr>
            </a:solidFill>
            <a:prstDash val="solid"/>
          </a:ln>
        </p:spPr>
      </p:sp>
      <p:sp>
        <p:nvSpPr>
          <p:cNvPr id="4" name="Shape 2"/>
          <p:cNvSpPr/>
          <p:nvPr/>
        </p:nvSpPr>
        <p:spPr>
          <a:xfrm flipV="1">
            <a:off x="10424160" y="1874520"/>
            <a:ext cx="548640" cy="777240"/>
          </a:xfrm>
          <a:prstGeom prst="line">
            <a:avLst/>
          </a:prstGeom>
          <a:noFill/>
          <a:ln w="15240">
            <a:solidFill>
              <a:srgbClr val="4C1D95">
                <a:alpha val="75000"/>
              </a:srgbClr>
            </a:solidFill>
            <a:prstDash val="solid"/>
          </a:ln>
        </p:spPr>
      </p:sp>
      <p:sp>
        <p:nvSpPr>
          <p:cNvPr id="5" name="Shape 3"/>
          <p:cNvSpPr/>
          <p:nvPr/>
        </p:nvSpPr>
        <p:spPr>
          <a:xfrm flipV="1">
            <a:off x="9875520" y="1874520"/>
            <a:ext cx="548640" cy="777240"/>
          </a:xfrm>
          <a:prstGeom prst="line">
            <a:avLst/>
          </a:prstGeom>
          <a:noFill/>
          <a:ln w="15240">
            <a:solidFill>
              <a:srgbClr val="4C1D95">
                <a:alpha val="75000"/>
              </a:srgbClr>
            </a:solidFill>
            <a:prstDash val="solid"/>
          </a:ln>
        </p:spPr>
      </p:sp>
      <p:sp>
        <p:nvSpPr>
          <p:cNvPr id="6" name="Shape 4"/>
          <p:cNvSpPr/>
          <p:nvPr/>
        </p:nvSpPr>
        <p:spPr>
          <a:xfrm>
            <a:off x="10332720" y="1005840"/>
            <a:ext cx="182880" cy="182880"/>
          </a:xfrm>
          <a:prstGeom prst="ellipse">
            <a:avLst/>
          </a:prstGeom>
          <a:solidFill>
            <a:srgbClr val="22D3EE"/>
          </a:solidFill>
          <a:ln/>
        </p:spPr>
      </p:sp>
      <p:sp>
        <p:nvSpPr>
          <p:cNvPr id="7" name="Shape 5"/>
          <p:cNvSpPr/>
          <p:nvPr/>
        </p:nvSpPr>
        <p:spPr>
          <a:xfrm>
            <a:off x="10332720" y="2560320"/>
            <a:ext cx="182880" cy="182880"/>
          </a:xfrm>
          <a:prstGeom prst="ellipse">
            <a:avLst/>
          </a:prstGeom>
          <a:solidFill>
            <a:srgbClr val="22D3EE"/>
          </a:solidFill>
          <a:ln/>
        </p:spPr>
      </p:sp>
      <p:sp>
        <p:nvSpPr>
          <p:cNvPr id="8" name="Shape 6"/>
          <p:cNvSpPr/>
          <p:nvPr/>
        </p:nvSpPr>
        <p:spPr>
          <a:xfrm>
            <a:off x="10881360" y="1783080"/>
            <a:ext cx="182880" cy="182880"/>
          </a:xfrm>
          <a:prstGeom prst="ellipse">
            <a:avLst/>
          </a:prstGeom>
          <a:solidFill>
            <a:srgbClr val="6D28D9"/>
          </a:solidFill>
          <a:ln/>
        </p:spPr>
      </p:sp>
      <p:sp>
        <p:nvSpPr>
          <p:cNvPr id="9" name="Shape 7"/>
          <p:cNvSpPr/>
          <p:nvPr/>
        </p:nvSpPr>
        <p:spPr>
          <a:xfrm>
            <a:off x="9784080" y="1783080"/>
            <a:ext cx="182880" cy="182880"/>
          </a:xfrm>
          <a:prstGeom prst="ellipse">
            <a:avLst/>
          </a:prstGeom>
          <a:solidFill>
            <a:srgbClr val="6D28D9"/>
          </a:solidFill>
          <a:ln/>
        </p:spPr>
      </p:sp>
      <p:sp>
        <p:nvSpPr>
          <p:cNvPr id="10" name="Text 8"/>
          <p:cNvSpPr/>
          <p:nvPr/>
        </p:nvSpPr>
        <p:spPr>
          <a:xfrm>
            <a:off x="822960" y="2651760"/>
            <a:ext cx="8229600" cy="914400"/>
          </a:xfrm>
          <a:prstGeom prst="rect">
            <a:avLst/>
          </a:prstGeom>
          <a:noFill/>
          <a:ln/>
        </p:spPr>
        <p:txBody>
          <a:bodyPr wrap="square" lIns="0" tIns="0" rIns="0" bIns="0" rtlCol="0" anchor="ctr"/>
          <a:lstStyle/>
          <a:p>
            <a:pPr marL="0" indent="0">
              <a:buNone/>
            </a:pPr>
            <a:r>
              <a:rPr lang="en-US" sz="4200" b="1" dirty="0">
                <a:solidFill>
                  <a:srgbClr val="F1F5F9"/>
                </a:solidFill>
                <a:latin typeface="Cambria" pitchFamily="34" charset="0"/>
                <a:ea typeface="Cambria" pitchFamily="34" charset="-122"/>
                <a:cs typeface="Cambria" pitchFamily="34" charset="-120"/>
              </a:rPr>
              <a:t>Terima Kasih</a:t>
            </a:r>
            <a:endParaRPr lang="en-US" sz="4200" dirty="0"/>
          </a:p>
        </p:txBody>
      </p:sp>
      <p:sp>
        <p:nvSpPr>
          <p:cNvPr id="11" name="Text 9"/>
          <p:cNvSpPr/>
          <p:nvPr/>
        </p:nvSpPr>
        <p:spPr>
          <a:xfrm>
            <a:off x="822960" y="3520440"/>
            <a:ext cx="8686800" cy="457200"/>
          </a:xfrm>
          <a:prstGeom prst="rect">
            <a:avLst/>
          </a:prstGeom>
          <a:noFill/>
          <a:ln/>
        </p:spPr>
        <p:txBody>
          <a:bodyPr wrap="square" lIns="0" tIns="0" rIns="0" bIns="0" rtlCol="0" anchor="ctr"/>
          <a:lstStyle/>
          <a:p>
            <a:pPr marL="0" indent="0">
              <a:buNone/>
            </a:pPr>
            <a:r>
              <a:rPr lang="en-US" sz="1600" i="1" dirty="0">
                <a:solidFill>
                  <a:srgbClr val="22D3EE"/>
                </a:solidFill>
                <a:latin typeface="Cambria" pitchFamily="34" charset="0"/>
                <a:ea typeface="Cambria" pitchFamily="34" charset="-122"/>
                <a:cs typeface="Cambria" pitchFamily="34" charset="-120"/>
              </a:rPr>
              <a:t>Sistem Pemilihan SSD Berbasis Jaringan Syaraf Tiruan — Perceptron &amp; LVQ</a:t>
            </a:r>
            <a:endParaRPr lang="en-US" sz="1600" dirty="0"/>
          </a:p>
        </p:txBody>
      </p:sp>
      <p:sp>
        <p:nvSpPr>
          <p:cNvPr id="12" name="Text 10"/>
          <p:cNvSpPr/>
          <p:nvPr/>
        </p:nvSpPr>
        <p:spPr>
          <a:xfrm>
            <a:off x="822960" y="4069080"/>
            <a:ext cx="8229600" cy="36576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Siap untuk sesi tanya jawab.</a:t>
            </a:r>
            <a:endParaRPr lang="en-US" sz="1300" dirty="0"/>
          </a:p>
        </p:txBody>
      </p:sp>
      <p:sp>
        <p:nvSpPr>
          <p:cNvPr id="13" name="Text 11"/>
          <p:cNvSpPr/>
          <p:nvPr/>
        </p:nvSpPr>
        <p:spPr>
          <a:xfrm>
            <a:off x="11338560" y="6400800"/>
            <a:ext cx="548640" cy="274320"/>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1878</Words>
  <Application>Microsoft Office PowerPoint</Application>
  <PresentationFormat>Widescreen</PresentationFormat>
  <Paragraphs>292</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 Pemilihan SSD Berdasarkan Kebutuhan Laptop dan Budget Menggunakan JST</dc:title>
  <dc:subject>PptxGenJS Presentation</dc:subject>
  <dc:creator>Mahasiswa Teknik Informatika</dc:creator>
  <cp:lastModifiedBy>dandi taufiq</cp:lastModifiedBy>
  <cp:revision>2</cp:revision>
  <dcterms:created xsi:type="dcterms:W3CDTF">2026-06-21T09:37:23Z</dcterms:created>
  <dcterms:modified xsi:type="dcterms:W3CDTF">2026-06-21T10:07:33Z</dcterms:modified>
</cp:coreProperties>
</file>